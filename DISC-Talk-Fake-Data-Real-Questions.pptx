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ta.com/help/quest/172903867975450/" TargetMode="External"/><Relationship Id="rId3" Type="http://schemas.openxmlformats.org/officeDocument/2006/relationships/hyperlink" Target="https://registry.khronos.org/OpenXR/specs/1.1/html/xrspec.html#XR_EXT_hand_tracking" TargetMode="External"/><Relationship Id="rId4" Type="http://schemas.openxmlformats.org/officeDocument/2006/relationships/hyperlink" Target="https://arxiv.org/pdf/2211.00099" TargetMode="External"/><Relationship Id="rId5" Type="http://schemas.openxmlformats.org/officeDocument/2006/relationships/hyperlink" Target="https://pmc.ncbi.nlm.nih.gov/articles/PMC11909279/" TargetMode="External"/><Relationship Id="rId6" Type="http://schemas.openxmlformats.org/officeDocument/2006/relationships/hyperlink" Target="https://en.wikipedia.org/wiki/Simpson%27s_paradox" TargetMode="External"/><Relationship Id="rId7" Type="http://schemas.openxmlformats.org/officeDocument/2006/relationships/hyperlink" Target="https://www.totaljobs.com/job/data-scientist-product-analytics/meta-job107936998" TargetMode="External"/><Relationship Id="rId8" Type="http://schemas.openxmlformats.org/officeDocument/2006/relationships/hyperlink" Target="https://www.tealhq.com/job/data-engineer-analytics_7ea1aaa1fb3a89d80deaef83512cfb1b4309e" TargetMode="External"/><Relationship Id="rId9" Type="http://schemas.openxmlformats.org/officeDocument/2006/relationships/hyperlink" Target="https://igotanoffer.com/blogs/tech/facebook-data-scientist-interview" TargetMode="External"/><Relationship Id="rId10" Type="http://schemas.openxmlformats.org/officeDocument/2006/relationships/hyperlink" Target="https://engineering.fb.com/2024/08/27/security/privacy-aware-infrastructure-purpose-limitation-meta/" TargetMode="External"/><Relationship Id="rId11" Type="http://schemas.openxmlformats.org/officeDocument/2006/relationships/hyperlink" Target="https://www.privacysecurityacademy.com/wp-content/uploads/2022/06/Handout-Foundations-and-Themes-OECD-Privacy-Guidelines-02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064E0"/>
                </a:solidFill>
              </a:defRPr>
            </a:pPr>
            <a:r>
              <a:t>DISC x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1C1E21"/>
                </a:solidFill>
              </a:defRPr>
            </a:pPr>
            <a:r>
              <a:t>Fake data, real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656B74"/>
                </a:solidFill>
              </a:defRPr>
            </a:pPr>
            <a:r>
              <a:t>What data science looks like from inside Meta</a:t>
            </a:r>
            <a:br/>
            <a:r>
              <a:t>Greg Vannoni, Software Engineer, Meta Reality Labs  |  DISC, October 1,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hi I'm Greg 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LinkedIn: </a:t>
            </a:r>
            <a:r>
              <a:rPr sz="2000">
                <a:solidFill>
                  <a:srgbClr val="1C1E21"/>
                </a:solidFill>
              </a:rPr>
              <a:t>[ADD YOUR LINKEDIN URL]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Day job: </a:t>
            </a:r>
            <a:r>
              <a:rPr sz="2000">
                <a:solidFill>
                  <a:srgbClr val="1C1E21"/>
                </a:solidFill>
              </a:rPr>
              <a:t>Software engineer at Meta Reality Labs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DISC connection: </a:t>
            </a:r>
            <a:r>
              <a:rPr sz="2000">
                <a:solidFill>
                  <a:srgbClr val="1C1E21"/>
                </a:solidFill>
              </a:rPr>
              <a:t>I was here in January talking product thinking without coding. Tonight, we code.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Today: </a:t>
            </a:r>
            <a:r>
              <a:rPr sz="2000">
                <a:solidFill>
                  <a:srgbClr val="1C1E21"/>
                </a:solidFill>
              </a:rPr>
              <a:t>no recruiting pitch. Just how the work actually gets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One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Everything I say is my own opinion.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Not Meta's. Not DISC's. Mine.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Agenda: one hour, hands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Act 1: </a:t>
            </a:r>
            <a:r>
              <a:rPr sz="2000">
                <a:solidFill>
                  <a:srgbClr val="1C1E21"/>
                </a:solidFill>
              </a:rPr>
              <a:t>What a data scientist actually does at Meta (10 min)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Act 2: </a:t>
            </a:r>
            <a:r>
              <a:rPr sz="2000">
                <a:solidFill>
                  <a:srgbClr val="1C1E21"/>
                </a:solidFill>
              </a:rPr>
              <a:t>LIVE: one case study, on your laptops (20 min)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Act 3: </a:t>
            </a:r>
            <a:r>
              <a:rPr sz="2000">
                <a:solidFill>
                  <a:srgbClr val="1C1E21"/>
                </a:solidFill>
              </a:rPr>
              <a:t>Mock interview questions, Meta style (20 min)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Take home: </a:t>
            </a:r>
            <a:r>
              <a:rPr sz="2000">
                <a:solidFill>
                  <a:srgbClr val="1C1E21"/>
                </a:solidFill>
              </a:rPr>
              <a:t>two more case studies with answer keys, in the appendix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Everything is synthetic and seeded. The methods are real, and the questions are the ones we ask at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Quick poll 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Who is a CIS major? Business Data Analytics?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Who has been to a DISC Power BI workshop?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Who wants an analytics or data job after graduation?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Who thinks finding that job will be easy?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Act 1 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What a data scientist does at Meta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Good to be back 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I was here in January talking product thinking. Honored you invited me back.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DISC: the W.P. Carey IS club, where tech meets business. BDA, CIS, and AI in Business, Thursdays at 6, like tonight.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Free community computing classes, Power BI workshops, resume reviews with State Farm's analytics team. You all do the real work.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2024-25 Outstanding Professional Development Award, 2nd place nationally in cybersecurity and risk analysis. Genuinely impressive.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Tonight is my small contribution: the DS version of what you already do. Laptops open.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What does a data scientist do at Meta?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Caveat first: </a:t>
            </a:r>
            <a:r>
              <a:rPr sz="2000">
                <a:solidFill>
                  <a:srgbClr val="1C1E21"/>
                </a:solidFill>
              </a:rPr>
              <a:t>I have been a software engineer and a manager at Meta, never a data scientist or data engineer. So this slide comes from their actual job postings, linked in the appendix, not from my experience.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job, from the posting: </a:t>
            </a:r>
            <a:r>
              <a:rPr sz="2000">
                <a:solidFill>
                  <a:srgbClr val="1C1E21"/>
                </a:solidFill>
              </a:rPr>
              <a:t>set KPIs and goals, design and evaluate experiments, monitor key product metrics, and find the root cause when a metric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Investment advice: </a:t>
            </a:r>
            <a:r>
              <a:rPr sz="2000">
                <a:solidFill>
                  <a:srgbClr val="1C1E21"/>
                </a:solidFill>
              </a:rPr>
              <a:t>the posting literally says "inform, influence, support, and execute product strategy and investment decisions." ROI analysis lives 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Reality check: </a:t>
            </a:r>
            <a:r>
              <a:rPr sz="2000">
                <a:solidFill>
                  <a:srgbClr val="1C1E21"/>
                </a:solidFill>
              </a:rPr>
              <a:t>most days are SQL and metric definitions, not model training.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Why guardrails exist: </a:t>
            </a:r>
            <a:r>
              <a:rPr sz="2000">
                <a:solidFill>
                  <a:srgbClr val="1C1E21"/>
                </a:solidFill>
              </a:rPr>
              <a:t>a single metric gets gamed. The cobra bounty bred more cobras; the bag rules moved the problem instead of solving it. Balanced goals exist because Goodhart's law is real: when a measure becomes a target, it stops being a good measure.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What does a data engineer do at Meta?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job, from the posting: </a:t>
            </a:r>
            <a:r>
              <a:rPr sz="2000">
                <a:solidFill>
                  <a:srgbClr val="1C1E21"/>
                </a:solidFill>
              </a:rPr>
              <a:t>own the data architecture, make logging actually work, and define SLAs for every dataset in their area.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Data quality is the job: </a:t>
            </a:r>
            <a:r>
              <a:rPr sz="2000">
                <a:solidFill>
                  <a:srgbClr val="1C1E21"/>
                </a:solidFill>
              </a:rPr>
              <a:t>address data quality issues, implement the security model for privacy, and evolve governance. No data engineer, no trustworthy data.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Privacy is infrastructure: </a:t>
            </a:r>
            <a:r>
              <a:rPr sz="2000">
                <a:solidFill>
                  <a:srgbClr val="1C1E21"/>
                </a:solidFill>
              </a:rPr>
              <a:t>Meta's public framework is Privacy Aware Infrastructure (PAI): data gets privacy annotations at ingestion, a universal taxonomy classifies it, and Policy Zones enforce purpose limitation automatically. For SWEs and DEs, privacy is not a review checkbox, it is the plumbing.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Partners: </a:t>
            </a:r>
            <a:r>
              <a:rPr sz="2000">
                <a:solidFill>
                  <a:srgbClr val="1C1E21"/>
                </a:solidFill>
              </a:rPr>
              <a:t>they work with data scientists, engineers, and PMs to understand data needs. The DS sets the goals; the DE makes sure the numbers underneath are real.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Privacy: the 8 rules behind every privacy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1. Collection limitation: </a:t>
            </a:r>
            <a:r>
              <a:rPr sz="2000">
                <a:solidFill>
                  <a:srgbClr val="1C1E21"/>
                </a:solidFill>
              </a:rPr>
              <a:t>collect as little as possible, lawfully. This is data minimization.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2. Purpose specification: </a:t>
            </a:r>
            <a:r>
              <a:rPr sz="2000">
                <a:solidFill>
                  <a:srgbClr val="1C1E21"/>
                </a:solidFill>
              </a:rPr>
              <a:t>state why you are collecting it, at collection time.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3. Use limitation: </a:t>
            </a:r>
            <a:r>
              <a:rPr sz="2000">
                <a:solidFill>
                  <a:srgbClr val="1C1E21"/>
                </a:solidFill>
              </a:rPr>
              <a:t>use it only for that purpose. This is purpose limitation, and it is what Policy Zones enforces.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4. Data quality: </a:t>
            </a:r>
            <a:r>
              <a:rPr sz="2000">
                <a:solidFill>
                  <a:srgbClr val="1C1E21"/>
                </a:solidFill>
              </a:rPr>
              <a:t>relevant, accurate, complete, up to date.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5. Security safeguards: </a:t>
            </a:r>
            <a:r>
              <a:rPr sz="2000">
                <a:solidFill>
                  <a:srgbClr val="1C1E21"/>
                </a:solidFill>
              </a:rPr>
              <a:t>protect it against loss, theft, and misuse.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6. Openness: </a:t>
            </a:r>
            <a:r>
              <a:rPr sz="2000">
                <a:solidFill>
                  <a:srgbClr val="1C1E21"/>
                </a:solidFill>
              </a:rPr>
              <a:t>be transparent about your practices.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7. Individual participation: </a:t>
            </a:r>
            <a:r>
              <a:rPr sz="2000">
                <a:solidFill>
                  <a:srgbClr val="1C1E21"/>
                </a:solidFill>
              </a:rPr>
              <a:t>people can see their data and correct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8. Accountability: </a:t>
            </a:r>
            <a:r>
              <a:rPr sz="2000">
                <a:solidFill>
                  <a:srgbClr val="1C1E21"/>
                </a:solidFill>
              </a:rPr>
              <a:t>someone owns compliance with all of the above.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From the OECD Privacy Guidelines (1980, revised 2013). Most privacy law, and most company privacy training, descends from these eight. (GDPR's Article 5 lists 7 in the same family: it adds storage limitation, and moves openness and participation into data-subject rights.)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The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SQL first: </a:t>
            </a:r>
            <a:r>
              <a:rPr sz="2000">
                <a:solidFill>
                  <a:srgbClr val="1C1E21"/>
                </a:solidFill>
              </a:rPr>
              <a:t>Presto / Spark SQL. Most questions start as a query, not a model.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Python: </a:t>
            </a:r>
            <a:r>
              <a:rPr sz="2000">
                <a:solidFill>
                  <a:srgbClr val="1C1E21"/>
                </a:solidFill>
              </a:rPr>
              <a:t>pandas, numpy, matplotlib. Notebooks, with code review, like software.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Experimentation: </a:t>
            </a:r>
            <a:r>
              <a:rPr sz="2000">
                <a:solidFill>
                  <a:srgbClr val="1C1E21"/>
                </a:solidFill>
              </a:rPr>
              <a:t>every launch is a test. You will live in A/B tests.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Dashboards: </a:t>
            </a:r>
            <a:r>
              <a:rPr sz="2000">
                <a:solidFill>
                  <a:srgbClr val="1C1E21"/>
                </a:solidFill>
              </a:rPr>
              <a:t>make the metric visible so the whole team can see it move.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Communication: </a:t>
            </a:r>
            <a:r>
              <a:rPr sz="2000">
                <a:solidFill>
                  <a:srgbClr val="1C1E21"/>
                </a:solidFill>
              </a:rPr>
              <a:t>the one-paragraph recommendation a PM actually acts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Your classes map to this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W.P. Carey courses. CIS 310/315/404/412 are electives for CIS majors, and CIS 407 is elective for AI in Business, so no single class covers all three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65960"/>
          <a:ext cx="106984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If you have taken...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You already know...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You will use it in...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CIS 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descriptive analytics, KPIs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Case studies 2, 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CIS 404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Python for business analytics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All case studies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CIS 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SQL, GROUP BY, joins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Case study 1, interviews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ECN 221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business stats, hypothesis testing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Case study 1 (live tonight)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CIS 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applied ML for business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Case study 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CIS 310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dashboards, choosing the right chart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Every case study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The gap: what class does not teach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Online experiments: </a:t>
            </a:r>
            <a:r>
              <a:rPr sz="2000">
                <a:solidFill>
                  <a:srgbClr val="1C1E21"/>
                </a:solidFill>
              </a:rPr>
              <a:t>peeking, novelty effects, guardrail metrics, power analysis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Measurement: </a:t>
            </a:r>
            <a:r>
              <a:rPr sz="2000">
                <a:solidFill>
                  <a:srgbClr val="1C1E21"/>
                </a:solidFill>
              </a:rPr>
              <a:t>defining success before you measure it: primary metric, guardrails, rollback criteria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Scale: </a:t>
            </a:r>
            <a:r>
              <a:rPr sz="2000">
                <a:solidFill>
                  <a:srgbClr val="1C1E21"/>
                </a:solidFill>
              </a:rPr>
              <a:t>sampling, pipelines, and the query that never finishes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Privacy: </a:t>
            </a:r>
            <a:r>
              <a:rPr sz="2000">
                <a:solidFill>
                  <a:srgbClr val="1C1E21"/>
                </a:solidFill>
              </a:rPr>
              <a:t>what you are not allowed to collect shapes every analysis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memo: </a:t>
            </a:r>
            <a:r>
              <a:rPr sz="2000">
                <a:solidFill>
                  <a:srgbClr val="1C1E21"/>
                </a:solidFill>
              </a:rPr>
              <a:t>writing the recommendation, not just the notebook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Everything on this list is learnable. Case study 1 is your on-ramp.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Ground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Fake data: </a:t>
            </a:r>
            <a:r>
              <a:rPr sz="2000">
                <a:solidFill>
                  <a:srgbClr val="1C1E21"/>
                </a:solidFill>
              </a:rPr>
              <a:t>every CSV today is synthetic, generated on my laptop, seeded and reproducible.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Real context: </a:t>
            </a:r>
            <a:r>
              <a:rPr sz="2000">
                <a:solidFill>
                  <a:srgbClr val="1C1E21"/>
                </a:solidFill>
              </a:rPr>
              <a:t>the products, launch dates, and DAU figures are public reporting as of Sep 2026.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Real questions: </a:t>
            </a:r>
            <a:r>
              <a:rPr sz="2000">
                <a:solidFill>
                  <a:srgbClr val="1C1E21"/>
                </a:solidFill>
              </a:rPr>
              <a:t>each case study asks what a Meta DS would actually ask.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job: </a:t>
            </a:r>
            <a:r>
              <a:rPr sz="2000">
                <a:solidFill>
                  <a:srgbClr val="1C1E21"/>
                </a:solidFill>
              </a:rPr>
              <a:t>run the code tonight, break my assumptions, and argue with the answer key.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Act 2 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Tonight's live case study. Laptops open.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Find at least 1 other person 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The case study works better in pairs.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One laptop open, one person driving, both arguing.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After the case study, compare your plot with the pair next to you.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Disagreeing with the answer key is encouraged.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LIVE 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1: Did the new hand-tracking model actually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Technique: A/B test, two-proportion z-test, guardrail metrics  |  Maps to: ECN 221, CIS 407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486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setup: </a:t>
            </a:r>
            <a:r>
              <a:rPr sz="2000">
                <a:solidFill>
                  <a:srgbClr val="1C1E21"/>
                </a:solidFill>
              </a:rPr>
              <a:t>hand tracking on Quest runs through OpenXR's XR_EXT_hand_tracking: 26 joints per hand, each with a pose, a radius, and validity flags.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change: </a:t>
            </a:r>
            <a:r>
              <a:rPr sz="2000">
                <a:solidFill>
                  <a:srgbClr val="1C1E21"/>
                </a:solidFill>
              </a:rPr>
              <a:t>HT-v2, a new hand-tracking model trained on 6 weeks of field-collected data. Shipped to a 1% traffic allocation, randomized 50/50.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data: </a:t>
            </a:r>
            <a:r>
              <a:rPr sz="2000">
                <a:solidFill>
                  <a:srgbClr val="1C1E21"/>
                </a:solidFill>
              </a:rPr>
              <a:t>ht_ab_holdout.csv: 20,000 users, control vs treatment.</a:t>
            </a:r>
          </a:p>
        </p:txBody>
      </p:sp>
      <p:pic>
        <p:nvPicPr>
          <p:cNvPr id="6" name="Picture 5" descr="hand-joints-openx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743200"/>
            <a:ext cx="4937760" cy="29332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580644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656B74"/>
                </a:solidFill>
              </a:defRPr>
            </a:pPr>
            <a:r>
              <a:t>The 26 OpenXR hand joints: wrist, palm, then metacarpal / proximal / intermediate / distal / tip per finger. Diagram: UNIGINE docs.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LIVE 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1: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000" b="0">
                <a:solidFill>
                  <a:srgbClr val="1C1E21"/>
                </a:solidFill>
              </a:defRPr>
            </a:pPr>
            <a:r>
              <a:t>Did gestures actually get better, and is it safe to roll out to everyone?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ht_ab_holdout.csv: 20,000 users, control vs treatment. Setup is on the previous slide; the nudges are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1: 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ht_ab_holdout.csv - 20,000 rows. Synthetic.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6596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80160"/>
                <a:gridCol w="649224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user_id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anonymous user id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control or treatment: random assignment inside the 1% traffic allocation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quest3 or quest3s: check the mix is balanced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gesture_attempts / successes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did the intended gesture register?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pinch_attempts / false_positives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system-gesture misfires (guardrail)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session_min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engagement (secondary metric)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crashed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stability guardrail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1: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Nudges, not answers: work these in order, then compare with the pair next to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26517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 wrap="square" lIns="228600" tIns="137160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import pandas as pd, numpy as np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df = pd.read_csv("ht_ab_holdout.csv")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g = df.groupby("group")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rate = g["gesture_successes"].sum() / g["gesture_attempts"].sum()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print(rate.round(4))  # now: is the gap bigger than noise?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00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Your task: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Compute gesture success rate by group. How big is the gap?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Run the two-proportion z-test. Significant at 1%? (rule of thumb: |z| &gt; 2.58)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Check the randomization: is the device mix the same in both arms? Why does that matter?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Check the guardrails: pinch false positives, crash rate. Ship or not?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Sketch the readout chart by hand. AI will offer you a pie chart and a truncated y-axis. You know better: pick the chart that makes the 3.2-point lift honest.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DISCUSS FIRST - answer below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1: answer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lift: </a:t>
            </a:r>
            <a:r>
              <a:rPr sz="2000">
                <a:solidFill>
                  <a:srgbClr val="1C1E21"/>
                </a:solidFill>
              </a:rPr>
              <a:t>gesture success 78.0% -&gt; 81.2%. z = 35: not luck, not close.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Randomization: </a:t>
            </a:r>
            <a:r>
              <a:rPr sz="2000">
                <a:solidFill>
                  <a:srgbClr val="1C1E21"/>
                </a:solidFill>
              </a:rPr>
              <a:t>device mix is identical (60/40) in both arms. The only systematic difference is the model.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Guardrails: </a:t>
            </a:r>
            <a:r>
              <a:rPr sz="2000">
                <a:solidFill>
                  <a:srgbClr val="1C1E21"/>
                </a:solidFill>
              </a:rPr>
              <a:t>pinch false positives flat (4.5% vs 4.3%), crash rate flat. Nothing vetoes the ship.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Secondary: </a:t>
            </a:r>
            <a:r>
              <a:rPr sz="2000">
                <a:solidFill>
                  <a:srgbClr val="1C1E21"/>
                </a:solidFill>
              </a:rPr>
              <a:t>session minutes tick up 22.2 -&gt; 23.0. Directional, not the decision metric.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Insight: </a:t>
            </a:r>
            <a:r>
              <a:rPr sz="2000">
                <a:solidFill>
                  <a:srgbClr val="1C1E21"/>
                </a:solidFill>
              </a:rPr>
              <a:t>'significant' is not 'important.' Here the 3.2-point lift is both. Ship it, and keep watching the guardrails at 100%.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Take-home case studies 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The trailer: story and punchline tonight. Datasets, tasks, and answer keys are in the appendix. Run them this weekend.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Was the field data worth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Technique: error analysis by segment  |  Maps to: CIS 412, CIS 404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spend: </a:t>
            </a:r>
            <a:r>
              <a:rPr sz="2000">
                <a:solidFill>
                  <a:srgbClr val="1C1E21"/>
                </a:solidFill>
              </a:rPr>
              <a:t>6 weeks collecting hand-tracking data in the wild: dim rooms, fast motion, all hand sizes. That data trained HT-v2.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hope: </a:t>
            </a:r>
            <a:r>
              <a:rPr sz="2000">
                <a:solidFill>
                  <a:srgbClr val="1C1E21"/>
                </a:solidFill>
              </a:rPr>
              <a:t>lab data is clean; field data is messy. Messy is what users actually do.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grading: </a:t>
            </a:r>
            <a:r>
              <a:rPr sz="2000">
                <a:solidFill>
                  <a:srgbClr val="1C1E21"/>
                </a:solidFill>
              </a:rPr>
              <a:t>MPJPE needs ground-truth joint positions, which online data never has. So we grade on an offline mocap set with known truth, under the same conditions. Field data trains the model; mocap data grades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data: </a:t>
            </a:r>
            <a:r>
              <a:rPr sz="2000">
                <a:solidFill>
                  <a:srgbClr val="1C1E21"/>
                </a:solidFill>
              </a:rPr>
              <a:t>ht_model_eval.csv: 8,000 labeled samples, ht_v1 vs ht_v2, by lighting, motion, and joint group.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000" b="0">
                <a:solidFill>
                  <a:srgbClr val="1C1E21"/>
                </a:solidFill>
              </a:defRPr>
            </a:pPr>
            <a:r>
              <a:t>Did HT-v2 actually get better, and where does it still fail?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ht_model_eval.csv: 8,000 labeled samples, ht_v1 vs ht_v2, by lighting, motion, and joint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the money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Overall: </a:t>
            </a:r>
            <a:r>
              <a:rPr sz="2000">
                <a:solidFill>
                  <a:srgbClr val="1C1E21"/>
                </a:solidFill>
              </a:rPr>
              <a:t>13.7 -&gt; 9.8 mm MPJPE (mean distance from predicted joints to mocap truth; lower is better). v1 was typical; v2 beats a published ~11 mm Quest 2 baseline.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Where it paid off: </a:t>
            </a:r>
            <a:r>
              <a:rPr sz="2000">
                <a:solidFill>
                  <a:srgbClr val="1C1E21"/>
                </a:solidFill>
              </a:rPr>
              <a:t>dim+fast 18.6 -&gt; 11.3 mm, low+fast 22.2 -&gt; 13.4 mm. The gains land exactly where the field data was collected.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Still hardest: </a:t>
            </a:r>
            <a:r>
              <a:rPr sz="2000">
                <a:solidFill>
                  <a:srgbClr val="1C1E21"/>
                </a:solidFill>
              </a:rPr>
              <a:t>fingertips (14.9 -&gt; 11.0 mm); the ranking is unchanged. Next collection should overweight fingertip-heavy gestures.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chart: </a:t>
            </a:r>
            <a:r>
              <a:rPr sz="2000">
                <a:solidFill>
                  <a:srgbClr val="1C1E21"/>
                </a:solidFill>
              </a:rPr>
              <a:t>lighting x motion heatmap, faceted by model. The table hides the story; the heatmap shows where the money went.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v69 shipped Tuesday. Is tracking actually worse?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Technique: before/after comparison, segment cuts  |  Maps to: CIS 315, ECN 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complaint: </a:t>
            </a:r>
            <a:r>
              <a:rPr sz="2000">
                <a:solidFill>
                  <a:srgbClr val="1C1E21"/>
                </a:solidFill>
              </a:rPr>
              <a:t>after the v69 release, users say hand tracking 'feels worse.'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trap: </a:t>
            </a:r>
            <a:r>
              <a:rPr sz="2000">
                <a:solidFill>
                  <a:srgbClr val="1C1E21"/>
                </a:solidFill>
              </a:rPr>
              <a:t>overall jitter looks only slightly up. The PM wants to roll back.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data: </a:t>
            </a:r>
            <a:r>
              <a:rPr sz="2000">
                <a:solidFill>
                  <a:srgbClr val="1C1E21"/>
                </a:solidFill>
              </a:rPr>
              <a:t>release_perf.csv: 9,000 sessions across v68, v69, v70.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000" b="0">
                <a:solidFill>
                  <a:srgbClr val="1C1E21"/>
                </a:solidFill>
              </a:defRPr>
            </a:pPr>
            <a:r>
              <a:t>Is the v69 regression real, which devices regressed, and did v70 fix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release_perf.csv: 9,000 sessions across v68, v69, v70.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the money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Headline: </a:t>
            </a:r>
            <a:r>
              <a:rPr sz="2000">
                <a:solidFill>
                  <a:srgbClr val="1C1E21"/>
                </a:solidFill>
              </a:rPr>
              <a:t>overall jitter +21% in v69 (2.09 -&gt; 2.53 mm). Sounds mild.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cut: </a:t>
            </a:r>
            <a:r>
              <a:rPr sz="2000">
                <a:solidFill>
                  <a:srgbClr val="1C1E21"/>
                </a:solidFill>
              </a:rPr>
              <a:t>Quest 3S: 2.09 -&gt; 3.01 mm (+44%). Quest 3: flat near 2.1. The flat majority diluted the real regression.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fix and the cost: </a:t>
            </a:r>
            <a:r>
              <a:rPr sz="2000">
                <a:solidFill>
                  <a:srgbClr val="1C1E21"/>
                </a:solidFill>
              </a:rPr>
              <a:t>v70 brought 3S back to 2.17 mm, but battery drain rose 18.0 -&gt; 18.9 %/hr. Latency flat at 42 ms throughout.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chart: </a:t>
            </a:r>
            <a:r>
              <a:rPr sz="2000">
                <a:solidFill>
                  <a:srgbClr val="1C1E21"/>
                </a:solidFill>
              </a:rPr>
              <a:t>jitter by release, faceted by device, battery on the second axis. Then the one-paragraph memo to the PM.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Act 3 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Mock interview questions, Meta style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How Meta interviews data scientists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Four areas: </a:t>
            </a:r>
            <a:r>
              <a:rPr sz="2000">
                <a:solidFill>
                  <a:srgbClr val="1C1E21"/>
                </a:solidFill>
              </a:rPr>
              <a:t>SQL, statistics and experimentation, product sense, coding (Python).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No LeetCode hard: </a:t>
            </a:r>
            <a:r>
              <a:rPr sz="2000">
                <a:solidFill>
                  <a:srgbClr val="1C1E21"/>
                </a:solidFill>
              </a:rPr>
              <a:t>we test how you think with data, not how fast you invert a binary tree.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Format: </a:t>
            </a:r>
            <a:r>
              <a:rPr sz="2000">
                <a:solidFill>
                  <a:srgbClr val="1C1E21"/>
                </a:solidFill>
              </a:rPr>
              <a:t>45 minutes each, collaborative. Narrate your thinking out loud.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Every question below: </a:t>
            </a:r>
            <a:r>
              <a:rPr sz="2000">
                <a:solidFill>
                  <a:srgbClr val="1C1E21"/>
                </a:solidFill>
              </a:rPr>
              <a:t>maps to a case study from tonight. You have already done the reps.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Interview tips that actually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Narrate: </a:t>
            </a:r>
            <a:r>
              <a:rPr sz="2000">
                <a:solidFill>
                  <a:srgbClr val="1C1E21"/>
                </a:solidFill>
              </a:rPr>
              <a:t>silent brilliance does not score. Think out loud.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Clarify first: </a:t>
            </a:r>
            <a:r>
              <a:rPr sz="2000">
                <a:solidFill>
                  <a:srgbClr val="1C1E21"/>
                </a:solidFill>
              </a:rPr>
              <a:t>define the metric before computing it. Ask what 'active' means.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Compared to what?: </a:t>
            </a:r>
            <a:r>
              <a:rPr sz="2000">
                <a:solidFill>
                  <a:srgbClr val="1C1E21"/>
                </a:solidFill>
              </a:rPr>
              <a:t>the most powerful question you own. Bring a control.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Behavioral: </a:t>
            </a:r>
            <a:r>
              <a:rPr sz="2000">
                <a:solidFill>
                  <a:srgbClr val="1C1E21"/>
                </a:solidFill>
              </a:rPr>
              <a:t>have one story ready: "a time data changed my mind." Make it specific.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Close the loop: </a:t>
            </a:r>
            <a:r>
              <a:rPr sz="2000">
                <a:solidFill>
                  <a:srgbClr val="1C1E21"/>
                </a:solidFill>
              </a:rPr>
              <a:t>end with the recommendation, not the p-value.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0064E0"/>
                </a:solidFill>
              </a:defRPr>
            </a:pPr>
            <a:r>
              <a:t>Interview Jeopardy 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Shout a number. Every question maps to a case study from tonight.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SQL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success rate per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78308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SQL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jitter by release x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3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STATS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design the 1% holdout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78308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4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STATS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the peeking trap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5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STATS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Simpson's paradox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291839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6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PRODUCT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'feels better, ship it?'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291839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PRODUCT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define the success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291839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8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CODING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MPJPE by joint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9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CODING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stable 1% sampling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480060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10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ESTIMATION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daily pinches on Quest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4800600"/>
            <a:ext cx="2514600" cy="1371600"/>
          </a:xfrm>
          <a:prstGeom prst="round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11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COMMUNICATION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fix the AI readout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Q1: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"From an attempt-level log of the holdout test, compute gesture success rate per group."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Name the grain first: one row per gesture attempt, then aggregate.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SUM(successes) / SUM(attempts) by group. Say how you would handle late-arriving events.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Strong answers ask what counts as an attempt before writing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Q2: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"For release_perf: mean jitter by release and device, plus median tracking loss."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GROUP BY release, device. Median needs a percentile function, not AVG.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Flag the small-cell problem: suppress or annotate tiny groups.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Bonus: week-over-week change with window functions.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Q3: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"Design the 1% holdout for the next hand-tracking model."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Randomization unit: user, not session (avoid interference across sessions).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Primary metric: gesture success rate. Guardrails: crash rate, latency, pinch false positives.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Runtime comes from a power calculation, not a feeling.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Name the novelty effect: re-measure after week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Q4: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"You watch the holdout dashboard daily and ship the moment p &lt; 0.05. What is wrong?"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Peeking inflates the false positive rate: with enough looks, everything is significant.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Fix: pre-register the runtime from a power calculation, or use sequential testing.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The most common junior mistake in experimentation. Name it confidently.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Q5: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"Overall jitter rose only +21% in v69, but Quest 3S regressed +44%. Explain the gap."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Aggregation hid it: the flat Quest 3 majority diluted the 3S regression in the headline average.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Stratify by device before concluding anything: 3S 2.09 -&gt; 3.01 mm, Quest 3 flat near 2.1.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This is aggregation bias: the flat majority dilutes the subgroup signal in the headline average. The extreme form, a true Simpson's reversal, flips the overall trend inside every subgroup.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Aggregation bias in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In the Simpson's-paradox family: dilution, not a full reversal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idea: </a:t>
            </a:r>
            <a:r>
              <a:rPr sz="2000">
                <a:solidFill>
                  <a:srgbClr val="1C1E21"/>
                </a:solidFill>
              </a:rPr>
              <a:t>a trend in the headline number disappears, or even reverses, inside every subgroup. Both readings are correct arithmetic; they answer different questions.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Why it happens: </a:t>
            </a:r>
            <a:r>
              <a:rPr sz="2000">
                <a:solidFill>
                  <a:srgbClr val="1C1E21"/>
                </a:solidFill>
              </a:rPr>
              <a:t>the overall average is weighted by subgroup mix. A big flat subgroup dilutes a real regression in a smaller one, and a shifting mix can move the average all by itself.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data, v69: </a:t>
            </a:r>
            <a:r>
              <a:rPr sz="2000">
                <a:solidFill>
                  <a:srgbClr val="1C1E21"/>
                </a:solidFill>
              </a:rPr>
              <a:t>headline jitter +21% (2.09 -&gt; 2.53 mm). Quest 3S: +44% (2.09 -&gt; 3.01). Quest 3: flat near 2.1. The flat majority diluted the real regression.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rule: </a:t>
            </a:r>
            <a:r>
              <a:rPr sz="2000">
                <a:solidFill>
                  <a:srgbClr val="1C1E21"/>
                </a:solidFill>
              </a:rPr>
              <a:t>always cut the headline metric by the big segments before concluding anything. The segment cut is the whole of case study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Q6: Product sense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"Your PM says HT-v2 feels better and wants to ship. What evidence do you need?"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A defined primary metric and a control group, not a feeling.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Guardrails first: what would make you block the rollout?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Great answers separate 'the model improved' from 'users are better off.'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Q7: Product sense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"Define the success metric for a hand-tracking model release. What blocks the rollout?"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Primary: gesture success rate on a holdout. Leading indicator, measurable in two weeks.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Blockers: crash regression, latency regression, pinch false-positive spike.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Say what you would watch at 100% after the ship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Q8: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"Write a pandas function that turns a joint-location log into MPJPE by joint group."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Group by joint group, mean the per-joint errors. Vectorized, not loopy.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Handle untracked joints (isActive=false): exclude, do not zero-fill.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Talk through edge cases before coding: missing joints, duplicated timestamps.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Q9: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"Assign a stable 1% holdout per user id."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Hash-based sampling on user_id: stable across joins and reruns.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Say why bare random() per row is wrong for joins.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Mention: the sampling must be independent of the outcome you will study.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Q10: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"Estimate daily pinch gestures on Quest. Show your work."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Structure it: headsets in market -&gt; fraction daily active -&gt; fraction using hand tracking -&gt; pinches per session.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State every assumption out loud. Round aggressively.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Sanity-check the magnitude at the end. The structure matters more than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0064E0"/>
                </a:solidFill>
              </a:defRPr>
            </a:pPr>
            <a:r>
              <a:t>Interview Q11: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C1E21"/>
                </a:solidFill>
              </a:defRPr>
            </a:pPr>
            <a:r>
              <a:t>"Your AI assistant drafts the experiment readout: gesture success as a pie chart, Quest 3S jitter as bars with the y-axis starting at 2.0 mm. Five minutes before it goes to leadership. What do you change?"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C1E21"/>
                </a:solidFill>
              </a:defRPr>
            </a:pPr>
            <a:r>
              <a:t>What good looks like: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Pie -&gt; bars or dots: humans judge angles badly and lengths well (Cleveland and McGill).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Un-truncate the y-axis, or annotate it loudly: 2.0 to 3.2 makes a 2.09 -&gt; 3.01 wobble look catastrophic.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C1E21"/>
                </a:solidFill>
              </a:defRPr>
            </a:pPr>
            <a:r>
              <a:t>•  Title the chart with the takeaway, not the variable name. That is the whole thesis of 'Storytelling with Data', your CIS 310 textbook.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If we have time 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Classic estimation questions, Meta interview style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Space Junk 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Which is least in danger of getting hit by space junk?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GOES weather satellite, GPS satellites, Hubble Space Telescope, the ISS?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Why I'm asking: </a:t>
            </a:r>
            <a:r>
              <a:rPr sz="2000">
                <a:solidFill>
                  <a:srgbClr val="1C1E21"/>
                </a:solidFill>
              </a:rPr>
              <a:t>Fermi estimation. No data, just structure and orders of magnitude.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What good looks like: </a:t>
            </a:r>
            <a:r>
              <a:rPr sz="2000">
                <a:solidFill>
                  <a:srgbClr val="1C1E21"/>
                </a:solidFill>
              </a:rPr>
              <a:t>altitude bands, debris density by orbit, cross-sectional area. Show the work, not the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Biscuits 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You need to determine which biscuits are good and which are bad.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12 biscuits roll past you every 60 seconds. How would you do it?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Why I'm asking: </a:t>
            </a:r>
            <a:r>
              <a:rPr sz="2000">
                <a:solidFill>
                  <a:srgbClr val="1C1E21"/>
                </a:solidFill>
              </a:rPr>
              <a:t>sampling and measurement under a rate constraint. This is data quality in the real world.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What good looks like: </a:t>
            </a:r>
            <a:r>
              <a:rPr sz="2000">
                <a:solidFill>
                  <a:srgbClr val="1C1E21"/>
                </a:solidFill>
              </a:rPr>
              <a:t>sample, don't census. Define 'bad' first. Say how your error rate changes with sample size.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Music or Movies? 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Your friend hands you a 2TB hard drive of music and movies.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'Summarize it for me.' What analysis would you perform?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Why I'm asking: </a:t>
            </a:r>
            <a:r>
              <a:rPr sz="2000">
                <a:solidFill>
                  <a:srgbClr val="1C1E21"/>
                </a:solidFill>
              </a:rPr>
              <a:t>exploratory analysis with no question given. The scariest and most common DS situation.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What good looks like: </a:t>
            </a:r>
            <a:r>
              <a:rPr sz="2000">
                <a:solidFill>
                  <a:srgbClr val="1C1E21"/>
                </a:solidFill>
              </a:rPr>
              <a:t>distributions first (formats, sizes, dates), then the interesting cuts. Ask what 'summarize' means before you start.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Take it with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The data, the code, and where to go next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Take the data 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All three CSVs: </a:t>
            </a:r>
            <a:r>
              <a:rPr sz="2000">
                <a:solidFill>
                  <a:srgbClr val="1C1E21"/>
                </a:solidFill>
              </a:rPr>
              <a:t>ht_ab_holdout, ht_model_eval, release_perf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Plus: </a:t>
            </a:r>
            <a:r>
              <a:rPr sz="2000">
                <a:solidFill>
                  <a:srgbClr val="1C1E21"/>
                </a:solidFill>
              </a:rPr>
              <a:t>starter code for each case study and the full answer key (datasets/README.md)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Download: </a:t>
            </a:r>
            <a:r>
              <a:rPr sz="2000">
                <a:solidFill>
                  <a:srgbClr val="1C1E21"/>
                </a:solidFill>
              </a:rPr>
              <a:t>[ADD YOUR SHARE LINK HERE before the talk]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Reproducible: </a:t>
            </a:r>
            <a:r>
              <a:rPr sz="2000">
                <a:solidFill>
                  <a:srgbClr val="1C1E21"/>
                </a:solidFill>
              </a:rPr>
              <a:t>gen_rl_datasets.py regenerates everything from seed 20261001.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Run it tonight. Bring your plots to next Thursday's DISC meeting and argue with 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Where to go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DISC: </a:t>
            </a:r>
            <a:r>
              <a:rPr sz="2000">
                <a:solidFill>
                  <a:srgbClr val="1C1E21"/>
                </a:solidFill>
              </a:rPr>
              <a:t>linktr.ee/discatasu - mentorship program, Tech Thursdays, company nights.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Kaggle Learn: </a:t>
            </a:r>
            <a:r>
              <a:rPr sz="2000">
                <a:solidFill>
                  <a:srgbClr val="1C1E21"/>
                </a:solidFill>
              </a:rPr>
              <a:t>free, weekend-sized: pandas, SQL, intro ML.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Grad school: </a:t>
            </a:r>
            <a:r>
              <a:rPr sz="2000">
                <a:solidFill>
                  <a:srgbClr val="1C1E21"/>
                </a:solidFill>
              </a:rPr>
              <a:t>W.P. Carey's MS in Business Analytics (9-month, STEM) or MS in Information Systems Management if you want to go deeper.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experimentation bible: </a:t>
            </a:r>
            <a:r>
              <a:rPr sz="2000">
                <a:solidFill>
                  <a:srgbClr val="1C1E21"/>
                </a:solidFill>
              </a:rPr>
              <a:t>"Trustworthy Online Controlled Experiments" by Kohavi, Tang, Xu.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Meta careers: </a:t>
            </a:r>
            <a:r>
              <a:rPr sz="2000">
                <a:solidFill>
                  <a:srgbClr val="1C1E21"/>
                </a:solidFill>
              </a:rPr>
              <a:t>[ADD LINK] - internships open soon.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AI and your career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Where this goes, and what is already happening.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Already happening: </a:t>
            </a:r>
            <a:r>
              <a:rPr sz="2000">
                <a:solidFill>
                  <a:srgbClr val="1C1E21"/>
                </a:solidFill>
              </a:rPr>
              <a:t>Copilot in Power BI/Fabric writes DAX, builds models, and drafts reports. Tableau's agentic analytics answers plain-language questions over your data. The translation work is automated.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Your job moves up the stack: </a:t>
            </a:r>
            <a:r>
              <a:rPr sz="2000">
                <a:solidFill>
                  <a:srgbClr val="1C1E21"/>
                </a:solidFill>
              </a:rPr>
              <a:t>pick the right question, check the answer, own the decision. When everyone can build dashboards, the scarce role is the person who governs the platform: guardrails on what gets published, validation that the data is right, one centralized model instead of twelve conflicting dashboards, and the business context no AI can infer.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Guardrails are a career skill: </a:t>
            </a:r>
            <a:r>
              <a:rPr sz="2000">
                <a:solidFill>
                  <a:srgbClr val="1C1E21"/>
                </a:solidFill>
              </a:rPr>
              <a:t>AI outputs need human validation. Saying 'do not ship' when the guardrails fail is exactly the instinct employers will pay for. That is what tonight's case study was about.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forecasts agree: </a:t>
            </a:r>
            <a:r>
              <a:rPr sz="2000">
                <a:solidFill>
                  <a:srgbClr val="1C1E21"/>
                </a:solidFill>
              </a:rPr>
              <a:t>WEF Future of Jobs 2025 puts Big Data Specialists, AI/ML Specialists, and Data Analysts/Scientists among the fastest-growing roles to 2030. Analytical thinking is employers' most sought-after core skill.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What to do now: </a:t>
            </a:r>
            <a:r>
              <a:rPr sz="2000">
                <a:solidFill>
                  <a:srgbClr val="1C1E21"/>
                </a:solidFill>
              </a:rPr>
              <a:t>learn to direct AI systems, keep the stats fundamentals sharp (ECN 221 is the moat), and ship one real end-to-end thing before you graduate.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1C1E21"/>
                </a:solidFill>
              </a:defRPr>
            </a:pPr>
            <a:r>
              <a:t>The stack moved. So did you.</a:t>
            </a:r>
          </a:p>
        </p:txBody>
      </p:sp>
      <p:pic>
        <p:nvPicPr>
          <p:cNvPr id="3" name="Picture 2" descr="stack-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9601200" cy="550052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Nobody reads the wall of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656B74"/>
                </a:solidFill>
              </a:defRPr>
            </a:pPr>
            <a:r>
              <a:t>Writing for leadership in the age of AI slop.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AI slop is real: </a:t>
            </a:r>
            <a:r>
              <a:rPr sz="2000">
                <a:solidFill>
                  <a:srgbClr val="1C1E21"/>
                </a:solidFill>
              </a:rPr>
              <a:t>if your doc looks generated, it gets skimmed like it's generated. Leadership can tell when nobody re-read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one-paragraph rule: </a:t>
            </a:r>
            <a:r>
              <a:rPr sz="2000">
                <a:solidFill>
                  <a:srgbClr val="1C1E21"/>
                </a:solidFill>
              </a:rPr>
              <a:t>if you can't state the recommendation in one paragraph, you don't have one yet. Case study 3's memo was the whole skill.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Design the post: </a:t>
            </a:r>
            <a:r>
              <a:rPr sz="2000">
                <a:solidFill>
                  <a:srgbClr val="1C1E21"/>
                </a:solidFill>
              </a:rPr>
              <a:t>headline first, then the decision, then the data. Title with the takeaway, not 'Q3 metrics update.'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Quality over quantity: </a:t>
            </a:r>
            <a:r>
              <a:rPr sz="2000">
                <a:solidFill>
                  <a:srgbClr val="1C1E21"/>
                </a:solidFill>
              </a:rPr>
              <a:t>one sharp chart beats ten AI-drafted dashboards. Five reviewed lines beat fifty generated ones.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test: </a:t>
            </a:r>
            <a:r>
              <a:rPr sz="2000">
                <a:solidFill>
                  <a:srgbClr val="1C1E21"/>
                </a:solidFill>
              </a:rPr>
              <a:t>before you post, delete half. If nothing broke, delete half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The one thing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The analysis is not the hard part. Knowing which question to ask is.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1C1E21"/>
                </a:solidFill>
              </a:defRPr>
            </a:pPr>
            <a:r>
              <a:t>•  Fake data, real questions. Go ask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1C1E21"/>
                </a:solidFill>
              </a:defRPr>
            </a:pPr>
            <a:r>
              <a:t>Thank you.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656B74"/>
                </a:solidFill>
              </a:defRPr>
            </a:pPr>
            <a:r>
              <a:t>Greg Vannoni, Software Engineer, Meta Reality Labs</a:t>
            </a:r>
            <a:br/>
            <a:r>
              <a:t>[contact / LinkedIn]</a:t>
            </a:r>
            <a:br/>
            <a:r>
              <a:t>DISC, October 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Appendix 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B0B8C9"/>
                </a:solidFill>
              </a:defRPr>
            </a:pPr>
            <a:r>
              <a:t>References, take-home datasets, tasks, and answer keys.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0064E0"/>
                </a:solidFill>
              </a:defRPr>
            </a:pPr>
            <a:r>
              <a:t>References 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Everything real we leaned on. The datasets are still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Real Quest release notes: </a:t>
            </a:r>
            <a:r>
              <a:rPr sz="1800" u="sng">
                <a:solidFill>
                  <a:srgbClr val="0064E0"/>
                </a:solidFill>
                <a:hlinkClick r:id="rId2"/>
              </a:rPr>
              <a:t>meta.com</a:t>
            </a:r>
            <a:r>
              <a:rPr sz="1800">
                <a:solidFill>
                  <a:srgbClr val="1C1E21"/>
                </a:solidFill>
              </a:rPr>
              <a:t> — what actually ships in each release. Our v69 regression is fictional; this is where real ones get documented.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OpenXR hand tracking: </a:t>
            </a:r>
            <a:r>
              <a:rPr sz="1800" u="sng">
                <a:solidFill>
                  <a:srgbClr val="0064E0"/>
                </a:solidFill>
                <a:hlinkClick r:id="rId3"/>
              </a:rPr>
              <a:t>XR_EXT_hand_tracking</a:t>
            </a:r>
            <a:r>
              <a:rPr sz="1800">
                <a:solidFill>
                  <a:srgbClr val="1C1E21"/>
                </a:solidFill>
              </a:rPr>
              <a:t> — 26 joints per hand, per-joint tracked flags. The API our case studies pretend to sit 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Jitter, defined: </a:t>
            </a:r>
            <a:r>
              <a:rPr sz="1800" u="sng">
                <a:solidFill>
                  <a:srgbClr val="0064E0"/>
                </a:solidFill>
                <a:hlinkClick r:id="rId4"/>
              </a:rPr>
              <a:t>UmeTrack (arXiv)</a:t>
            </a:r>
            <a:r>
              <a:rPr sz="1800">
                <a:solidFill>
                  <a:srgbClr val="1C1E21"/>
                </a:solidFill>
              </a:rPr>
              <a:t> — measures tracking jitter as mean per-joint position acceleration; lower means less jittery tracking. Also defines MPJPE.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Accuracy baseline: </a:t>
            </a:r>
            <a:r>
              <a:rPr sz="1800" u="sng">
                <a:solidFill>
                  <a:srgbClr val="0064E0"/>
                </a:solidFill>
                <a:hlinkClick r:id="rId5"/>
              </a:rPr>
              <a:t>Quest 2 hand-tracking study</a:t>
            </a:r>
            <a:r>
              <a:rPr sz="1800">
                <a:solidFill>
                  <a:srgbClr val="1C1E21"/>
                </a:solidFill>
              </a:rPr>
              <a:t> — about 1.1 cm fingertip error. The number v1 and v2 are judged against in case study 2.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Simpson's paradox: </a:t>
            </a:r>
            <a:r>
              <a:rPr sz="1800" u="sng">
                <a:solidFill>
                  <a:srgbClr val="0064E0"/>
                </a:solidFill>
                <a:hlinkClick r:id="rId6"/>
              </a:rPr>
              <a:t>Wikipedia</a:t>
            </a:r>
            <a:r>
              <a:rPr sz="1800">
                <a:solidFill>
                  <a:srgbClr val="1C1E21"/>
                </a:solidFill>
              </a:rPr>
              <a:t> — the kidney-stone and Berkeley admissions examples are worth five minutes of your time.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Meta DS, Product Analytics posting: </a:t>
            </a:r>
            <a:r>
              <a:rPr sz="1800" u="sng">
                <a:solidFill>
                  <a:srgbClr val="0064E0"/>
                </a:solidFill>
                <a:hlinkClick r:id="rId7"/>
              </a:rPr>
              <a:t>job posting (mirror)</a:t>
            </a:r>
            <a:r>
              <a:rPr sz="1800">
                <a:solidFill>
                  <a:srgbClr val="1C1E21"/>
                </a:solidFill>
              </a:rPr>
              <a:t> — set KPIs and goals, design and evaluate experiments, inform product strategy and investment decisions.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Meta Data Engineer posting: </a:t>
            </a:r>
            <a:r>
              <a:rPr sz="1800" u="sng">
                <a:solidFill>
                  <a:srgbClr val="0064E0"/>
                </a:solidFill>
                <a:hlinkClick r:id="rId8"/>
              </a:rPr>
              <a:t>job posting (mirror)</a:t>
            </a:r>
            <a:r>
              <a:rPr sz="1800">
                <a:solidFill>
                  <a:srgbClr val="1C1E21"/>
                </a:solidFill>
              </a:rPr>
              <a:t> — own data architecture, dataset SLAs, data quality, privacy, and governance.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What a Meta DS actually does: </a:t>
            </a:r>
            <a:r>
              <a:rPr sz="1800" u="sng">
                <a:solidFill>
                  <a:srgbClr val="0064E0"/>
                </a:solidFill>
                <a:hlinkClick r:id="rId9"/>
              </a:rPr>
              <a:t>interview guide</a:t>
            </a:r>
            <a:r>
              <a:rPr sz="1800">
                <a:solidFill>
                  <a:srgbClr val="1C1E21"/>
                </a:solidFill>
              </a:rPr>
              <a:t> — product analytics role overview, from ex-Meta interviewers.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Privacy Aware Infrastructure (PAI): </a:t>
            </a:r>
            <a:r>
              <a:rPr sz="1800" u="sng">
                <a:solidFill>
                  <a:srgbClr val="0064E0"/>
                </a:solidFill>
                <a:hlinkClick r:id="rId10"/>
              </a:rPr>
              <a:t>engineering blog</a:t>
            </a:r>
            <a:r>
              <a:rPr sz="1800">
                <a:solidFill>
                  <a:srgbClr val="1C1E21"/>
                </a:solidFill>
              </a:rPr>
              <a:t> — Meta's public privacy framework: annotations at ingestion, universal taxonomy, Policy Zones enforcing purpose limitation at scale.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C1E21"/>
                </a:solidFill>
              </a:rPr>
              <a:t>•  OECD Privacy Guidelines: </a:t>
            </a:r>
            <a:r>
              <a:rPr sz="1800" u="sng">
                <a:solidFill>
                  <a:srgbClr val="0064E0"/>
                </a:solidFill>
                <a:hlinkClick r:id="rId11"/>
              </a:rPr>
              <a:t>course handout</a:t>
            </a:r>
            <a:r>
              <a:rPr sz="1800">
                <a:solidFill>
                  <a:srgbClr val="1C1E21"/>
                </a:solidFill>
              </a:rPr>
              <a:t> — the 8 principles (1980, revised 2013) behind most privacy law and company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ht_model_eval.csv - 8,000 rows. Synthetic.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6596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280160"/>
                <a:gridCol w="685800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sample_id /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id and ht_v1 vs ht_v2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lighting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bright, dim, low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motion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slow or fast hand movement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joint_group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fingertips, knuckles, palm_wrist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mpjpe_mm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mean per-joint position error vs motion-capture ground truth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tracked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POSITION_TRACKED_BIT analogue: joint actively tracked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pinch_correct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pinch gesture classified correctly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Nudges, not answers: work these in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26517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 wrap="square" lIns="228600" tIns="137160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df = pd.read_csv("ht_model_eval.csv")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print(df.groupby(["model","lighting","motion"])["mpjpe_mm"].mean().round(1))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00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Your task: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Overall MPJPE by model. Then cut by lighting x motion: where was v1 worst, and where did v2 gain most?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Which joint group is hardest? Does v2 change the ranking?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Do tracked rate and pinch accuracy agree with the MPJPE story?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Build the heatmap: MPJPE by lighting x motion. The table hides the story; the heatmap shows where the field data paid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2: answer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Overall: </a:t>
            </a:r>
            <a:r>
              <a:rPr sz="2000">
                <a:solidFill>
                  <a:srgbClr val="1C1E21"/>
                </a:solidFill>
              </a:rPr>
              <a:t>13.7 -&gt; 9.8 mm. For reference, a published Quest 2 study measured ~11 mm fingertip error: v1 was typical, v2 beats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money slide: </a:t>
            </a:r>
            <a:r>
              <a:rPr sz="2000">
                <a:solidFill>
                  <a:srgbClr val="1C1E21"/>
                </a:solidFill>
              </a:rPr>
              <a:t>dim+fast 18.6 -&gt; 11.3 mm, low+fast 22.2 -&gt; 13.4 mm. The gains land exactly where the field data was collected.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Still hardest: </a:t>
            </a:r>
            <a:r>
              <a:rPr sz="2000">
                <a:solidFill>
                  <a:srgbClr val="1C1E21"/>
                </a:solidFill>
              </a:rPr>
              <a:t>fingertips (14.9 -&gt; 11.0 mm); the ranking is unchanged. Next collection should overweight fingertip-heavy gestures.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Agreement: </a:t>
            </a:r>
            <a:r>
              <a:rPr sz="2000">
                <a:solidFill>
                  <a:srgbClr val="1C1E21"/>
                </a:solidFill>
              </a:rPr>
              <a:t>tracked rate 90.3% -&gt; 94.3%, pinch accuracy 86.8% -&gt; 91.6%. Three metrics, same 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release_perf.csv - 9,000 rows. Synthetic.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65960"/>
          <a:ext cx="106984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64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session_id /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id and v68, v69, or v70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quest3 or quest3s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jitter_mm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frame-to-frame joint noise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tracking_loss_per_hr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isActive=false events per hour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mtp_latency_ms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motion-to-photon latency (guardrail)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battery_drain_pct_hr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defRPr sz="1500" b="0">
                          <a:solidFill>
                            <a:srgbClr val="1C1E21"/>
                          </a:solidFill>
                        </a:defRPr>
                      </a:pPr>
                      <a:r>
                        <a:t>power draw (guardrail)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656B74"/>
                </a:solidFill>
              </a:defRPr>
            </a:pPr>
            <a:r>
              <a:t>Nudges, not answers: work these in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26517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 wrap="square" lIns="228600" tIns="137160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df = pd.read_csv("release_perf.csv")</a:t>
            </a:r>
          </a:p>
          <a:p>
            <a:pPr>
              <a:spcAft>
                <a:spcPts val="200"/>
              </a:spcAft>
              <a:defRPr sz="1500">
                <a:solidFill>
                  <a:srgbClr val="1C1E21"/>
                </a:solidFill>
                <a:latin typeface="Consolas"/>
              </a:defRPr>
            </a:pPr>
            <a:r>
              <a:t>print(df.groupby(["release","device"])["jitter_mm"].mean().round(2))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00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064E0"/>
                </a:solidFill>
              </a:defRPr>
            </a:pPr>
            <a:r>
              <a:t>Your task: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Mean jitter by release, then by release x device. Where is the regression?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Same cut for tracking loss. Does it agree?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Check the guardrails: latency and battery. Any trade-offs in v70?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Plot jitter by release, faceted by device. The overall average dilutes the story; the faceted view is the whole case.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C1E21"/>
                </a:solidFill>
              </a:defRPr>
            </a:pPr>
            <a:r>
              <a:t>•  Write the one-paragraph recommendation you would send the PM.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926080" cy="457200"/>
          </a:xfrm>
          <a:prstGeom prst="rect">
            <a:avLst/>
          </a:prstGeom>
          <a:solidFill>
            <a:srgbClr val="FFE88A"/>
          </a:solidFill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300" b="1">
                <a:solidFill>
                  <a:srgbClr val="1C1E21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3200" b="1">
                <a:solidFill>
                  <a:srgbClr val="1C1E21"/>
                </a:solidFill>
              </a:defRPr>
            </a:pPr>
            <a:r>
              <a:t>Case study 3: answer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6984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cut: </a:t>
            </a:r>
            <a:r>
              <a:rPr sz="2000">
                <a:solidFill>
                  <a:srgbClr val="1C1E21"/>
                </a:solidFill>
              </a:rPr>
              <a:t>overall jitter rose 2.09 -&gt; 2.53 mm (+21%), but Quest 3S went 2.09 -&gt; 3.01 mm (+44%) while Quest 3 sat flat near 2.1. The headline diluted a device-specific regression.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Agreement: </a:t>
            </a:r>
            <a:r>
              <a:rPr sz="2000">
                <a:solidFill>
                  <a:srgbClr val="1C1E21"/>
                </a:solidFill>
              </a:rPr>
              <a:t>tracking loss on 3S: 1.20 -&gt; 1.87 events/hr. Two metrics, same device, same release.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fix: </a:t>
            </a:r>
            <a:r>
              <a:rPr sz="2000">
                <a:solidFill>
                  <a:srgbClr val="1C1E21"/>
                </a:solidFill>
              </a:rPr>
              <a:t>v70 brought 3S jitter back to 2.17 mm. Latency flat at 42 ms the whole time.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trade-off: </a:t>
            </a:r>
            <a:r>
              <a:rPr sz="2000">
                <a:solidFill>
                  <a:srgbClr val="1C1E21"/>
                </a:solidFill>
              </a:rPr>
              <a:t>v70 battery drain rose 18.0 -&gt; 18.9 %/hr. The fix costs power.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2000" b="1">
                <a:solidFill>
                  <a:srgbClr val="1C1E21"/>
                </a:solidFill>
              </a:rPr>
              <a:t>The memo: </a:t>
            </a:r>
            <a:r>
              <a:rPr sz="2000">
                <a:solidFill>
                  <a:srgbClr val="1C1E21"/>
                </a:solidFill>
              </a:rPr>
              <a:t>ship v70, file the battery cost as known, and investigate the 3S-specific path in v69. That is aggregation bias, and you just caught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56B74"/>
                </a:solidFill>
              </a:defRPr>
            </a:pPr>
            <a:r>
              <a:t>DISC x Meta - Oct 1, 2026  |  Fake data, real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