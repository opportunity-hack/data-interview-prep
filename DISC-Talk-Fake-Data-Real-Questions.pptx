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png" ContentType="image/pn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slides/slide16.xml" ContentType="application/vnd.openxmlformats-officedocument.presentationml.slide+xml"/>
  <Override PartName="/ppt/slides/slide17.xml" ContentType="application/vnd.openxmlformats-officedocument.presentationml.slide+xml"/>
  <Override PartName="/ppt/slides/slide18.xml" ContentType="application/vnd.openxmlformats-officedocument.presentationml.slide+xml"/>
  <Override PartName="/ppt/slides/slide19.xml" ContentType="application/vnd.openxmlformats-officedocument.presentationml.slide+xml"/>
  <Override PartName="/ppt/slides/slide2.xml" ContentType="application/vnd.openxmlformats-officedocument.presentationml.slide+xml"/>
  <Override PartName="/ppt/slides/slide20.xml" ContentType="application/vnd.openxmlformats-officedocument.presentationml.slide+xml"/>
  <Override PartName="/ppt/slides/slide21.xml" ContentType="application/vnd.openxmlformats-officedocument.presentationml.slide+xml"/>
  <Override PartName="/ppt/slides/slide22.xml" ContentType="application/vnd.openxmlformats-officedocument.presentationml.slide+xml"/>
  <Override PartName="/ppt/slides/slide23.xml" ContentType="application/vnd.openxmlformats-officedocument.presentationml.slide+xml"/>
  <Override PartName="/ppt/slides/slide24.xml" ContentType="application/vnd.openxmlformats-officedocument.presentationml.slide+xml"/>
  <Override PartName="/ppt/slides/slide25.xml" ContentType="application/vnd.openxmlformats-officedocument.presentationml.slide+xml"/>
  <Override PartName="/ppt/slides/slide26.xml" ContentType="application/vnd.openxmlformats-officedocument.presentationml.slide+xml"/>
  <Override PartName="/ppt/slides/slide27.xml" ContentType="application/vnd.openxmlformats-officedocument.presentationml.slide+xml"/>
  <Override PartName="/ppt/slides/slide28.xml" ContentType="application/vnd.openxmlformats-officedocument.presentationml.slide+xml"/>
  <Override PartName="/ppt/slides/slide29.xml" ContentType="application/vnd.openxmlformats-officedocument.presentationml.slide+xml"/>
  <Override PartName="/ppt/slides/slide3.xml" ContentType="application/vnd.openxmlformats-officedocument.presentationml.slide+xml"/>
  <Override PartName="/ppt/slides/slide30.xml" ContentType="application/vnd.openxmlformats-officedocument.presentationml.slide+xml"/>
  <Override PartName="/ppt/slides/slide31.xml" ContentType="application/vnd.openxmlformats-officedocument.presentationml.slide+xml"/>
  <Override PartName="/ppt/slides/slide32.xml" ContentType="application/vnd.openxmlformats-officedocument.presentationml.slide+xml"/>
  <Override PartName="/ppt/slides/slide33.xml" ContentType="application/vnd.openxmlformats-officedocument.presentationml.slide+xml"/>
  <Override PartName="/ppt/slides/slide34.xml" ContentType="application/vnd.openxmlformats-officedocument.presentationml.slide+xml"/>
  <Override PartName="/ppt/slides/slide35.xml" ContentType="application/vnd.openxmlformats-officedocument.presentationml.slide+xml"/>
  <Override PartName="/ppt/slides/slide36.xml" ContentType="application/vnd.openxmlformats-officedocument.presentationml.slide+xml"/>
  <Override PartName="/ppt/slides/slide37.xml" ContentType="application/vnd.openxmlformats-officedocument.presentationml.slide+xml"/>
  <Override PartName="/ppt/slides/slide38.xml" ContentType="application/vnd.openxmlformats-officedocument.presentationml.slide+xml"/>
  <Override PartName="/ppt/slides/slide39.xml" ContentType="application/vnd.openxmlformats-officedocument.presentationml.slide+xml"/>
  <Override PartName="/ppt/slides/slide4.xml" ContentType="application/vnd.openxmlformats-officedocument.presentationml.slide+xml"/>
  <Override PartName="/ppt/slides/slide40.xml" ContentType="application/vnd.openxmlformats-officedocument.presentationml.slide+xml"/>
  <Override PartName="/ppt/slides/slide41.xml" ContentType="application/vnd.openxmlformats-officedocument.presentationml.slide+xml"/>
  <Override PartName="/ppt/slides/slide42.xml" ContentType="application/vnd.openxmlformats-officedocument.presentationml.slide+xml"/>
  <Override PartName="/ppt/slides/slide43.xml" ContentType="application/vnd.openxmlformats-officedocument.presentationml.slide+xml"/>
  <Override PartName="/ppt/slides/slide44.xml" ContentType="application/vnd.openxmlformats-officedocument.presentationml.slide+xml"/>
  <Override PartName="/ppt/slides/slide45.xml" ContentType="application/vnd.openxmlformats-officedocument.presentationml.slide+xml"/>
  <Override PartName="/ppt/slides/slide46.xml" ContentType="application/vnd.openxmlformats-officedocument.presentationml.slide+xml"/>
  <Override PartName="/ppt/slides/slide47.xml" ContentType="application/vnd.openxmlformats-officedocument.presentationml.slide+xml"/>
  <Override PartName="/ppt/slides/slide48.xml" ContentType="application/vnd.openxmlformats-officedocument.presentationml.slide+xml"/>
  <Override PartName="/ppt/slides/slide49.xml" ContentType="application/vnd.openxmlformats-officedocument.presentationml.slide+xml"/>
  <Override PartName="/ppt/slides/slide5.xml" ContentType="application/vnd.openxmlformats-officedocument.presentationml.slide+xml"/>
  <Override PartName="/ppt/slides/slide50.xml" ContentType="application/vnd.openxmlformats-officedocument.presentationml.slide+xml"/>
  <Override PartName="/ppt/slides/slide51.xml" ContentType="application/vnd.openxmlformats-officedocument.presentationml.slide+xml"/>
  <Override PartName="/ppt/slides/slide52.xml" ContentType="application/vnd.openxmlformats-officedocument.presentationml.slide+xml"/>
  <Override PartName="/ppt/slides/slide53.xml" ContentType="application/vnd.openxmlformats-officedocument.presentationml.slide+xml"/>
  <Override PartName="/ppt/slides/slide54.xml" ContentType="application/vnd.openxmlformats-officedocument.presentationml.slide+xml"/>
  <Override PartName="/ppt/slides/slide55.xml" ContentType="application/vnd.openxmlformats-officedocument.presentationml.slide+xml"/>
  <Override PartName="/ppt/slides/slide56.xml" ContentType="application/vnd.openxmlformats-officedocument.presentationml.slide+xml"/>
  <Override PartName="/ppt/slides/slide57.xml" ContentType="application/vnd.openxmlformats-officedocument.presentationml.slide+xml"/>
  <Override PartName="/ppt/slides/slide58.xml" ContentType="application/vnd.openxmlformats-officedocument.presentationml.slide+xml"/>
  <Override PartName="/ppt/slides/slide59.xml" ContentType="application/vnd.openxmlformats-officedocument.presentationml.slide+xml"/>
  <Override PartName="/ppt/slides/slide6.xml" ContentType="application/vnd.openxmlformats-officedocument.presentationml.slide+xml"/>
  <Override PartName="/ppt/slides/slide60.xml" ContentType="application/vnd.openxmlformats-officedocument.presentationml.slide+xml"/>
  <Override PartName="/ppt/slides/slide61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  <p:sldId id="257" r:id="rId8"/>
    <p:sldId id="258" r:id="rId9"/>
    <p:sldId id="259" r:id="rId10"/>
    <p:sldId id="260" r:id="rId11"/>
    <p:sldId id="261" r:id="rId12"/>
    <p:sldId id="262" r:id="rId13"/>
    <p:sldId id="263" r:id="rId14"/>
    <p:sldId id="264" r:id="rId15"/>
    <p:sldId id="265" r:id="rId16"/>
    <p:sldId id="266" r:id="rId17"/>
    <p:sldId id="267" r:id="rId18"/>
    <p:sldId id="268" r:id="rId19"/>
    <p:sldId id="269" r:id="rId20"/>
    <p:sldId id="270" r:id="rId21"/>
    <p:sldId id="271" r:id="rId22"/>
    <p:sldId id="272" r:id="rId23"/>
    <p:sldId id="273" r:id="rId24"/>
    <p:sldId id="274" r:id="rId25"/>
    <p:sldId id="275" r:id="rId26"/>
    <p:sldId id="276" r:id="rId27"/>
    <p:sldId id="277" r:id="rId28"/>
    <p:sldId id="278" r:id="rId29"/>
    <p:sldId id="279" r:id="rId30"/>
    <p:sldId id="280" r:id="rId31"/>
    <p:sldId id="281" r:id="rId32"/>
    <p:sldId id="282" r:id="rId33"/>
    <p:sldId id="283" r:id="rId34"/>
    <p:sldId id="284" r:id="rId35"/>
    <p:sldId id="285" r:id="rId36"/>
    <p:sldId id="286" r:id="rId37"/>
    <p:sldId id="287" r:id="rId38"/>
    <p:sldId id="288" r:id="rId39"/>
    <p:sldId id="289" r:id="rId40"/>
    <p:sldId id="290" r:id="rId41"/>
    <p:sldId id="291" r:id="rId42"/>
    <p:sldId id="292" r:id="rId43"/>
    <p:sldId id="293" r:id="rId44"/>
    <p:sldId id="294" r:id="rId45"/>
    <p:sldId id="295" r:id="rId46"/>
    <p:sldId id="296" r:id="rId47"/>
    <p:sldId id="297" r:id="rId48"/>
    <p:sldId id="298" r:id="rId49"/>
    <p:sldId id="299" r:id="rId50"/>
    <p:sldId id="300" r:id="rId51"/>
    <p:sldId id="301" r:id="rId52"/>
    <p:sldId id="302" r:id="rId53"/>
    <p:sldId id="303" r:id="rId54"/>
    <p:sldId id="304" r:id="rId55"/>
    <p:sldId id="305" r:id="rId56"/>
    <p:sldId id="306" r:id="rId57"/>
    <p:sldId id="307" r:id="rId58"/>
    <p:sldId id="308" r:id="rId59"/>
    <p:sldId id="309" r:id="rId60"/>
    <p:sldId id="310" r:id="rId61"/>
    <p:sldId id="311" r:id="rId62"/>
    <p:sldId id="312" r:id="rId63"/>
    <p:sldId id="313" r:id="rId64"/>
    <p:sldId id="314" r:id="rId65"/>
    <p:sldId id="315" r:id="rId66"/>
    <p:sldId id="316" r:id="rId67"/>
  </p:sldIdLst>
  <p:sldSz cx="12191695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Relationship Id="rId8" Type="http://schemas.openxmlformats.org/officeDocument/2006/relationships/slide" Target="slides/slide2.xml"/><Relationship Id="rId9" Type="http://schemas.openxmlformats.org/officeDocument/2006/relationships/slide" Target="slides/slide3.xml"/><Relationship Id="rId10" Type="http://schemas.openxmlformats.org/officeDocument/2006/relationships/slide" Target="slides/slide4.xml"/><Relationship Id="rId11" Type="http://schemas.openxmlformats.org/officeDocument/2006/relationships/slide" Target="slides/slide5.xml"/><Relationship Id="rId12" Type="http://schemas.openxmlformats.org/officeDocument/2006/relationships/slide" Target="slides/slide6.xml"/><Relationship Id="rId13" Type="http://schemas.openxmlformats.org/officeDocument/2006/relationships/slide" Target="slides/slide7.xml"/><Relationship Id="rId14" Type="http://schemas.openxmlformats.org/officeDocument/2006/relationships/slide" Target="slides/slide8.xml"/><Relationship Id="rId15" Type="http://schemas.openxmlformats.org/officeDocument/2006/relationships/slide" Target="slides/slide9.xml"/><Relationship Id="rId16" Type="http://schemas.openxmlformats.org/officeDocument/2006/relationships/slide" Target="slides/slide10.xml"/><Relationship Id="rId17" Type="http://schemas.openxmlformats.org/officeDocument/2006/relationships/slide" Target="slides/slide11.xml"/><Relationship Id="rId18" Type="http://schemas.openxmlformats.org/officeDocument/2006/relationships/slide" Target="slides/slide12.xml"/><Relationship Id="rId19" Type="http://schemas.openxmlformats.org/officeDocument/2006/relationships/slide" Target="slides/slide13.xml"/><Relationship Id="rId20" Type="http://schemas.openxmlformats.org/officeDocument/2006/relationships/slide" Target="slides/slide14.xml"/><Relationship Id="rId21" Type="http://schemas.openxmlformats.org/officeDocument/2006/relationships/slide" Target="slides/slide15.xml"/><Relationship Id="rId22" Type="http://schemas.openxmlformats.org/officeDocument/2006/relationships/slide" Target="slides/slide16.xml"/><Relationship Id="rId23" Type="http://schemas.openxmlformats.org/officeDocument/2006/relationships/slide" Target="slides/slide17.xml"/><Relationship Id="rId24" Type="http://schemas.openxmlformats.org/officeDocument/2006/relationships/slide" Target="slides/slide18.xml"/><Relationship Id="rId25" Type="http://schemas.openxmlformats.org/officeDocument/2006/relationships/slide" Target="slides/slide19.xml"/><Relationship Id="rId26" Type="http://schemas.openxmlformats.org/officeDocument/2006/relationships/slide" Target="slides/slide20.xml"/><Relationship Id="rId27" Type="http://schemas.openxmlformats.org/officeDocument/2006/relationships/slide" Target="slides/slide21.xml"/><Relationship Id="rId28" Type="http://schemas.openxmlformats.org/officeDocument/2006/relationships/slide" Target="slides/slide22.xml"/><Relationship Id="rId29" Type="http://schemas.openxmlformats.org/officeDocument/2006/relationships/slide" Target="slides/slide23.xml"/><Relationship Id="rId30" Type="http://schemas.openxmlformats.org/officeDocument/2006/relationships/slide" Target="slides/slide24.xml"/><Relationship Id="rId31" Type="http://schemas.openxmlformats.org/officeDocument/2006/relationships/slide" Target="slides/slide25.xml"/><Relationship Id="rId32" Type="http://schemas.openxmlformats.org/officeDocument/2006/relationships/slide" Target="slides/slide26.xml"/><Relationship Id="rId33" Type="http://schemas.openxmlformats.org/officeDocument/2006/relationships/slide" Target="slides/slide27.xml"/><Relationship Id="rId34" Type="http://schemas.openxmlformats.org/officeDocument/2006/relationships/slide" Target="slides/slide28.xml"/><Relationship Id="rId35" Type="http://schemas.openxmlformats.org/officeDocument/2006/relationships/slide" Target="slides/slide29.xml"/><Relationship Id="rId36" Type="http://schemas.openxmlformats.org/officeDocument/2006/relationships/slide" Target="slides/slide30.xml"/><Relationship Id="rId37" Type="http://schemas.openxmlformats.org/officeDocument/2006/relationships/slide" Target="slides/slide31.xml"/><Relationship Id="rId38" Type="http://schemas.openxmlformats.org/officeDocument/2006/relationships/slide" Target="slides/slide32.xml"/><Relationship Id="rId39" Type="http://schemas.openxmlformats.org/officeDocument/2006/relationships/slide" Target="slides/slide33.xml"/><Relationship Id="rId40" Type="http://schemas.openxmlformats.org/officeDocument/2006/relationships/slide" Target="slides/slide34.xml"/><Relationship Id="rId41" Type="http://schemas.openxmlformats.org/officeDocument/2006/relationships/slide" Target="slides/slide35.xml"/><Relationship Id="rId42" Type="http://schemas.openxmlformats.org/officeDocument/2006/relationships/slide" Target="slides/slide36.xml"/><Relationship Id="rId43" Type="http://schemas.openxmlformats.org/officeDocument/2006/relationships/slide" Target="slides/slide37.xml"/><Relationship Id="rId44" Type="http://schemas.openxmlformats.org/officeDocument/2006/relationships/slide" Target="slides/slide38.xml"/><Relationship Id="rId45" Type="http://schemas.openxmlformats.org/officeDocument/2006/relationships/slide" Target="slides/slide39.xml"/><Relationship Id="rId46" Type="http://schemas.openxmlformats.org/officeDocument/2006/relationships/slide" Target="slides/slide40.xml"/><Relationship Id="rId47" Type="http://schemas.openxmlformats.org/officeDocument/2006/relationships/slide" Target="slides/slide41.xml"/><Relationship Id="rId48" Type="http://schemas.openxmlformats.org/officeDocument/2006/relationships/slide" Target="slides/slide42.xml"/><Relationship Id="rId49" Type="http://schemas.openxmlformats.org/officeDocument/2006/relationships/slide" Target="slides/slide43.xml"/><Relationship Id="rId50" Type="http://schemas.openxmlformats.org/officeDocument/2006/relationships/slide" Target="slides/slide44.xml"/><Relationship Id="rId51" Type="http://schemas.openxmlformats.org/officeDocument/2006/relationships/slide" Target="slides/slide45.xml"/><Relationship Id="rId52" Type="http://schemas.openxmlformats.org/officeDocument/2006/relationships/slide" Target="slides/slide46.xml"/><Relationship Id="rId53" Type="http://schemas.openxmlformats.org/officeDocument/2006/relationships/slide" Target="slides/slide47.xml"/><Relationship Id="rId54" Type="http://schemas.openxmlformats.org/officeDocument/2006/relationships/slide" Target="slides/slide48.xml"/><Relationship Id="rId55" Type="http://schemas.openxmlformats.org/officeDocument/2006/relationships/slide" Target="slides/slide49.xml"/><Relationship Id="rId56" Type="http://schemas.openxmlformats.org/officeDocument/2006/relationships/slide" Target="slides/slide50.xml"/><Relationship Id="rId57" Type="http://schemas.openxmlformats.org/officeDocument/2006/relationships/slide" Target="slides/slide51.xml"/><Relationship Id="rId58" Type="http://schemas.openxmlformats.org/officeDocument/2006/relationships/slide" Target="slides/slide52.xml"/><Relationship Id="rId59" Type="http://schemas.openxmlformats.org/officeDocument/2006/relationships/slide" Target="slides/slide53.xml"/><Relationship Id="rId60" Type="http://schemas.openxmlformats.org/officeDocument/2006/relationships/slide" Target="slides/slide54.xml"/><Relationship Id="rId61" Type="http://schemas.openxmlformats.org/officeDocument/2006/relationships/slide" Target="slides/slide55.xml"/><Relationship Id="rId62" Type="http://schemas.openxmlformats.org/officeDocument/2006/relationships/slide" Target="slides/slide56.xml"/><Relationship Id="rId63" Type="http://schemas.openxmlformats.org/officeDocument/2006/relationships/slide" Target="slides/slide57.xml"/><Relationship Id="rId64" Type="http://schemas.openxmlformats.org/officeDocument/2006/relationships/slide" Target="slides/slide58.xml"/><Relationship Id="rId65" Type="http://schemas.openxmlformats.org/officeDocument/2006/relationships/slide" Target="slides/slide59.xml"/><Relationship Id="rId66" Type="http://schemas.openxmlformats.org/officeDocument/2006/relationships/slide" Target="slides/slide60.xml"/><Relationship Id="rId67" Type="http://schemas.openxmlformats.org/officeDocument/2006/relationships/slide" Target="slides/slide61.xml"/></Relationship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9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0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.png"/></Relationships>
</file>

<file path=ppt/slides/_rels/slide1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9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0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9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30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3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3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3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3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3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3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3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3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39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40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4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4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4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4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4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4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4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4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49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50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2.png"/></Relationships>
</file>

<file path=ppt/slides/_rels/slide5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5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5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5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5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hyperlink" Target="https://www.meta.com/help/quest/172903867975450/" TargetMode="External"/><Relationship Id="rId3" Type="http://schemas.openxmlformats.org/officeDocument/2006/relationships/hyperlink" Target="https://registry.khronos.org/OpenXR/specs/1.1/html/xrspec.html#XR_EXT_hand_tracking" TargetMode="External"/><Relationship Id="rId4" Type="http://schemas.openxmlformats.org/officeDocument/2006/relationships/hyperlink" Target="https://arxiv.org/pdf/2211.00099" TargetMode="External"/><Relationship Id="rId5" Type="http://schemas.openxmlformats.org/officeDocument/2006/relationships/hyperlink" Target="https://pmc.ncbi.nlm.nih.gov/articles/PMC11909279/" TargetMode="External"/><Relationship Id="rId6" Type="http://schemas.openxmlformats.org/officeDocument/2006/relationships/hyperlink" Target="https://en.wikipedia.org/wiki/Simpson%27s_paradox" TargetMode="External"/><Relationship Id="rId7" Type="http://schemas.openxmlformats.org/officeDocument/2006/relationships/hyperlink" Target="https://www.totaljobs.com/job/data-scientist-product-analytics/meta-job107936998" TargetMode="External"/><Relationship Id="rId8" Type="http://schemas.openxmlformats.org/officeDocument/2006/relationships/hyperlink" Target="https://www.tealhq.com/job/data-engineer-analytics_7ea1aaa1fb3a89d80deaef83512cfb1b4309e" TargetMode="External"/><Relationship Id="rId9" Type="http://schemas.openxmlformats.org/officeDocument/2006/relationships/hyperlink" Target="https://igotanoffer.com/blogs/tech/facebook-data-scientist-interview" TargetMode="External"/><Relationship Id="rId10" Type="http://schemas.openxmlformats.org/officeDocument/2006/relationships/hyperlink" Target="https://engineering.fb.com/2024/08/27/security/privacy-aware-infrastructure-purpose-limitation-meta/" TargetMode="External"/><Relationship Id="rId11" Type="http://schemas.openxmlformats.org/officeDocument/2006/relationships/hyperlink" Target="https://www.privacysecurityacademy.com/wp-content/uploads/2022/06/Handout-Foundations-and-Themes-OECD-Privacy-Guidelines-02.pdf" TargetMode="External"/></Relationships>
</file>

<file path=ppt/slides/_rels/slide5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5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5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59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60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6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731520" y="457200"/>
            <a:ext cx="10698480" cy="5486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l">
              <a:lnSpc>
                <a:spcPct val="115000"/>
              </a:lnSpc>
              <a:spcAft>
                <a:spcPts val="800"/>
              </a:spcAft>
              <a:defRPr sz="1800" b="1">
                <a:solidFill>
                  <a:srgbClr val="0064E0"/>
                </a:solidFill>
              </a:defRPr>
            </a:pPr>
            <a:r>
              <a:t>DISC x META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731520" y="1097280"/>
            <a:ext cx="10698480" cy="201168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l">
              <a:lnSpc>
                <a:spcPct val="115000"/>
              </a:lnSpc>
              <a:spcAft>
                <a:spcPts val="800"/>
              </a:spcAft>
              <a:defRPr sz="4400" b="1">
                <a:solidFill>
                  <a:srgbClr val="1C1E21"/>
                </a:solidFill>
              </a:defRPr>
            </a:pPr>
            <a:r>
              <a:t>Fake data, real questions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731520" y="2834640"/>
            <a:ext cx="10698480" cy="14630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l">
              <a:lnSpc>
                <a:spcPct val="115000"/>
              </a:lnSpc>
              <a:spcAft>
                <a:spcPts val="800"/>
              </a:spcAft>
              <a:defRPr sz="2400" b="0">
                <a:solidFill>
                  <a:srgbClr val="656B74"/>
                </a:solidFill>
              </a:defRPr>
            </a:pPr>
            <a:r>
              <a:t>What data science looks like from inside Meta</a:t>
            </a:r>
            <a:br/>
            <a:r>
              <a:t>Greg Vannoni, Software Engineer, Meta Reality Labs  |  DISC, October 1, 2026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457200" y="6446520"/>
            <a:ext cx="11274552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>
              <a:defRPr sz="1000">
                <a:solidFill>
                  <a:srgbClr val="656B74"/>
                </a:solidFill>
              </a:defRPr>
            </a:pPr>
            <a:r>
              <a:t>DISC x Meta - Oct 1, 2026  |  Fake data, real questions</a:t>
            </a: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731520" y="457200"/>
            <a:ext cx="10698480" cy="109728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l">
              <a:lnSpc>
                <a:spcPct val="115000"/>
              </a:lnSpc>
              <a:spcAft>
                <a:spcPts val="800"/>
              </a:spcAft>
              <a:defRPr sz="3200" b="1">
                <a:solidFill>
                  <a:srgbClr val="1C1E21"/>
                </a:solidFill>
              </a:defRPr>
            </a:pPr>
            <a:r>
              <a:t>hi I'm Greg 👈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731520" y="1508760"/>
            <a:ext cx="10698480" cy="48006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lnSpc>
                <a:spcPct val="120000"/>
              </a:lnSpc>
              <a:spcAft>
                <a:spcPts val="1000"/>
              </a:spcAft>
            </a:pPr>
            <a:r>
              <a:rPr sz="2000" b="1">
                <a:solidFill>
                  <a:srgbClr val="1C1E21"/>
                </a:solidFill>
              </a:rPr>
              <a:t>LinkedIn: </a:t>
            </a:r>
            <a:r>
              <a:rPr sz="2000">
                <a:solidFill>
                  <a:srgbClr val="1C1E21"/>
                </a:solidFill>
              </a:rPr>
              <a:t>[ADD YOUR LINKEDIN URL]</a:t>
            </a:r>
          </a:p>
          <a:p>
            <a:pPr>
              <a:lnSpc>
                <a:spcPct val="120000"/>
              </a:lnSpc>
              <a:spcAft>
                <a:spcPts val="1000"/>
              </a:spcAft>
            </a:pPr>
            <a:r>
              <a:rPr sz="2000" b="1">
                <a:solidFill>
                  <a:srgbClr val="1C1E21"/>
                </a:solidFill>
              </a:rPr>
              <a:t>Day job: </a:t>
            </a:r>
            <a:r>
              <a:rPr sz="2000">
                <a:solidFill>
                  <a:srgbClr val="1C1E21"/>
                </a:solidFill>
              </a:rPr>
              <a:t>Software engineer at Meta Reality Labs</a:t>
            </a:r>
          </a:p>
          <a:p>
            <a:pPr>
              <a:lnSpc>
                <a:spcPct val="120000"/>
              </a:lnSpc>
              <a:spcAft>
                <a:spcPts val="1000"/>
              </a:spcAft>
            </a:pPr>
            <a:r>
              <a:rPr sz="2000" b="1">
                <a:solidFill>
                  <a:srgbClr val="1C1E21"/>
                </a:solidFill>
              </a:rPr>
              <a:t>DISC connection: </a:t>
            </a:r>
            <a:r>
              <a:rPr sz="2000">
                <a:solidFill>
                  <a:srgbClr val="1C1E21"/>
                </a:solidFill>
              </a:rPr>
              <a:t>I was here in January talking product thinking without coding. Tonight, we code.</a:t>
            </a:r>
          </a:p>
          <a:p>
            <a:pPr>
              <a:lnSpc>
                <a:spcPct val="120000"/>
              </a:lnSpc>
              <a:spcAft>
                <a:spcPts val="1000"/>
              </a:spcAft>
            </a:pPr>
            <a:r>
              <a:rPr sz="2000" b="1">
                <a:solidFill>
                  <a:srgbClr val="1C1E21"/>
                </a:solidFill>
              </a:rPr>
              <a:t>Today: </a:t>
            </a:r>
            <a:r>
              <a:rPr sz="2000">
                <a:solidFill>
                  <a:srgbClr val="1C1E21"/>
                </a:solidFill>
              </a:rPr>
              <a:t>no recruiting pitch. Just how the work actually gets done.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457200" y="6446520"/>
            <a:ext cx="11274552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>
              <a:defRPr sz="1000">
                <a:solidFill>
                  <a:srgbClr val="656B74"/>
                </a:solidFill>
              </a:defRPr>
            </a:pPr>
            <a:r>
              <a:t>DISC x Meta - Oct 1, 2026  |  Fake data, real questions</a:t>
            </a: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731520" y="457200"/>
            <a:ext cx="10698480" cy="109728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l">
              <a:lnSpc>
                <a:spcPct val="115000"/>
              </a:lnSpc>
              <a:spcAft>
                <a:spcPts val="800"/>
              </a:spcAft>
              <a:defRPr sz="3200" b="1">
                <a:solidFill>
                  <a:srgbClr val="1C1E21"/>
                </a:solidFill>
              </a:defRPr>
            </a:pPr>
            <a:r>
              <a:t>One disclaimer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731520" y="1508760"/>
            <a:ext cx="10698480" cy="48006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lnSpc>
                <a:spcPct val="115000"/>
              </a:lnSpc>
              <a:spcAft>
                <a:spcPts val="800"/>
              </a:spcAft>
              <a:defRPr sz="2000" b="0">
                <a:solidFill>
                  <a:srgbClr val="1C1E21"/>
                </a:solidFill>
              </a:defRPr>
            </a:pPr>
            <a:r>
              <a:t>•  Everything I say is my own opinion.</a:t>
            </a:r>
          </a:p>
          <a:p>
            <a:pPr algn="l">
              <a:lnSpc>
                <a:spcPct val="115000"/>
              </a:lnSpc>
              <a:spcAft>
                <a:spcPts val="800"/>
              </a:spcAft>
              <a:defRPr sz="2000" b="0">
                <a:solidFill>
                  <a:srgbClr val="1C1E21"/>
                </a:solidFill>
              </a:defRPr>
            </a:pPr>
            <a:r>
              <a:t>•  Not Meta's. Not DISC's. Mine.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457200" y="6446520"/>
            <a:ext cx="11274552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>
              <a:defRPr sz="1000">
                <a:solidFill>
                  <a:srgbClr val="656B74"/>
                </a:solidFill>
              </a:defRPr>
            </a:pPr>
            <a:r>
              <a:t>DISC x Meta - Oct 1, 2026  |  Fake data, real questions</a:t>
            </a: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731520" y="457200"/>
            <a:ext cx="10698480" cy="109728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l">
              <a:lnSpc>
                <a:spcPct val="115000"/>
              </a:lnSpc>
              <a:spcAft>
                <a:spcPts val="800"/>
              </a:spcAft>
              <a:defRPr sz="3200" b="1">
                <a:solidFill>
                  <a:srgbClr val="1C1E21"/>
                </a:solidFill>
              </a:defRPr>
            </a:pPr>
            <a:r>
              <a:t>Agenda: one hour, hands on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731520" y="1508760"/>
            <a:ext cx="10698480" cy="48006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lnSpc>
                <a:spcPct val="120000"/>
              </a:lnSpc>
              <a:spcAft>
                <a:spcPts val="1000"/>
              </a:spcAft>
            </a:pPr>
            <a:r>
              <a:rPr sz="2000" b="1">
                <a:solidFill>
                  <a:srgbClr val="1C1E21"/>
                </a:solidFill>
              </a:rPr>
              <a:t>Act 1: </a:t>
            </a:r>
            <a:r>
              <a:rPr sz="2000">
                <a:solidFill>
                  <a:srgbClr val="1C1E21"/>
                </a:solidFill>
              </a:rPr>
              <a:t>What a data scientist actually does at Meta (10 min)</a:t>
            </a:r>
          </a:p>
          <a:p>
            <a:pPr>
              <a:lnSpc>
                <a:spcPct val="120000"/>
              </a:lnSpc>
              <a:spcAft>
                <a:spcPts val="1000"/>
              </a:spcAft>
            </a:pPr>
            <a:r>
              <a:rPr sz="2000" b="1">
                <a:solidFill>
                  <a:srgbClr val="1C1E21"/>
                </a:solidFill>
              </a:rPr>
              <a:t>Act 2: </a:t>
            </a:r>
            <a:r>
              <a:rPr sz="2000">
                <a:solidFill>
                  <a:srgbClr val="1C1E21"/>
                </a:solidFill>
              </a:rPr>
              <a:t>LIVE: one case study, on your laptops (20 min)</a:t>
            </a:r>
          </a:p>
          <a:p>
            <a:pPr>
              <a:lnSpc>
                <a:spcPct val="120000"/>
              </a:lnSpc>
              <a:spcAft>
                <a:spcPts val="1000"/>
              </a:spcAft>
            </a:pPr>
            <a:r>
              <a:rPr sz="2000" b="1">
                <a:solidFill>
                  <a:srgbClr val="1C1E21"/>
                </a:solidFill>
              </a:rPr>
              <a:t>Act 3: </a:t>
            </a:r>
            <a:r>
              <a:rPr sz="2000">
                <a:solidFill>
                  <a:srgbClr val="1C1E21"/>
                </a:solidFill>
              </a:rPr>
              <a:t>Mock interview questions, Meta style (20 min)</a:t>
            </a:r>
          </a:p>
          <a:p>
            <a:pPr>
              <a:lnSpc>
                <a:spcPct val="120000"/>
              </a:lnSpc>
              <a:spcAft>
                <a:spcPts val="1000"/>
              </a:spcAft>
            </a:pPr>
            <a:r>
              <a:rPr sz="2000" b="1">
                <a:solidFill>
                  <a:srgbClr val="1C1E21"/>
                </a:solidFill>
              </a:rPr>
              <a:t>Take home: </a:t>
            </a:r>
            <a:r>
              <a:rPr sz="2000">
                <a:solidFill>
                  <a:srgbClr val="1C1E21"/>
                </a:solidFill>
              </a:rPr>
              <a:t>two more case studies with answer keys, in the appendix</a:t>
            </a:r>
          </a:p>
          <a:p>
            <a:pPr algn="l">
              <a:lnSpc>
                <a:spcPct val="115000"/>
              </a:lnSpc>
              <a:spcAft>
                <a:spcPts val="800"/>
              </a:spcAft>
              <a:defRPr sz="2000" b="0">
                <a:solidFill>
                  <a:srgbClr val="1C1E21"/>
                </a:solidFill>
              </a:defRPr>
            </a:pPr>
            <a:r>
              <a:t>•  Everything is synthetic and seeded. The methods are real, and the questions are the ones we ask at work.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457200" y="6446520"/>
            <a:ext cx="11274552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>
              <a:defRPr sz="1000">
                <a:solidFill>
                  <a:srgbClr val="656B74"/>
                </a:solidFill>
              </a:defRPr>
            </a:pPr>
            <a:r>
              <a:t>DISC x Meta - Oct 1, 2026  |  Fake data, real questions</a:t>
            </a:r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731520" y="457200"/>
            <a:ext cx="10698480" cy="109728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l">
              <a:lnSpc>
                <a:spcPct val="115000"/>
              </a:lnSpc>
              <a:spcAft>
                <a:spcPts val="800"/>
              </a:spcAft>
              <a:defRPr sz="3200" b="1">
                <a:solidFill>
                  <a:srgbClr val="1C1E21"/>
                </a:solidFill>
              </a:defRPr>
            </a:pPr>
            <a:r>
              <a:t>Quick poll 🙋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731520" y="1508760"/>
            <a:ext cx="10698480" cy="48006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lnSpc>
                <a:spcPct val="115000"/>
              </a:lnSpc>
              <a:spcAft>
                <a:spcPts val="800"/>
              </a:spcAft>
              <a:defRPr sz="2000" b="0">
                <a:solidFill>
                  <a:srgbClr val="1C1E21"/>
                </a:solidFill>
              </a:defRPr>
            </a:pPr>
            <a:r>
              <a:t>•  Who is a CIS major? Business Data Analytics?</a:t>
            </a:r>
          </a:p>
          <a:p>
            <a:pPr algn="l">
              <a:lnSpc>
                <a:spcPct val="115000"/>
              </a:lnSpc>
              <a:spcAft>
                <a:spcPts val="800"/>
              </a:spcAft>
              <a:defRPr sz="2000" b="0">
                <a:solidFill>
                  <a:srgbClr val="1C1E21"/>
                </a:solidFill>
              </a:defRPr>
            </a:pPr>
            <a:r>
              <a:t>•  Who has been to a DISC Power BI workshop?</a:t>
            </a:r>
          </a:p>
          <a:p>
            <a:pPr algn="l">
              <a:lnSpc>
                <a:spcPct val="115000"/>
              </a:lnSpc>
              <a:spcAft>
                <a:spcPts val="800"/>
              </a:spcAft>
              <a:defRPr sz="2000" b="0">
                <a:solidFill>
                  <a:srgbClr val="1C1E21"/>
                </a:solidFill>
              </a:defRPr>
            </a:pPr>
            <a:r>
              <a:t>•  Who wants an analytics or data job after graduation?</a:t>
            </a:r>
          </a:p>
          <a:p>
            <a:pPr algn="l">
              <a:lnSpc>
                <a:spcPct val="115000"/>
              </a:lnSpc>
              <a:spcAft>
                <a:spcPts val="800"/>
              </a:spcAft>
              <a:defRPr sz="2000" b="0">
                <a:solidFill>
                  <a:srgbClr val="1C1E21"/>
                </a:solidFill>
              </a:defRPr>
            </a:pPr>
            <a:r>
              <a:t>•  Who thinks finding that job will be easy?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457200" y="6446520"/>
            <a:ext cx="11274552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>
              <a:defRPr sz="1000">
                <a:solidFill>
                  <a:srgbClr val="656B74"/>
                </a:solidFill>
              </a:defRPr>
            </a:pPr>
            <a:r>
              <a:t>DISC x Meta - Oct 1, 2026  |  Fake data, real questions</a:t>
            </a:r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141A2E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731520" y="2011680"/>
            <a:ext cx="10698480" cy="14630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l">
              <a:lnSpc>
                <a:spcPct val="115000"/>
              </a:lnSpc>
              <a:spcAft>
                <a:spcPts val="800"/>
              </a:spcAft>
              <a:defRPr sz="4400" b="1">
                <a:solidFill>
                  <a:srgbClr val="FFFFFF"/>
                </a:solidFill>
              </a:defRPr>
            </a:pPr>
            <a:r>
              <a:t>Act 1 📊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731520" y="3291840"/>
            <a:ext cx="10698480" cy="12801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l">
              <a:lnSpc>
                <a:spcPct val="115000"/>
              </a:lnSpc>
              <a:spcAft>
                <a:spcPts val="800"/>
              </a:spcAft>
              <a:defRPr sz="2200" b="0">
                <a:solidFill>
                  <a:srgbClr val="B0B8C9"/>
                </a:solidFill>
              </a:defRPr>
            </a:pPr>
            <a:r>
              <a:t>What a data scientist does at Meta</a:t>
            </a:r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731520" y="457200"/>
            <a:ext cx="10698480" cy="109728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l">
              <a:lnSpc>
                <a:spcPct val="115000"/>
              </a:lnSpc>
              <a:spcAft>
                <a:spcPts val="800"/>
              </a:spcAft>
              <a:defRPr sz="3200" b="1">
                <a:solidFill>
                  <a:srgbClr val="1C1E21"/>
                </a:solidFill>
              </a:defRPr>
            </a:pPr>
            <a:r>
              <a:t>Good to be back 👋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731520" y="1508760"/>
            <a:ext cx="10698480" cy="48006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lnSpc>
                <a:spcPct val="115000"/>
              </a:lnSpc>
              <a:spcAft>
                <a:spcPts val="800"/>
              </a:spcAft>
              <a:defRPr sz="2000" b="0">
                <a:solidFill>
                  <a:srgbClr val="1C1E21"/>
                </a:solidFill>
              </a:defRPr>
            </a:pPr>
            <a:r>
              <a:t>•  I was here in January talking product thinking. Honored you invited me back.</a:t>
            </a:r>
          </a:p>
          <a:p>
            <a:pPr algn="l">
              <a:lnSpc>
                <a:spcPct val="115000"/>
              </a:lnSpc>
              <a:spcAft>
                <a:spcPts val="800"/>
              </a:spcAft>
              <a:defRPr sz="2000" b="0">
                <a:solidFill>
                  <a:srgbClr val="1C1E21"/>
                </a:solidFill>
              </a:defRPr>
            </a:pPr>
            <a:r>
              <a:t>•  DISC: the W.P. Carey IS club, where tech meets business. BDA, CIS, and AI in Business, Thursdays at 6, like tonight.</a:t>
            </a:r>
          </a:p>
          <a:p>
            <a:pPr algn="l">
              <a:lnSpc>
                <a:spcPct val="115000"/>
              </a:lnSpc>
              <a:spcAft>
                <a:spcPts val="800"/>
              </a:spcAft>
              <a:defRPr sz="2000" b="0">
                <a:solidFill>
                  <a:srgbClr val="1C1E21"/>
                </a:solidFill>
              </a:defRPr>
            </a:pPr>
            <a:r>
              <a:t>•  Free community computing classes, Power BI workshops, resume reviews with State Farm's analytics team. You all do the real work.</a:t>
            </a:r>
          </a:p>
          <a:p>
            <a:pPr algn="l">
              <a:lnSpc>
                <a:spcPct val="115000"/>
              </a:lnSpc>
              <a:spcAft>
                <a:spcPts val="800"/>
              </a:spcAft>
              <a:defRPr sz="2000" b="0">
                <a:solidFill>
                  <a:srgbClr val="1C1E21"/>
                </a:solidFill>
              </a:defRPr>
            </a:pPr>
            <a:r>
              <a:t>•  2024-25 Outstanding Professional Development Award, 2nd place nationally in cybersecurity and risk analysis. Genuinely impressive.</a:t>
            </a:r>
          </a:p>
          <a:p>
            <a:pPr algn="l">
              <a:lnSpc>
                <a:spcPct val="115000"/>
              </a:lnSpc>
              <a:spcAft>
                <a:spcPts val="800"/>
              </a:spcAft>
              <a:defRPr sz="2000" b="0">
                <a:solidFill>
                  <a:srgbClr val="1C1E21"/>
                </a:solidFill>
              </a:defRPr>
            </a:pPr>
            <a:r>
              <a:t>•  Tonight is my small contribution: the DS version of what you already do. Laptops open.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457200" y="6446520"/>
            <a:ext cx="11274552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>
              <a:defRPr sz="1000">
                <a:solidFill>
                  <a:srgbClr val="656B74"/>
                </a:solidFill>
              </a:defRPr>
            </a:pPr>
            <a:r>
              <a:t>DISC x Meta - Oct 1, 2026  |  Fake data, real questions</a:t>
            </a:r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731520" y="457200"/>
            <a:ext cx="10698480" cy="109728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l">
              <a:lnSpc>
                <a:spcPct val="115000"/>
              </a:lnSpc>
              <a:spcAft>
                <a:spcPts val="800"/>
              </a:spcAft>
              <a:defRPr sz="3200" b="1">
                <a:solidFill>
                  <a:srgbClr val="1C1E21"/>
                </a:solidFill>
              </a:defRPr>
            </a:pPr>
            <a:r>
              <a:t>What does a data scientist do at Meta?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731520" y="1508760"/>
            <a:ext cx="10698480" cy="48006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lnSpc>
                <a:spcPct val="120000"/>
              </a:lnSpc>
              <a:spcAft>
                <a:spcPts val="1000"/>
              </a:spcAft>
            </a:pPr>
            <a:r>
              <a:rPr sz="2000" b="1">
                <a:solidFill>
                  <a:srgbClr val="1C1E21"/>
                </a:solidFill>
              </a:rPr>
              <a:t>Caveat first: </a:t>
            </a:r>
            <a:r>
              <a:rPr sz="2000">
                <a:solidFill>
                  <a:srgbClr val="1C1E21"/>
                </a:solidFill>
              </a:rPr>
              <a:t>I have been a software engineer and a manager at Meta, never a data scientist or data engineer. So this slide comes from their actual job postings, linked in the appendix, not from my experience.</a:t>
            </a:r>
          </a:p>
          <a:p>
            <a:pPr>
              <a:lnSpc>
                <a:spcPct val="120000"/>
              </a:lnSpc>
              <a:spcAft>
                <a:spcPts val="1000"/>
              </a:spcAft>
            </a:pPr>
            <a:r>
              <a:rPr sz="2000" b="1">
                <a:solidFill>
                  <a:srgbClr val="1C1E21"/>
                </a:solidFill>
              </a:rPr>
              <a:t>The job, from the posting: </a:t>
            </a:r>
            <a:r>
              <a:rPr sz="2000">
                <a:solidFill>
                  <a:srgbClr val="1C1E21"/>
                </a:solidFill>
              </a:rPr>
              <a:t>set KPIs and goals, design and evaluate experiments, monitor key product metrics, and find the root cause when a metric moves.</a:t>
            </a:r>
          </a:p>
          <a:p>
            <a:pPr>
              <a:lnSpc>
                <a:spcPct val="120000"/>
              </a:lnSpc>
              <a:spcAft>
                <a:spcPts val="1000"/>
              </a:spcAft>
            </a:pPr>
            <a:r>
              <a:rPr sz="2000" b="1">
                <a:solidFill>
                  <a:srgbClr val="1C1E21"/>
                </a:solidFill>
              </a:rPr>
              <a:t>Investment advice: </a:t>
            </a:r>
            <a:r>
              <a:rPr sz="2000">
                <a:solidFill>
                  <a:srgbClr val="1C1E21"/>
                </a:solidFill>
              </a:rPr>
              <a:t>the posting literally says "inform, influence, support, and execute product strategy and investment decisions." ROI analysis lives here.</a:t>
            </a:r>
          </a:p>
          <a:p>
            <a:pPr>
              <a:lnSpc>
                <a:spcPct val="120000"/>
              </a:lnSpc>
              <a:spcAft>
                <a:spcPts val="1000"/>
              </a:spcAft>
            </a:pPr>
            <a:r>
              <a:rPr sz="2000" b="1">
                <a:solidFill>
                  <a:srgbClr val="1C1E21"/>
                </a:solidFill>
              </a:rPr>
              <a:t>Reality check: </a:t>
            </a:r>
            <a:r>
              <a:rPr sz="2000">
                <a:solidFill>
                  <a:srgbClr val="1C1E21"/>
                </a:solidFill>
              </a:rPr>
              <a:t>most days are SQL and metric definitions, not model training.</a:t>
            </a:r>
          </a:p>
          <a:p>
            <a:pPr>
              <a:lnSpc>
                <a:spcPct val="120000"/>
              </a:lnSpc>
              <a:spcAft>
                <a:spcPts val="1000"/>
              </a:spcAft>
            </a:pPr>
            <a:r>
              <a:rPr sz="2000" b="1">
                <a:solidFill>
                  <a:srgbClr val="1C1E21"/>
                </a:solidFill>
              </a:rPr>
              <a:t>Why guardrails exist: </a:t>
            </a:r>
            <a:r>
              <a:rPr sz="2000">
                <a:solidFill>
                  <a:srgbClr val="1C1E21"/>
                </a:solidFill>
              </a:rPr>
              <a:t>a single metric gets gamed. The cobra bounty bred more cobras; the bag rules moved the problem instead of solving it. Balanced goals exist because Goodhart's law is real: when a measure becomes a target, it stops being a good measure.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457200" y="6446520"/>
            <a:ext cx="11274552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>
              <a:defRPr sz="1000">
                <a:solidFill>
                  <a:srgbClr val="656B74"/>
                </a:solidFill>
              </a:defRPr>
            </a:pPr>
            <a:r>
              <a:t>DISC x Meta - Oct 1, 2026  |  Fake data, real questions</a:t>
            </a:r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731520" y="457200"/>
            <a:ext cx="10698480" cy="109728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l">
              <a:lnSpc>
                <a:spcPct val="115000"/>
              </a:lnSpc>
              <a:spcAft>
                <a:spcPts val="800"/>
              </a:spcAft>
              <a:defRPr sz="3200" b="1">
                <a:solidFill>
                  <a:srgbClr val="1C1E21"/>
                </a:solidFill>
              </a:defRPr>
            </a:pPr>
            <a:r>
              <a:t>What does a data engineer do at Meta?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731520" y="1508760"/>
            <a:ext cx="10698480" cy="48006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lnSpc>
                <a:spcPct val="120000"/>
              </a:lnSpc>
              <a:spcAft>
                <a:spcPts val="1000"/>
              </a:spcAft>
            </a:pPr>
            <a:r>
              <a:rPr sz="2000" b="1">
                <a:solidFill>
                  <a:srgbClr val="1C1E21"/>
                </a:solidFill>
              </a:rPr>
              <a:t>The job, from the posting: </a:t>
            </a:r>
            <a:r>
              <a:rPr sz="2000">
                <a:solidFill>
                  <a:srgbClr val="1C1E21"/>
                </a:solidFill>
              </a:rPr>
              <a:t>own the data architecture, make logging actually work, and define SLAs for every dataset in their area.</a:t>
            </a:r>
          </a:p>
          <a:p>
            <a:pPr>
              <a:lnSpc>
                <a:spcPct val="120000"/>
              </a:lnSpc>
              <a:spcAft>
                <a:spcPts val="1000"/>
              </a:spcAft>
            </a:pPr>
            <a:r>
              <a:rPr sz="2000" b="1">
                <a:solidFill>
                  <a:srgbClr val="1C1E21"/>
                </a:solidFill>
              </a:rPr>
              <a:t>Data quality is the job: </a:t>
            </a:r>
            <a:r>
              <a:rPr sz="2000">
                <a:solidFill>
                  <a:srgbClr val="1C1E21"/>
                </a:solidFill>
              </a:rPr>
              <a:t>address data quality issues, implement the security model for privacy, and evolve governance. No data engineer, no trustworthy data.</a:t>
            </a:r>
          </a:p>
          <a:p>
            <a:pPr>
              <a:lnSpc>
                <a:spcPct val="120000"/>
              </a:lnSpc>
              <a:spcAft>
                <a:spcPts val="1000"/>
              </a:spcAft>
            </a:pPr>
            <a:r>
              <a:rPr sz="2000" b="1">
                <a:solidFill>
                  <a:srgbClr val="1C1E21"/>
                </a:solidFill>
              </a:rPr>
              <a:t>Privacy is infrastructure: </a:t>
            </a:r>
            <a:r>
              <a:rPr sz="2000">
                <a:solidFill>
                  <a:srgbClr val="1C1E21"/>
                </a:solidFill>
              </a:rPr>
              <a:t>Meta's public framework is Privacy Aware Infrastructure (PAI): data gets privacy annotations at ingestion, a universal taxonomy classifies it, and Policy Zones enforce purpose limitation automatically. For SWEs and DEs, privacy is not a review checkbox, it is the plumbing.</a:t>
            </a:r>
          </a:p>
          <a:p>
            <a:pPr>
              <a:lnSpc>
                <a:spcPct val="120000"/>
              </a:lnSpc>
              <a:spcAft>
                <a:spcPts val="1000"/>
              </a:spcAft>
            </a:pPr>
            <a:r>
              <a:rPr sz="2000" b="1">
                <a:solidFill>
                  <a:srgbClr val="1C1E21"/>
                </a:solidFill>
              </a:rPr>
              <a:t>Partners: </a:t>
            </a:r>
            <a:r>
              <a:rPr sz="2000">
                <a:solidFill>
                  <a:srgbClr val="1C1E21"/>
                </a:solidFill>
              </a:rPr>
              <a:t>they work with data scientists, engineers, and PMs to understand data needs. The DS sets the goals; the DE makes sure the numbers underneath are real.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457200" y="6446520"/>
            <a:ext cx="11274552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>
              <a:defRPr sz="1000">
                <a:solidFill>
                  <a:srgbClr val="656B74"/>
                </a:solidFill>
              </a:defRPr>
            </a:pPr>
            <a:r>
              <a:t>DISC x Meta - Oct 1, 2026  |  Fake data, real questions</a:t>
            </a:r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731520" y="457200"/>
            <a:ext cx="10698480" cy="109728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l">
              <a:lnSpc>
                <a:spcPct val="115000"/>
              </a:lnSpc>
              <a:spcAft>
                <a:spcPts val="800"/>
              </a:spcAft>
              <a:defRPr sz="3200" b="1">
                <a:solidFill>
                  <a:srgbClr val="1C1E21"/>
                </a:solidFill>
              </a:defRPr>
            </a:pPr>
            <a:r>
              <a:t>Privacy: the 8 rules behind every privacy training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731520" y="1508760"/>
            <a:ext cx="10698480" cy="48006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lnSpc>
                <a:spcPct val="120000"/>
              </a:lnSpc>
              <a:spcAft>
                <a:spcPts val="1000"/>
              </a:spcAft>
            </a:pPr>
            <a:r>
              <a:rPr sz="2000" b="1">
                <a:solidFill>
                  <a:srgbClr val="1C1E21"/>
                </a:solidFill>
              </a:rPr>
              <a:t>1. Collection limitation: </a:t>
            </a:r>
            <a:r>
              <a:rPr sz="2000">
                <a:solidFill>
                  <a:srgbClr val="1C1E21"/>
                </a:solidFill>
              </a:rPr>
              <a:t>collect as little as possible, lawfully. This is data minimization.</a:t>
            </a:r>
          </a:p>
          <a:p>
            <a:pPr>
              <a:lnSpc>
                <a:spcPct val="120000"/>
              </a:lnSpc>
              <a:spcAft>
                <a:spcPts val="1000"/>
              </a:spcAft>
            </a:pPr>
            <a:r>
              <a:rPr sz="2000" b="1">
                <a:solidFill>
                  <a:srgbClr val="1C1E21"/>
                </a:solidFill>
              </a:rPr>
              <a:t>2. Purpose specification: </a:t>
            </a:r>
            <a:r>
              <a:rPr sz="2000">
                <a:solidFill>
                  <a:srgbClr val="1C1E21"/>
                </a:solidFill>
              </a:rPr>
              <a:t>state why you are collecting it, at collection time.</a:t>
            </a:r>
          </a:p>
          <a:p>
            <a:pPr>
              <a:lnSpc>
                <a:spcPct val="120000"/>
              </a:lnSpc>
              <a:spcAft>
                <a:spcPts val="1000"/>
              </a:spcAft>
            </a:pPr>
            <a:r>
              <a:rPr sz="2000" b="1">
                <a:solidFill>
                  <a:srgbClr val="1C1E21"/>
                </a:solidFill>
              </a:rPr>
              <a:t>3. Use limitation: </a:t>
            </a:r>
            <a:r>
              <a:rPr sz="2000">
                <a:solidFill>
                  <a:srgbClr val="1C1E21"/>
                </a:solidFill>
              </a:rPr>
              <a:t>use it only for that purpose. This is purpose limitation, and it is what Policy Zones enforces.</a:t>
            </a:r>
          </a:p>
          <a:p>
            <a:pPr>
              <a:lnSpc>
                <a:spcPct val="120000"/>
              </a:lnSpc>
              <a:spcAft>
                <a:spcPts val="1000"/>
              </a:spcAft>
            </a:pPr>
            <a:r>
              <a:rPr sz="2000" b="1">
                <a:solidFill>
                  <a:srgbClr val="1C1E21"/>
                </a:solidFill>
              </a:rPr>
              <a:t>4. Data quality: </a:t>
            </a:r>
            <a:r>
              <a:rPr sz="2000">
                <a:solidFill>
                  <a:srgbClr val="1C1E21"/>
                </a:solidFill>
              </a:rPr>
              <a:t>relevant, accurate, complete, up to date.</a:t>
            </a:r>
          </a:p>
          <a:p>
            <a:pPr>
              <a:lnSpc>
                <a:spcPct val="120000"/>
              </a:lnSpc>
              <a:spcAft>
                <a:spcPts val="1000"/>
              </a:spcAft>
            </a:pPr>
            <a:r>
              <a:rPr sz="2000" b="1">
                <a:solidFill>
                  <a:srgbClr val="1C1E21"/>
                </a:solidFill>
              </a:rPr>
              <a:t>5. Security safeguards: </a:t>
            </a:r>
            <a:r>
              <a:rPr sz="2000">
                <a:solidFill>
                  <a:srgbClr val="1C1E21"/>
                </a:solidFill>
              </a:rPr>
              <a:t>protect it against loss, theft, and misuse.</a:t>
            </a:r>
          </a:p>
          <a:p>
            <a:pPr>
              <a:lnSpc>
                <a:spcPct val="120000"/>
              </a:lnSpc>
              <a:spcAft>
                <a:spcPts val="1000"/>
              </a:spcAft>
            </a:pPr>
            <a:r>
              <a:rPr sz="2000" b="1">
                <a:solidFill>
                  <a:srgbClr val="1C1E21"/>
                </a:solidFill>
              </a:rPr>
              <a:t>6. Openness: </a:t>
            </a:r>
            <a:r>
              <a:rPr sz="2000">
                <a:solidFill>
                  <a:srgbClr val="1C1E21"/>
                </a:solidFill>
              </a:rPr>
              <a:t>be transparent about your practices.</a:t>
            </a:r>
          </a:p>
          <a:p>
            <a:pPr>
              <a:lnSpc>
                <a:spcPct val="120000"/>
              </a:lnSpc>
              <a:spcAft>
                <a:spcPts val="1000"/>
              </a:spcAft>
            </a:pPr>
            <a:r>
              <a:rPr sz="2000" b="1">
                <a:solidFill>
                  <a:srgbClr val="1C1E21"/>
                </a:solidFill>
              </a:rPr>
              <a:t>7. Individual participation: </a:t>
            </a:r>
            <a:r>
              <a:rPr sz="2000">
                <a:solidFill>
                  <a:srgbClr val="1C1E21"/>
                </a:solidFill>
              </a:rPr>
              <a:t>people can see their data and correct it.</a:t>
            </a:r>
          </a:p>
          <a:p>
            <a:pPr>
              <a:lnSpc>
                <a:spcPct val="120000"/>
              </a:lnSpc>
              <a:spcAft>
                <a:spcPts val="1000"/>
              </a:spcAft>
            </a:pPr>
            <a:r>
              <a:rPr sz="2000" b="1">
                <a:solidFill>
                  <a:srgbClr val="1C1E21"/>
                </a:solidFill>
              </a:rPr>
              <a:t>8. Accountability: </a:t>
            </a:r>
            <a:r>
              <a:rPr sz="2000">
                <a:solidFill>
                  <a:srgbClr val="1C1E21"/>
                </a:solidFill>
              </a:rPr>
              <a:t>someone owns compliance with all of the above.</a:t>
            </a:r>
          </a:p>
          <a:p>
            <a:pPr algn="l">
              <a:lnSpc>
                <a:spcPct val="115000"/>
              </a:lnSpc>
              <a:spcAft>
                <a:spcPts val="800"/>
              </a:spcAft>
              <a:defRPr sz="2000" b="0">
                <a:solidFill>
                  <a:srgbClr val="1C1E21"/>
                </a:solidFill>
              </a:defRPr>
            </a:pPr>
            <a:r>
              <a:t>•  From the OECD Privacy Guidelines (1980, revised 2013). Most privacy law, and most company privacy training, descends from these eight. (GDPR's Article 5 lists 7 in the same family: it adds storage limitation, and moves openness and participation into data-subject rights.)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457200" y="6446520"/>
            <a:ext cx="11274552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>
              <a:defRPr sz="1000">
                <a:solidFill>
                  <a:srgbClr val="656B74"/>
                </a:solidFill>
              </a:defRPr>
            </a:pPr>
            <a:r>
              <a:t>DISC x Meta - Oct 1, 2026  |  Fake data, real questions</a:t>
            </a:r>
          </a:p>
        </p:txBody>
      </p:sp>
    </p:spTree>
  </p:cSld>
  <p:clrMapOvr>
    <a:masterClrMapping/>
  </p:clrMapOvr>
</p:sld>
</file>

<file path=ppt/slides/slide1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731520" y="457200"/>
            <a:ext cx="10698480" cy="109728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l">
              <a:lnSpc>
                <a:spcPct val="115000"/>
              </a:lnSpc>
              <a:spcAft>
                <a:spcPts val="800"/>
              </a:spcAft>
              <a:defRPr sz="3200" b="1">
                <a:solidFill>
                  <a:srgbClr val="1C1E21"/>
                </a:solidFill>
              </a:defRPr>
            </a:pPr>
            <a:r>
              <a:t>The toolkit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731520" y="1508760"/>
            <a:ext cx="10698480" cy="48006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lnSpc>
                <a:spcPct val="120000"/>
              </a:lnSpc>
              <a:spcAft>
                <a:spcPts val="1000"/>
              </a:spcAft>
            </a:pPr>
            <a:r>
              <a:rPr sz="2000" b="1">
                <a:solidFill>
                  <a:srgbClr val="1C1E21"/>
                </a:solidFill>
              </a:rPr>
              <a:t>SQL first: </a:t>
            </a:r>
            <a:r>
              <a:rPr sz="2000">
                <a:solidFill>
                  <a:srgbClr val="1C1E21"/>
                </a:solidFill>
              </a:rPr>
              <a:t>Presto / Spark SQL. Most questions start as a query, not a model.</a:t>
            </a:r>
          </a:p>
          <a:p>
            <a:pPr>
              <a:lnSpc>
                <a:spcPct val="120000"/>
              </a:lnSpc>
              <a:spcAft>
                <a:spcPts val="1000"/>
              </a:spcAft>
            </a:pPr>
            <a:r>
              <a:rPr sz="2000" b="1">
                <a:solidFill>
                  <a:srgbClr val="1C1E21"/>
                </a:solidFill>
              </a:rPr>
              <a:t>Python: </a:t>
            </a:r>
            <a:r>
              <a:rPr sz="2000">
                <a:solidFill>
                  <a:srgbClr val="1C1E21"/>
                </a:solidFill>
              </a:rPr>
              <a:t>pandas, numpy, matplotlib. Notebooks, with code review, like software.</a:t>
            </a:r>
          </a:p>
          <a:p>
            <a:pPr>
              <a:lnSpc>
                <a:spcPct val="120000"/>
              </a:lnSpc>
              <a:spcAft>
                <a:spcPts val="1000"/>
              </a:spcAft>
            </a:pPr>
            <a:r>
              <a:rPr sz="2000" b="1">
                <a:solidFill>
                  <a:srgbClr val="1C1E21"/>
                </a:solidFill>
              </a:rPr>
              <a:t>Experimentation: </a:t>
            </a:r>
            <a:r>
              <a:rPr sz="2000">
                <a:solidFill>
                  <a:srgbClr val="1C1E21"/>
                </a:solidFill>
              </a:rPr>
              <a:t>every launch is a test. You will live in A/B tests.</a:t>
            </a:r>
          </a:p>
          <a:p>
            <a:pPr>
              <a:lnSpc>
                <a:spcPct val="120000"/>
              </a:lnSpc>
              <a:spcAft>
                <a:spcPts val="1000"/>
              </a:spcAft>
            </a:pPr>
            <a:r>
              <a:rPr sz="2000" b="1">
                <a:solidFill>
                  <a:srgbClr val="1C1E21"/>
                </a:solidFill>
              </a:rPr>
              <a:t>Dashboards: </a:t>
            </a:r>
            <a:r>
              <a:rPr sz="2000">
                <a:solidFill>
                  <a:srgbClr val="1C1E21"/>
                </a:solidFill>
              </a:rPr>
              <a:t>make the metric visible so the whole team can see it move.</a:t>
            </a:r>
          </a:p>
          <a:p>
            <a:pPr>
              <a:lnSpc>
                <a:spcPct val="120000"/>
              </a:lnSpc>
              <a:spcAft>
                <a:spcPts val="1000"/>
              </a:spcAft>
            </a:pPr>
            <a:r>
              <a:rPr sz="2000" b="1">
                <a:solidFill>
                  <a:srgbClr val="1C1E21"/>
                </a:solidFill>
              </a:rPr>
              <a:t>Communication: </a:t>
            </a:r>
            <a:r>
              <a:rPr sz="2000">
                <a:solidFill>
                  <a:srgbClr val="1C1E21"/>
                </a:solidFill>
              </a:rPr>
              <a:t>the one-paragraph recommendation a PM actually acts on.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457200" y="6446520"/>
            <a:ext cx="11274552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>
              <a:defRPr sz="1000">
                <a:solidFill>
                  <a:srgbClr val="656B74"/>
                </a:solidFill>
              </a:defRPr>
            </a:pPr>
            <a:r>
              <a:t>DISC x Meta - Oct 1, 2026  |  Fake data, real questions</a:t>
            </a:r>
          </a:p>
        </p:txBody>
      </p:sp>
    </p:spTree>
  </p:cSld>
  <p:clrMapOvr>
    <a:masterClrMapping/>
  </p:clrMapOvr>
</p:sld>
</file>

<file path=ppt/slides/slide1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731520" y="457200"/>
            <a:ext cx="10698480" cy="9144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l">
              <a:lnSpc>
                <a:spcPct val="115000"/>
              </a:lnSpc>
              <a:spcAft>
                <a:spcPts val="800"/>
              </a:spcAft>
              <a:defRPr sz="3200" b="1">
                <a:solidFill>
                  <a:srgbClr val="1C1E21"/>
                </a:solidFill>
              </a:defRPr>
            </a:pPr>
            <a:r>
              <a:t>Your classes map to this talk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731520" y="1371600"/>
            <a:ext cx="10698480" cy="64008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l">
              <a:lnSpc>
                <a:spcPct val="115000"/>
              </a:lnSpc>
              <a:spcAft>
                <a:spcPts val="800"/>
              </a:spcAft>
              <a:defRPr sz="1800" b="0">
                <a:solidFill>
                  <a:srgbClr val="656B74"/>
                </a:solidFill>
              </a:defRPr>
            </a:pPr>
            <a:r>
              <a:t>W.P. Carey courses. CIS 310/315/404/412 are electives for CIS majors, and CIS 407 is elective for AI in Business, so no single class covers all three cases.</a:t>
            </a:r>
          </a:p>
        </p:txBody>
      </p:sp>
      <p:graphicFrame>
        <p:nvGraphicFramePr>
          <p:cNvPr id="4" name="Table 3"/>
          <p:cNvGraphicFramePr>
            <a:graphicFrameLocks noGrp="1"/>
          </p:cNvGraphicFramePr>
          <p:nvPr/>
        </p:nvGraphicFramePr>
        <p:xfrm>
          <a:off x="731520" y="1965960"/>
          <a:ext cx="10698480" cy="3520440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2926080"/>
                <a:gridCol w="3840480"/>
                <a:gridCol w="3931920"/>
              </a:tblGrid>
              <a:tr h="502920">
                <a:tc>
                  <a:txBody>
                    <a:bodyPr/>
                    <a:lstStyle/>
                    <a:p>
                      <a:pPr algn="l">
                        <a:lnSpc>
                          <a:spcPct val="115000"/>
                        </a:lnSpc>
                        <a:spcAft>
                          <a:spcPts val="800"/>
                        </a:spcAft>
                        <a:defRPr sz="1600" b="1">
                          <a:solidFill>
                            <a:srgbClr val="FFFFFF"/>
                          </a:solidFill>
                        </a:defRPr>
                      </a:pPr>
                      <a:r>
                        <a:t>If you have taken...</a:t>
                      </a:r>
                    </a:p>
                  </a:txBody>
                  <a:tcPr>
                    <a:solidFill>
                      <a:srgbClr val="0064E0"/>
                    </a:solidFill>
                  </a:tcPr>
                </a:tc>
                <a:tc>
                  <a:txBody>
                    <a:bodyPr/>
                    <a:lstStyle/>
                    <a:p>
                      <a:pPr algn="l">
                        <a:lnSpc>
                          <a:spcPct val="115000"/>
                        </a:lnSpc>
                        <a:spcAft>
                          <a:spcPts val="800"/>
                        </a:spcAft>
                        <a:defRPr sz="1600" b="1">
                          <a:solidFill>
                            <a:srgbClr val="FFFFFF"/>
                          </a:solidFill>
                        </a:defRPr>
                      </a:pPr>
                      <a:r>
                        <a:t>You already know...</a:t>
                      </a:r>
                    </a:p>
                  </a:txBody>
                  <a:tcPr>
                    <a:solidFill>
                      <a:srgbClr val="0064E0"/>
                    </a:solidFill>
                  </a:tcPr>
                </a:tc>
                <a:tc>
                  <a:txBody>
                    <a:bodyPr/>
                    <a:lstStyle/>
                    <a:p>
                      <a:pPr algn="l">
                        <a:lnSpc>
                          <a:spcPct val="115000"/>
                        </a:lnSpc>
                        <a:spcAft>
                          <a:spcPts val="800"/>
                        </a:spcAft>
                        <a:defRPr sz="1600" b="1">
                          <a:solidFill>
                            <a:srgbClr val="FFFFFF"/>
                          </a:solidFill>
                        </a:defRPr>
                      </a:pPr>
                      <a:r>
                        <a:t>You will use it in...</a:t>
                      </a:r>
                    </a:p>
                  </a:txBody>
                  <a:tcPr>
                    <a:solidFill>
                      <a:srgbClr val="0064E0"/>
                    </a:solidFill>
                  </a:tcPr>
                </a:tc>
              </a:tr>
              <a:tr h="502920">
                <a:tc>
                  <a:txBody>
                    <a:bodyPr/>
                    <a:lstStyle/>
                    <a:p>
                      <a:pPr algn="l">
                        <a:lnSpc>
                          <a:spcPct val="115000"/>
                        </a:lnSpc>
                        <a:spcAft>
                          <a:spcPts val="800"/>
                        </a:spcAft>
                        <a:defRPr sz="1500" b="0">
                          <a:solidFill>
                            <a:srgbClr val="1C1E21"/>
                          </a:solidFill>
                        </a:defRPr>
                      </a:pPr>
                      <a:r>
                        <a:t>CIS 315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l">
                        <a:lnSpc>
                          <a:spcPct val="115000"/>
                        </a:lnSpc>
                        <a:spcAft>
                          <a:spcPts val="800"/>
                        </a:spcAft>
                        <a:defRPr sz="1500" b="0">
                          <a:solidFill>
                            <a:srgbClr val="1C1E21"/>
                          </a:solidFill>
                        </a:defRPr>
                      </a:pPr>
                      <a:r>
                        <a:t>descriptive analytics, KPIs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l">
                        <a:lnSpc>
                          <a:spcPct val="115000"/>
                        </a:lnSpc>
                        <a:spcAft>
                          <a:spcPts val="800"/>
                        </a:spcAft>
                        <a:defRPr sz="1500" b="0">
                          <a:solidFill>
                            <a:srgbClr val="1C1E21"/>
                          </a:solidFill>
                        </a:defRPr>
                      </a:pPr>
                      <a:r>
                        <a:t>Case studies 2, 3</a:t>
                      </a:r>
                    </a:p>
                  </a:txBody>
                  <a:tcPr/>
                </a:tc>
              </a:tr>
              <a:tr h="502920">
                <a:tc>
                  <a:txBody>
                    <a:bodyPr/>
                    <a:lstStyle/>
                    <a:p>
                      <a:pPr algn="l">
                        <a:lnSpc>
                          <a:spcPct val="115000"/>
                        </a:lnSpc>
                        <a:spcAft>
                          <a:spcPts val="800"/>
                        </a:spcAft>
                        <a:defRPr sz="1500" b="0">
                          <a:solidFill>
                            <a:srgbClr val="1C1E21"/>
                          </a:solidFill>
                        </a:defRPr>
                      </a:pPr>
                      <a:r>
                        <a:t>CIS 404</a:t>
                      </a:r>
                    </a:p>
                  </a:txBody>
                  <a:tcPr>
                    <a:solidFill>
                      <a:srgbClr val="F5F6F7"/>
                    </a:solidFill>
                  </a:tcPr>
                </a:tc>
                <a:tc>
                  <a:txBody>
                    <a:bodyPr/>
                    <a:lstStyle/>
                    <a:p>
                      <a:pPr algn="l">
                        <a:lnSpc>
                          <a:spcPct val="115000"/>
                        </a:lnSpc>
                        <a:spcAft>
                          <a:spcPts val="800"/>
                        </a:spcAft>
                        <a:defRPr sz="1500" b="0">
                          <a:solidFill>
                            <a:srgbClr val="1C1E21"/>
                          </a:solidFill>
                        </a:defRPr>
                      </a:pPr>
                      <a:r>
                        <a:t>Python for business analytics</a:t>
                      </a:r>
                    </a:p>
                  </a:txBody>
                  <a:tcPr>
                    <a:solidFill>
                      <a:srgbClr val="F5F6F7"/>
                    </a:solidFill>
                  </a:tcPr>
                </a:tc>
                <a:tc>
                  <a:txBody>
                    <a:bodyPr/>
                    <a:lstStyle/>
                    <a:p>
                      <a:pPr algn="l">
                        <a:lnSpc>
                          <a:spcPct val="115000"/>
                        </a:lnSpc>
                        <a:spcAft>
                          <a:spcPts val="800"/>
                        </a:spcAft>
                        <a:defRPr sz="1500" b="0">
                          <a:solidFill>
                            <a:srgbClr val="1C1E21"/>
                          </a:solidFill>
                        </a:defRPr>
                      </a:pPr>
                      <a:r>
                        <a:t>All case studies</a:t>
                      </a:r>
                    </a:p>
                  </a:txBody>
                  <a:tcPr>
                    <a:solidFill>
                      <a:srgbClr val="F5F6F7"/>
                    </a:solidFill>
                  </a:tcPr>
                </a:tc>
              </a:tr>
              <a:tr h="502920">
                <a:tc>
                  <a:txBody>
                    <a:bodyPr/>
                    <a:lstStyle/>
                    <a:p>
                      <a:pPr algn="l">
                        <a:lnSpc>
                          <a:spcPct val="115000"/>
                        </a:lnSpc>
                        <a:spcAft>
                          <a:spcPts val="800"/>
                        </a:spcAft>
                        <a:defRPr sz="1500" b="0">
                          <a:solidFill>
                            <a:srgbClr val="1C1E21"/>
                          </a:solidFill>
                        </a:defRPr>
                      </a:pPr>
                      <a:r>
                        <a:t>CIS 407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l">
                        <a:lnSpc>
                          <a:spcPct val="115000"/>
                        </a:lnSpc>
                        <a:spcAft>
                          <a:spcPts val="800"/>
                        </a:spcAft>
                        <a:defRPr sz="1500" b="0">
                          <a:solidFill>
                            <a:srgbClr val="1C1E21"/>
                          </a:solidFill>
                        </a:defRPr>
                      </a:pPr>
                      <a:r>
                        <a:t>SQL, GROUP BY, joins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l">
                        <a:lnSpc>
                          <a:spcPct val="115000"/>
                        </a:lnSpc>
                        <a:spcAft>
                          <a:spcPts val="800"/>
                        </a:spcAft>
                        <a:defRPr sz="1500" b="0">
                          <a:solidFill>
                            <a:srgbClr val="1C1E21"/>
                          </a:solidFill>
                        </a:defRPr>
                      </a:pPr>
                      <a:r>
                        <a:t>Case study 1, interviews</a:t>
                      </a:r>
                    </a:p>
                  </a:txBody>
                  <a:tcPr/>
                </a:tc>
              </a:tr>
              <a:tr h="502920">
                <a:tc>
                  <a:txBody>
                    <a:bodyPr/>
                    <a:lstStyle/>
                    <a:p>
                      <a:pPr algn="l">
                        <a:lnSpc>
                          <a:spcPct val="115000"/>
                        </a:lnSpc>
                        <a:spcAft>
                          <a:spcPts val="800"/>
                        </a:spcAft>
                        <a:defRPr sz="1500" b="0">
                          <a:solidFill>
                            <a:srgbClr val="1C1E21"/>
                          </a:solidFill>
                        </a:defRPr>
                      </a:pPr>
                      <a:r>
                        <a:t>ECN 221</a:t>
                      </a:r>
                    </a:p>
                  </a:txBody>
                  <a:tcPr>
                    <a:solidFill>
                      <a:srgbClr val="F5F6F7"/>
                    </a:solidFill>
                  </a:tcPr>
                </a:tc>
                <a:tc>
                  <a:txBody>
                    <a:bodyPr/>
                    <a:lstStyle/>
                    <a:p>
                      <a:pPr algn="l">
                        <a:lnSpc>
                          <a:spcPct val="115000"/>
                        </a:lnSpc>
                        <a:spcAft>
                          <a:spcPts val="800"/>
                        </a:spcAft>
                        <a:defRPr sz="1500" b="0">
                          <a:solidFill>
                            <a:srgbClr val="1C1E21"/>
                          </a:solidFill>
                        </a:defRPr>
                      </a:pPr>
                      <a:r>
                        <a:t>business stats, hypothesis testing</a:t>
                      </a:r>
                    </a:p>
                  </a:txBody>
                  <a:tcPr>
                    <a:solidFill>
                      <a:srgbClr val="F5F6F7"/>
                    </a:solidFill>
                  </a:tcPr>
                </a:tc>
                <a:tc>
                  <a:txBody>
                    <a:bodyPr/>
                    <a:lstStyle/>
                    <a:p>
                      <a:pPr algn="l">
                        <a:lnSpc>
                          <a:spcPct val="115000"/>
                        </a:lnSpc>
                        <a:spcAft>
                          <a:spcPts val="800"/>
                        </a:spcAft>
                        <a:defRPr sz="1500" b="0">
                          <a:solidFill>
                            <a:srgbClr val="1C1E21"/>
                          </a:solidFill>
                        </a:defRPr>
                      </a:pPr>
                      <a:r>
                        <a:t>Case study 1 (live tonight)</a:t>
                      </a:r>
                    </a:p>
                  </a:txBody>
                  <a:tcPr>
                    <a:solidFill>
                      <a:srgbClr val="F5F6F7"/>
                    </a:solidFill>
                  </a:tcPr>
                </a:tc>
              </a:tr>
              <a:tr h="502920">
                <a:tc>
                  <a:txBody>
                    <a:bodyPr/>
                    <a:lstStyle/>
                    <a:p>
                      <a:pPr algn="l">
                        <a:lnSpc>
                          <a:spcPct val="115000"/>
                        </a:lnSpc>
                        <a:spcAft>
                          <a:spcPts val="800"/>
                        </a:spcAft>
                        <a:defRPr sz="1500" b="0">
                          <a:solidFill>
                            <a:srgbClr val="1C1E21"/>
                          </a:solidFill>
                        </a:defRPr>
                      </a:pPr>
                      <a:r>
                        <a:t>CIS 412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l">
                        <a:lnSpc>
                          <a:spcPct val="115000"/>
                        </a:lnSpc>
                        <a:spcAft>
                          <a:spcPts val="800"/>
                        </a:spcAft>
                        <a:defRPr sz="1500" b="0">
                          <a:solidFill>
                            <a:srgbClr val="1C1E21"/>
                          </a:solidFill>
                        </a:defRPr>
                      </a:pPr>
                      <a:r>
                        <a:t>applied ML for business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l">
                        <a:lnSpc>
                          <a:spcPct val="115000"/>
                        </a:lnSpc>
                        <a:spcAft>
                          <a:spcPts val="800"/>
                        </a:spcAft>
                        <a:defRPr sz="1500" b="0">
                          <a:solidFill>
                            <a:srgbClr val="1C1E21"/>
                          </a:solidFill>
                        </a:defRPr>
                      </a:pPr>
                      <a:r>
                        <a:t>Case study 2</a:t>
                      </a:r>
                    </a:p>
                  </a:txBody>
                  <a:tcPr/>
                </a:tc>
              </a:tr>
              <a:tr h="502920">
                <a:tc>
                  <a:txBody>
                    <a:bodyPr/>
                    <a:lstStyle/>
                    <a:p>
                      <a:pPr algn="l">
                        <a:lnSpc>
                          <a:spcPct val="115000"/>
                        </a:lnSpc>
                        <a:spcAft>
                          <a:spcPts val="800"/>
                        </a:spcAft>
                        <a:defRPr sz="1500" b="0">
                          <a:solidFill>
                            <a:srgbClr val="1C1E21"/>
                          </a:solidFill>
                        </a:defRPr>
                      </a:pPr>
                      <a:r>
                        <a:t>CIS 310</a:t>
                      </a:r>
                    </a:p>
                  </a:txBody>
                  <a:tcPr>
                    <a:solidFill>
                      <a:srgbClr val="F5F6F7"/>
                    </a:solidFill>
                  </a:tcPr>
                </a:tc>
                <a:tc>
                  <a:txBody>
                    <a:bodyPr/>
                    <a:lstStyle/>
                    <a:p>
                      <a:pPr algn="l">
                        <a:lnSpc>
                          <a:spcPct val="115000"/>
                        </a:lnSpc>
                        <a:spcAft>
                          <a:spcPts val="800"/>
                        </a:spcAft>
                        <a:defRPr sz="1500" b="0">
                          <a:solidFill>
                            <a:srgbClr val="1C1E21"/>
                          </a:solidFill>
                        </a:defRPr>
                      </a:pPr>
                      <a:r>
                        <a:t>dashboards, choosing the right chart</a:t>
                      </a:r>
                    </a:p>
                  </a:txBody>
                  <a:tcPr>
                    <a:solidFill>
                      <a:srgbClr val="F5F6F7"/>
                    </a:solidFill>
                  </a:tcPr>
                </a:tc>
                <a:tc>
                  <a:txBody>
                    <a:bodyPr/>
                    <a:lstStyle/>
                    <a:p>
                      <a:pPr algn="l">
                        <a:lnSpc>
                          <a:spcPct val="115000"/>
                        </a:lnSpc>
                        <a:spcAft>
                          <a:spcPts val="800"/>
                        </a:spcAft>
                        <a:defRPr sz="1500" b="0">
                          <a:solidFill>
                            <a:srgbClr val="1C1E21"/>
                          </a:solidFill>
                        </a:defRPr>
                      </a:pPr>
                      <a:r>
                        <a:t>Every case study</a:t>
                      </a:r>
                    </a:p>
                  </a:txBody>
                  <a:tcPr>
                    <a:solidFill>
                      <a:srgbClr val="F5F6F7"/>
                    </a:solidFill>
                  </a:tcPr>
                </a:tc>
              </a:tr>
            </a:tbl>
          </a:graphicData>
        </a:graphic>
      </p:graphicFrame>
      <p:sp>
        <p:nvSpPr>
          <p:cNvPr id="5" name="TextBox 4"/>
          <p:cNvSpPr txBox="1"/>
          <p:nvPr/>
        </p:nvSpPr>
        <p:spPr>
          <a:xfrm>
            <a:off x="457200" y="6446520"/>
            <a:ext cx="11274552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>
              <a:defRPr sz="1000">
                <a:solidFill>
                  <a:srgbClr val="656B74"/>
                </a:solidFill>
              </a:defRPr>
            </a:pPr>
            <a:r>
              <a:t>DISC x Meta - Oct 1, 2026  |  Fake data, real questions</a:t>
            </a:r>
          </a:p>
        </p:txBody>
      </p:sp>
    </p:spTree>
  </p:cSld>
  <p:clrMapOvr>
    <a:masterClrMapping/>
  </p:clrMapOvr>
</p:sld>
</file>

<file path=ppt/slides/slide1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731520" y="457200"/>
            <a:ext cx="10698480" cy="109728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l">
              <a:lnSpc>
                <a:spcPct val="115000"/>
              </a:lnSpc>
              <a:spcAft>
                <a:spcPts val="800"/>
              </a:spcAft>
              <a:defRPr sz="3200" b="1">
                <a:solidFill>
                  <a:srgbClr val="1C1E21"/>
                </a:solidFill>
              </a:defRPr>
            </a:pPr>
            <a:r>
              <a:t>The gap: what class does not teach you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731520" y="1508760"/>
            <a:ext cx="10698480" cy="48006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lnSpc>
                <a:spcPct val="120000"/>
              </a:lnSpc>
              <a:spcAft>
                <a:spcPts val="1000"/>
              </a:spcAft>
            </a:pPr>
            <a:r>
              <a:rPr sz="2000" b="1">
                <a:solidFill>
                  <a:srgbClr val="1C1E21"/>
                </a:solidFill>
              </a:rPr>
              <a:t>Online experiments: </a:t>
            </a:r>
            <a:r>
              <a:rPr sz="2000">
                <a:solidFill>
                  <a:srgbClr val="1C1E21"/>
                </a:solidFill>
              </a:rPr>
              <a:t>peeking, novelty effects, guardrail metrics, power analysis</a:t>
            </a:r>
          </a:p>
          <a:p>
            <a:pPr>
              <a:lnSpc>
                <a:spcPct val="120000"/>
              </a:lnSpc>
              <a:spcAft>
                <a:spcPts val="1000"/>
              </a:spcAft>
            </a:pPr>
            <a:r>
              <a:rPr sz="2000" b="1">
                <a:solidFill>
                  <a:srgbClr val="1C1E21"/>
                </a:solidFill>
              </a:rPr>
              <a:t>Measurement: </a:t>
            </a:r>
            <a:r>
              <a:rPr sz="2000">
                <a:solidFill>
                  <a:srgbClr val="1C1E21"/>
                </a:solidFill>
              </a:rPr>
              <a:t>defining success before you measure it: primary metric, guardrails, rollback criteria</a:t>
            </a:r>
          </a:p>
          <a:p>
            <a:pPr>
              <a:lnSpc>
                <a:spcPct val="120000"/>
              </a:lnSpc>
              <a:spcAft>
                <a:spcPts val="1000"/>
              </a:spcAft>
            </a:pPr>
            <a:r>
              <a:rPr sz="2000" b="1">
                <a:solidFill>
                  <a:srgbClr val="1C1E21"/>
                </a:solidFill>
              </a:rPr>
              <a:t>Scale: </a:t>
            </a:r>
            <a:r>
              <a:rPr sz="2000">
                <a:solidFill>
                  <a:srgbClr val="1C1E21"/>
                </a:solidFill>
              </a:rPr>
              <a:t>sampling, pipelines, and the query that never finishes</a:t>
            </a:r>
          </a:p>
          <a:p>
            <a:pPr>
              <a:lnSpc>
                <a:spcPct val="120000"/>
              </a:lnSpc>
              <a:spcAft>
                <a:spcPts val="1000"/>
              </a:spcAft>
            </a:pPr>
            <a:r>
              <a:rPr sz="2000" b="1">
                <a:solidFill>
                  <a:srgbClr val="1C1E21"/>
                </a:solidFill>
              </a:rPr>
              <a:t>Privacy: </a:t>
            </a:r>
            <a:r>
              <a:rPr sz="2000">
                <a:solidFill>
                  <a:srgbClr val="1C1E21"/>
                </a:solidFill>
              </a:rPr>
              <a:t>what you are not allowed to collect shapes every analysis</a:t>
            </a:r>
          </a:p>
          <a:p>
            <a:pPr>
              <a:lnSpc>
                <a:spcPct val="120000"/>
              </a:lnSpc>
              <a:spcAft>
                <a:spcPts val="1000"/>
              </a:spcAft>
            </a:pPr>
            <a:r>
              <a:rPr sz="2000" b="1">
                <a:solidFill>
                  <a:srgbClr val="1C1E21"/>
                </a:solidFill>
              </a:rPr>
              <a:t>The memo: </a:t>
            </a:r>
            <a:r>
              <a:rPr sz="2000">
                <a:solidFill>
                  <a:srgbClr val="1C1E21"/>
                </a:solidFill>
              </a:rPr>
              <a:t>writing the recommendation, not just the notebook</a:t>
            </a:r>
          </a:p>
          <a:p>
            <a:pPr algn="l">
              <a:lnSpc>
                <a:spcPct val="115000"/>
              </a:lnSpc>
              <a:spcAft>
                <a:spcPts val="800"/>
              </a:spcAft>
              <a:defRPr sz="2000" b="0">
                <a:solidFill>
                  <a:srgbClr val="1C1E21"/>
                </a:solidFill>
              </a:defRPr>
            </a:pPr>
            <a:r>
              <a:t>•  Everything on this list is learnable. Case study 1 is your on-ramp.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457200" y="6446520"/>
            <a:ext cx="11274552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>
              <a:defRPr sz="1000">
                <a:solidFill>
                  <a:srgbClr val="656B74"/>
                </a:solidFill>
              </a:defRPr>
            </a:pPr>
            <a:r>
              <a:t>DISC x Meta - Oct 1, 2026  |  Fake data, real questions</a:t>
            </a:r>
          </a:p>
        </p:txBody>
      </p:sp>
    </p:spTree>
  </p:cSld>
  <p:clrMapOvr>
    <a:masterClrMapping/>
  </p:clrMapOvr>
</p:sld>
</file>

<file path=ppt/slides/slide1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731520" y="457200"/>
            <a:ext cx="10698480" cy="109728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l">
              <a:lnSpc>
                <a:spcPct val="115000"/>
              </a:lnSpc>
              <a:spcAft>
                <a:spcPts val="800"/>
              </a:spcAft>
              <a:defRPr sz="3200" b="1">
                <a:solidFill>
                  <a:srgbClr val="1C1E21"/>
                </a:solidFill>
              </a:defRPr>
            </a:pPr>
            <a:r>
              <a:t>Ground rules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731520" y="1508760"/>
            <a:ext cx="10698480" cy="48006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lnSpc>
                <a:spcPct val="120000"/>
              </a:lnSpc>
              <a:spcAft>
                <a:spcPts val="1000"/>
              </a:spcAft>
            </a:pPr>
            <a:r>
              <a:rPr sz="2000" b="1">
                <a:solidFill>
                  <a:srgbClr val="1C1E21"/>
                </a:solidFill>
              </a:rPr>
              <a:t>Fake data: </a:t>
            </a:r>
            <a:r>
              <a:rPr sz="2000">
                <a:solidFill>
                  <a:srgbClr val="1C1E21"/>
                </a:solidFill>
              </a:rPr>
              <a:t>every CSV today is synthetic, generated on my laptop, seeded and reproducible.</a:t>
            </a:r>
          </a:p>
          <a:p>
            <a:pPr>
              <a:lnSpc>
                <a:spcPct val="120000"/>
              </a:lnSpc>
              <a:spcAft>
                <a:spcPts val="1000"/>
              </a:spcAft>
            </a:pPr>
            <a:r>
              <a:rPr sz="2000" b="1">
                <a:solidFill>
                  <a:srgbClr val="1C1E21"/>
                </a:solidFill>
              </a:rPr>
              <a:t>Real context: </a:t>
            </a:r>
            <a:r>
              <a:rPr sz="2000">
                <a:solidFill>
                  <a:srgbClr val="1C1E21"/>
                </a:solidFill>
              </a:rPr>
              <a:t>the products, launch dates, and DAU figures are public reporting as of Sep 2026.</a:t>
            </a:r>
          </a:p>
          <a:p>
            <a:pPr>
              <a:lnSpc>
                <a:spcPct val="120000"/>
              </a:lnSpc>
              <a:spcAft>
                <a:spcPts val="1000"/>
              </a:spcAft>
            </a:pPr>
            <a:r>
              <a:rPr sz="2000" b="1">
                <a:solidFill>
                  <a:srgbClr val="1C1E21"/>
                </a:solidFill>
              </a:rPr>
              <a:t>Real questions: </a:t>
            </a:r>
            <a:r>
              <a:rPr sz="2000">
                <a:solidFill>
                  <a:srgbClr val="1C1E21"/>
                </a:solidFill>
              </a:rPr>
              <a:t>each case study asks what a Meta DS would actually ask.</a:t>
            </a:r>
          </a:p>
          <a:p>
            <a:pPr>
              <a:lnSpc>
                <a:spcPct val="120000"/>
              </a:lnSpc>
              <a:spcAft>
                <a:spcPts val="1000"/>
              </a:spcAft>
            </a:pPr>
            <a:r>
              <a:rPr sz="2000" b="1">
                <a:solidFill>
                  <a:srgbClr val="1C1E21"/>
                </a:solidFill>
              </a:rPr>
              <a:t>Your job: </a:t>
            </a:r>
            <a:r>
              <a:rPr sz="2000">
                <a:solidFill>
                  <a:srgbClr val="1C1E21"/>
                </a:solidFill>
              </a:rPr>
              <a:t>run the code tonight, break my assumptions, and argue with the answer key.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457200" y="6446520"/>
            <a:ext cx="11274552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>
              <a:defRPr sz="1000">
                <a:solidFill>
                  <a:srgbClr val="656B74"/>
                </a:solidFill>
              </a:defRPr>
            </a:pPr>
            <a:r>
              <a:t>DISC x Meta - Oct 1, 2026  |  Fake data, real questions</a:t>
            </a:r>
          </a:p>
        </p:txBody>
      </p:sp>
    </p:spTree>
  </p:cSld>
  <p:clrMapOvr>
    <a:masterClrMapping/>
  </p:clrMapOvr>
</p:sld>
</file>

<file path=ppt/slides/slide1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141A2E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731520" y="2011680"/>
            <a:ext cx="10698480" cy="14630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l">
              <a:lnSpc>
                <a:spcPct val="115000"/>
              </a:lnSpc>
              <a:spcAft>
                <a:spcPts val="800"/>
              </a:spcAft>
              <a:defRPr sz="4400" b="1">
                <a:solidFill>
                  <a:srgbClr val="FFFFFF"/>
                </a:solidFill>
              </a:defRPr>
            </a:pPr>
            <a:r>
              <a:t>Act 2 🛠️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731520" y="3291840"/>
            <a:ext cx="10698480" cy="12801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l">
              <a:lnSpc>
                <a:spcPct val="115000"/>
              </a:lnSpc>
              <a:spcAft>
                <a:spcPts val="800"/>
              </a:spcAft>
              <a:defRPr sz="2200" b="0">
                <a:solidFill>
                  <a:srgbClr val="B0B8C9"/>
                </a:solidFill>
              </a:defRPr>
            </a:pPr>
            <a:r>
              <a:t>Tonight's live case study. Laptops open.</a:t>
            </a:r>
          </a:p>
        </p:txBody>
      </p:sp>
    </p:spTree>
  </p:cSld>
  <p:clrMapOvr>
    <a:masterClrMapping/>
  </p:clrMapOvr>
</p:sld>
</file>

<file path=ppt/slides/slide1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731520" y="457200"/>
            <a:ext cx="10698480" cy="109728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l">
              <a:lnSpc>
                <a:spcPct val="115000"/>
              </a:lnSpc>
              <a:spcAft>
                <a:spcPts val="800"/>
              </a:spcAft>
              <a:defRPr sz="3200" b="1">
                <a:solidFill>
                  <a:srgbClr val="1C1E21"/>
                </a:solidFill>
              </a:defRPr>
            </a:pPr>
            <a:r>
              <a:t>Find at least 1 other person 👥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731520" y="1508760"/>
            <a:ext cx="10698480" cy="48006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lnSpc>
                <a:spcPct val="115000"/>
              </a:lnSpc>
              <a:spcAft>
                <a:spcPts val="800"/>
              </a:spcAft>
              <a:defRPr sz="2000" b="0">
                <a:solidFill>
                  <a:srgbClr val="1C1E21"/>
                </a:solidFill>
              </a:defRPr>
            </a:pPr>
            <a:r>
              <a:t>•  The case study works better in pairs.</a:t>
            </a:r>
          </a:p>
          <a:p>
            <a:pPr algn="l">
              <a:lnSpc>
                <a:spcPct val="115000"/>
              </a:lnSpc>
              <a:spcAft>
                <a:spcPts val="800"/>
              </a:spcAft>
              <a:defRPr sz="2000" b="0">
                <a:solidFill>
                  <a:srgbClr val="1C1E21"/>
                </a:solidFill>
              </a:defRPr>
            </a:pPr>
            <a:r>
              <a:t>•  One laptop open, one person driving, both arguing.</a:t>
            </a:r>
          </a:p>
          <a:p>
            <a:pPr algn="l">
              <a:lnSpc>
                <a:spcPct val="115000"/>
              </a:lnSpc>
              <a:spcAft>
                <a:spcPts val="800"/>
              </a:spcAft>
              <a:defRPr sz="2000" b="0">
                <a:solidFill>
                  <a:srgbClr val="1C1E21"/>
                </a:solidFill>
              </a:defRPr>
            </a:pPr>
            <a:r>
              <a:t>•  After the case study, compare your plot with the pair next to you.</a:t>
            </a:r>
          </a:p>
          <a:p>
            <a:pPr algn="l">
              <a:lnSpc>
                <a:spcPct val="115000"/>
              </a:lnSpc>
              <a:spcAft>
                <a:spcPts val="800"/>
              </a:spcAft>
              <a:defRPr sz="2000" b="0">
                <a:solidFill>
                  <a:srgbClr val="1C1E21"/>
                </a:solidFill>
              </a:defRPr>
            </a:pPr>
            <a:r>
              <a:t>•  Disagreeing with the answer key is encouraged.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457200" y="6446520"/>
            <a:ext cx="11274552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>
              <a:defRPr sz="1000">
                <a:solidFill>
                  <a:srgbClr val="656B74"/>
                </a:solidFill>
              </a:defRPr>
            </a:pPr>
            <a:r>
              <a:t>DISC x Meta - Oct 1, 2026  |  Fake data, real questions</a:t>
            </a:r>
          </a:p>
        </p:txBody>
      </p:sp>
    </p:spTree>
  </p:cSld>
  <p:clrMapOvr>
    <a:masterClrMapping/>
  </p:clrMapOvr>
</p:sld>
</file>

<file path=ppt/slides/slide1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731520" y="457200"/>
            <a:ext cx="2926080" cy="457200"/>
          </a:xfrm>
          <a:prstGeom prst="rect">
            <a:avLst/>
          </a:prstGeom>
          <a:solidFill>
            <a:srgbClr val="FFE88A"/>
          </a:solidFill>
        </p:spPr>
        <p:txBody>
          <a:bodyPr wrap="none">
            <a:spAutoFit/>
          </a:bodyPr>
          <a:lstStyle/>
          <a:p>
            <a:pPr algn="l">
              <a:lnSpc>
                <a:spcPct val="115000"/>
              </a:lnSpc>
              <a:spcAft>
                <a:spcPts val="800"/>
              </a:spcAft>
              <a:defRPr sz="1300" b="1">
                <a:solidFill>
                  <a:srgbClr val="1C1E21"/>
                </a:solidFill>
              </a:defRPr>
            </a:pPr>
            <a:r>
              <a:t>LIVE TONIGHT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731520" y="1005840"/>
            <a:ext cx="10698480" cy="109728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l">
              <a:lnSpc>
                <a:spcPct val="115000"/>
              </a:lnSpc>
              <a:spcAft>
                <a:spcPts val="800"/>
              </a:spcAft>
              <a:defRPr sz="3200" b="1">
                <a:solidFill>
                  <a:srgbClr val="1C1E21"/>
                </a:solidFill>
              </a:defRPr>
            </a:pPr>
            <a:r>
              <a:t>Case study 1: Did the new hand-tracking model actually work?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731520" y="2057400"/>
            <a:ext cx="10698480" cy="7315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l">
              <a:lnSpc>
                <a:spcPct val="115000"/>
              </a:lnSpc>
              <a:spcAft>
                <a:spcPts val="800"/>
              </a:spcAft>
              <a:defRPr sz="2000" b="0">
                <a:solidFill>
                  <a:srgbClr val="656B74"/>
                </a:solidFill>
              </a:defRPr>
            </a:pPr>
            <a:r>
              <a:t>Technique: A/B test, two-proportion z-test, guardrail metrics  |  Maps to: ECN 221, CIS 407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731520" y="2743200"/>
            <a:ext cx="5486400" cy="35661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lnSpc>
                <a:spcPct val="120000"/>
              </a:lnSpc>
              <a:spcAft>
                <a:spcPts val="1000"/>
              </a:spcAft>
            </a:pPr>
            <a:r>
              <a:rPr sz="2000" b="1">
                <a:solidFill>
                  <a:srgbClr val="1C1E21"/>
                </a:solidFill>
              </a:rPr>
              <a:t>The setup: </a:t>
            </a:r>
            <a:r>
              <a:rPr sz="2000">
                <a:solidFill>
                  <a:srgbClr val="1C1E21"/>
                </a:solidFill>
              </a:rPr>
              <a:t>hand tracking on Quest runs through OpenXR's XR_EXT_hand_tracking: 26 joints per hand, each with a pose, a radius, and validity flags.</a:t>
            </a:r>
          </a:p>
          <a:p>
            <a:pPr>
              <a:lnSpc>
                <a:spcPct val="120000"/>
              </a:lnSpc>
              <a:spcAft>
                <a:spcPts val="1000"/>
              </a:spcAft>
            </a:pPr>
            <a:r>
              <a:rPr sz="2000" b="1">
                <a:solidFill>
                  <a:srgbClr val="1C1E21"/>
                </a:solidFill>
              </a:rPr>
              <a:t>The change: </a:t>
            </a:r>
            <a:r>
              <a:rPr sz="2000">
                <a:solidFill>
                  <a:srgbClr val="1C1E21"/>
                </a:solidFill>
              </a:rPr>
              <a:t>HT-v2, a new hand-tracking model trained on 6 weeks of field-collected data. Shipped to a random 1% holdout.</a:t>
            </a:r>
          </a:p>
          <a:p>
            <a:pPr>
              <a:lnSpc>
                <a:spcPct val="120000"/>
              </a:lnSpc>
              <a:spcAft>
                <a:spcPts val="1000"/>
              </a:spcAft>
            </a:pPr>
            <a:r>
              <a:rPr sz="2000" b="1">
                <a:solidFill>
                  <a:srgbClr val="1C1E21"/>
                </a:solidFill>
              </a:rPr>
              <a:t>The question: </a:t>
            </a:r>
            <a:r>
              <a:rPr sz="2000">
                <a:solidFill>
                  <a:srgbClr val="1C1E21"/>
                </a:solidFill>
              </a:rPr>
              <a:t>did gestures actually get better, and is it safe to roll out to everyone?</a:t>
            </a:r>
          </a:p>
          <a:p>
            <a:pPr>
              <a:lnSpc>
                <a:spcPct val="120000"/>
              </a:lnSpc>
              <a:spcAft>
                <a:spcPts val="1000"/>
              </a:spcAft>
            </a:pPr>
            <a:r>
              <a:rPr sz="2000" b="1">
                <a:solidFill>
                  <a:srgbClr val="1C1E21"/>
                </a:solidFill>
              </a:rPr>
              <a:t>Your data: </a:t>
            </a:r>
            <a:r>
              <a:rPr sz="2000">
                <a:solidFill>
                  <a:srgbClr val="1C1E21"/>
                </a:solidFill>
              </a:rPr>
              <a:t>ht_ab_holdout.csv: 20,000 users, control vs treatment.</a:t>
            </a:r>
          </a:p>
        </p:txBody>
      </p:sp>
      <p:pic>
        <p:nvPicPr>
          <p:cNvPr id="6" name="Picture 5" descr="hand-joints-openxr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6583680" y="2743200"/>
            <a:ext cx="4937760" cy="2933257"/>
          </a:xfrm>
          <a:prstGeom prst="rect">
            <a:avLst/>
          </a:prstGeom>
        </p:spPr>
      </p:pic>
      <p:sp>
        <p:nvSpPr>
          <p:cNvPr id="7" name="TextBox 6"/>
          <p:cNvSpPr txBox="1"/>
          <p:nvPr/>
        </p:nvSpPr>
        <p:spPr>
          <a:xfrm>
            <a:off x="6583680" y="5806440"/>
            <a:ext cx="4937760" cy="5486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l">
              <a:lnSpc>
                <a:spcPct val="115000"/>
              </a:lnSpc>
              <a:spcAft>
                <a:spcPts val="800"/>
              </a:spcAft>
              <a:defRPr sz="1300" b="0">
                <a:solidFill>
                  <a:srgbClr val="656B74"/>
                </a:solidFill>
              </a:defRPr>
            </a:pPr>
            <a:r>
              <a:t>The 26 OpenXR hand joints: wrist, palm, then metacarpal / proximal / intermediate / distal / tip per finger. Diagram: UNIGINE docs.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457200" y="6446520"/>
            <a:ext cx="11274552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>
              <a:defRPr sz="1000">
                <a:solidFill>
                  <a:srgbClr val="656B74"/>
                </a:solidFill>
              </a:defRPr>
            </a:pPr>
            <a:r>
              <a:t>DISC x Meta - Oct 1, 2026  |  Fake data, real questions</a:t>
            </a:r>
          </a:p>
        </p:txBody>
      </p:sp>
    </p:spTree>
  </p:cSld>
  <p:clrMapOvr>
    <a:masterClrMapping/>
  </p:clrMapOvr>
</p:sld>
</file>

<file path=ppt/slides/slide18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731520" y="457200"/>
            <a:ext cx="10698480" cy="9144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l">
              <a:lnSpc>
                <a:spcPct val="115000"/>
              </a:lnSpc>
              <a:spcAft>
                <a:spcPts val="800"/>
              </a:spcAft>
              <a:defRPr sz="3200" b="1">
                <a:solidFill>
                  <a:srgbClr val="1C1E21"/>
                </a:solidFill>
              </a:defRPr>
            </a:pPr>
            <a:r>
              <a:t>Case study 1: the dataset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731520" y="1371600"/>
            <a:ext cx="10698480" cy="64008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l">
              <a:lnSpc>
                <a:spcPct val="115000"/>
              </a:lnSpc>
              <a:spcAft>
                <a:spcPts val="800"/>
              </a:spcAft>
              <a:defRPr sz="1800" b="0">
                <a:solidFill>
                  <a:srgbClr val="656B74"/>
                </a:solidFill>
              </a:defRPr>
            </a:pPr>
            <a:r>
              <a:t>ht_ab_holdout.csv - 20,000 rows. Synthetic.</a:t>
            </a:r>
          </a:p>
        </p:txBody>
      </p:sp>
      <p:graphicFrame>
        <p:nvGraphicFramePr>
          <p:cNvPr id="4" name="Table 3"/>
          <p:cNvGraphicFramePr>
            <a:graphicFrameLocks noGrp="1"/>
          </p:cNvGraphicFramePr>
          <p:nvPr/>
        </p:nvGraphicFramePr>
        <p:xfrm>
          <a:off x="731520" y="1965960"/>
          <a:ext cx="10698480" cy="4023360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2926080"/>
                <a:gridCol w="1280160"/>
                <a:gridCol w="6492240"/>
              </a:tblGrid>
              <a:tr h="502920">
                <a:tc>
                  <a:txBody>
                    <a:bodyPr/>
                    <a:lstStyle/>
                    <a:p>
                      <a:pPr algn="l">
                        <a:lnSpc>
                          <a:spcPct val="115000"/>
                        </a:lnSpc>
                        <a:spcAft>
                          <a:spcPts val="800"/>
                        </a:spcAft>
                        <a:defRPr sz="1600" b="1">
                          <a:solidFill>
                            <a:srgbClr val="FFFFFF"/>
                          </a:solidFill>
                        </a:defRPr>
                      </a:pPr>
                      <a:r>
                        <a:t>Column</a:t>
                      </a:r>
                    </a:p>
                  </a:txBody>
                  <a:tcPr>
                    <a:solidFill>
                      <a:srgbClr val="0064E0"/>
                    </a:solidFill>
                  </a:tcPr>
                </a:tc>
                <a:tc>
                  <a:txBody>
                    <a:bodyPr/>
                    <a:lstStyle/>
                    <a:p>
                      <a:pPr algn="l">
                        <a:lnSpc>
                          <a:spcPct val="115000"/>
                        </a:lnSpc>
                        <a:spcAft>
                          <a:spcPts val="800"/>
                        </a:spcAft>
                        <a:defRPr sz="1600" b="1">
                          <a:solidFill>
                            <a:srgbClr val="FFFFFF"/>
                          </a:solidFill>
                        </a:defRPr>
                      </a:pPr>
                      <a:r>
                        <a:t>Type</a:t>
                      </a:r>
                    </a:p>
                  </a:txBody>
                  <a:tcPr>
                    <a:solidFill>
                      <a:srgbClr val="0064E0"/>
                    </a:solidFill>
                  </a:tcPr>
                </a:tc>
                <a:tc>
                  <a:txBody>
                    <a:bodyPr/>
                    <a:lstStyle/>
                    <a:p>
                      <a:pPr algn="l">
                        <a:lnSpc>
                          <a:spcPct val="115000"/>
                        </a:lnSpc>
                        <a:spcAft>
                          <a:spcPts val="800"/>
                        </a:spcAft>
                        <a:defRPr sz="1600" b="1">
                          <a:solidFill>
                            <a:srgbClr val="FFFFFF"/>
                          </a:solidFill>
                        </a:defRPr>
                      </a:pPr>
                      <a:r>
                        <a:t>Meaning</a:t>
                      </a:r>
                    </a:p>
                  </a:txBody>
                  <a:tcPr>
                    <a:solidFill>
                      <a:srgbClr val="0064E0"/>
                    </a:solidFill>
                  </a:tcPr>
                </a:tc>
              </a:tr>
              <a:tr h="502920">
                <a:tc>
                  <a:txBody>
                    <a:bodyPr/>
                    <a:lstStyle/>
                    <a:p>
                      <a:pPr algn="l">
                        <a:lnSpc>
                          <a:spcPct val="115000"/>
                        </a:lnSpc>
                        <a:spcAft>
                          <a:spcPts val="800"/>
                        </a:spcAft>
                        <a:defRPr sz="1500" b="0">
                          <a:solidFill>
                            <a:srgbClr val="1C1E21"/>
                          </a:solidFill>
                        </a:defRPr>
                      </a:pPr>
                      <a:r>
                        <a:t>user_id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l">
                        <a:lnSpc>
                          <a:spcPct val="115000"/>
                        </a:lnSpc>
                        <a:spcAft>
                          <a:spcPts val="800"/>
                        </a:spcAft>
                        <a:defRPr sz="1500" b="0">
                          <a:solidFill>
                            <a:srgbClr val="1C1E21"/>
                          </a:solidFill>
                        </a:defRPr>
                      </a:pPr>
                      <a:r>
                        <a:t>string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l">
                        <a:lnSpc>
                          <a:spcPct val="115000"/>
                        </a:lnSpc>
                        <a:spcAft>
                          <a:spcPts val="800"/>
                        </a:spcAft>
                        <a:defRPr sz="1500" b="0">
                          <a:solidFill>
                            <a:srgbClr val="1C1E21"/>
                          </a:solidFill>
                        </a:defRPr>
                      </a:pPr>
                      <a:r>
                        <a:t>anonymous user id</a:t>
                      </a:r>
                    </a:p>
                  </a:txBody>
                  <a:tcPr/>
                </a:tc>
              </a:tr>
              <a:tr h="502920">
                <a:tc>
                  <a:txBody>
                    <a:bodyPr/>
                    <a:lstStyle/>
                    <a:p>
                      <a:pPr algn="l">
                        <a:lnSpc>
                          <a:spcPct val="115000"/>
                        </a:lnSpc>
                        <a:spcAft>
                          <a:spcPts val="800"/>
                        </a:spcAft>
                        <a:defRPr sz="1500" b="0">
                          <a:solidFill>
                            <a:srgbClr val="1C1E21"/>
                          </a:solidFill>
                        </a:defRPr>
                      </a:pPr>
                      <a:r>
                        <a:t>group</a:t>
                      </a:r>
                    </a:p>
                  </a:txBody>
                  <a:tcPr>
                    <a:solidFill>
                      <a:srgbClr val="F5F6F7"/>
                    </a:solidFill>
                  </a:tcPr>
                </a:tc>
                <a:tc>
                  <a:txBody>
                    <a:bodyPr/>
                    <a:lstStyle/>
                    <a:p>
                      <a:pPr algn="l">
                        <a:lnSpc>
                          <a:spcPct val="115000"/>
                        </a:lnSpc>
                        <a:spcAft>
                          <a:spcPts val="800"/>
                        </a:spcAft>
                        <a:defRPr sz="1500" b="0">
                          <a:solidFill>
                            <a:srgbClr val="1C1E21"/>
                          </a:solidFill>
                        </a:defRPr>
                      </a:pPr>
                      <a:r>
                        <a:t>string</a:t>
                      </a:r>
                    </a:p>
                  </a:txBody>
                  <a:tcPr>
                    <a:solidFill>
                      <a:srgbClr val="F5F6F7"/>
                    </a:solidFill>
                  </a:tcPr>
                </a:tc>
                <a:tc>
                  <a:txBody>
                    <a:bodyPr/>
                    <a:lstStyle/>
                    <a:p>
                      <a:pPr algn="l">
                        <a:lnSpc>
                          <a:spcPct val="115000"/>
                        </a:lnSpc>
                        <a:spcAft>
                          <a:spcPts val="800"/>
                        </a:spcAft>
                        <a:defRPr sz="1500" b="0">
                          <a:solidFill>
                            <a:srgbClr val="1C1E21"/>
                          </a:solidFill>
                        </a:defRPr>
                      </a:pPr>
                      <a:r>
                        <a:t>control or treatment: the random 1% holdout assignment</a:t>
                      </a:r>
                    </a:p>
                  </a:txBody>
                  <a:tcPr>
                    <a:solidFill>
                      <a:srgbClr val="F5F6F7"/>
                    </a:solidFill>
                  </a:tcPr>
                </a:tc>
              </a:tr>
              <a:tr h="502920">
                <a:tc>
                  <a:txBody>
                    <a:bodyPr/>
                    <a:lstStyle/>
                    <a:p>
                      <a:pPr algn="l">
                        <a:lnSpc>
                          <a:spcPct val="115000"/>
                        </a:lnSpc>
                        <a:spcAft>
                          <a:spcPts val="800"/>
                        </a:spcAft>
                        <a:defRPr sz="1500" b="0">
                          <a:solidFill>
                            <a:srgbClr val="1C1E21"/>
                          </a:solidFill>
                        </a:defRPr>
                      </a:pPr>
                      <a:r>
                        <a:t>device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l">
                        <a:lnSpc>
                          <a:spcPct val="115000"/>
                        </a:lnSpc>
                        <a:spcAft>
                          <a:spcPts val="800"/>
                        </a:spcAft>
                        <a:defRPr sz="1500" b="0">
                          <a:solidFill>
                            <a:srgbClr val="1C1E21"/>
                          </a:solidFill>
                        </a:defRPr>
                      </a:pPr>
                      <a:r>
                        <a:t>string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l">
                        <a:lnSpc>
                          <a:spcPct val="115000"/>
                        </a:lnSpc>
                        <a:spcAft>
                          <a:spcPts val="800"/>
                        </a:spcAft>
                        <a:defRPr sz="1500" b="0">
                          <a:solidFill>
                            <a:srgbClr val="1C1E21"/>
                          </a:solidFill>
                        </a:defRPr>
                      </a:pPr>
                      <a:r>
                        <a:t>quest3 or quest3s: check the mix is balanced</a:t>
                      </a:r>
                    </a:p>
                  </a:txBody>
                  <a:tcPr/>
                </a:tc>
              </a:tr>
              <a:tr h="502920">
                <a:tc>
                  <a:txBody>
                    <a:bodyPr/>
                    <a:lstStyle/>
                    <a:p>
                      <a:pPr algn="l">
                        <a:lnSpc>
                          <a:spcPct val="115000"/>
                        </a:lnSpc>
                        <a:spcAft>
                          <a:spcPts val="800"/>
                        </a:spcAft>
                        <a:defRPr sz="1500" b="0">
                          <a:solidFill>
                            <a:srgbClr val="1C1E21"/>
                          </a:solidFill>
                        </a:defRPr>
                      </a:pPr>
                      <a:r>
                        <a:t>gesture_attempts / successes</a:t>
                      </a:r>
                    </a:p>
                  </a:txBody>
                  <a:tcPr>
                    <a:solidFill>
                      <a:srgbClr val="F5F6F7"/>
                    </a:solidFill>
                  </a:tcPr>
                </a:tc>
                <a:tc>
                  <a:txBody>
                    <a:bodyPr/>
                    <a:lstStyle/>
                    <a:p>
                      <a:pPr algn="l">
                        <a:lnSpc>
                          <a:spcPct val="115000"/>
                        </a:lnSpc>
                        <a:spcAft>
                          <a:spcPts val="800"/>
                        </a:spcAft>
                        <a:defRPr sz="1500" b="0">
                          <a:solidFill>
                            <a:srgbClr val="1C1E21"/>
                          </a:solidFill>
                        </a:defRPr>
                      </a:pPr>
                      <a:r>
                        <a:t>int</a:t>
                      </a:r>
                    </a:p>
                  </a:txBody>
                  <a:tcPr>
                    <a:solidFill>
                      <a:srgbClr val="F5F6F7"/>
                    </a:solidFill>
                  </a:tcPr>
                </a:tc>
                <a:tc>
                  <a:txBody>
                    <a:bodyPr/>
                    <a:lstStyle/>
                    <a:p>
                      <a:pPr algn="l">
                        <a:lnSpc>
                          <a:spcPct val="115000"/>
                        </a:lnSpc>
                        <a:spcAft>
                          <a:spcPts val="800"/>
                        </a:spcAft>
                        <a:defRPr sz="1500" b="0">
                          <a:solidFill>
                            <a:srgbClr val="1C1E21"/>
                          </a:solidFill>
                        </a:defRPr>
                      </a:pPr>
                      <a:r>
                        <a:t>did the intended gesture register?</a:t>
                      </a:r>
                    </a:p>
                  </a:txBody>
                  <a:tcPr>
                    <a:solidFill>
                      <a:srgbClr val="F5F6F7"/>
                    </a:solidFill>
                  </a:tcPr>
                </a:tc>
              </a:tr>
              <a:tr h="502920">
                <a:tc>
                  <a:txBody>
                    <a:bodyPr/>
                    <a:lstStyle/>
                    <a:p>
                      <a:pPr algn="l">
                        <a:lnSpc>
                          <a:spcPct val="115000"/>
                        </a:lnSpc>
                        <a:spcAft>
                          <a:spcPts val="800"/>
                        </a:spcAft>
                        <a:defRPr sz="1500" b="0">
                          <a:solidFill>
                            <a:srgbClr val="1C1E21"/>
                          </a:solidFill>
                        </a:defRPr>
                      </a:pPr>
                      <a:r>
                        <a:t>pinch_attempts / false_positives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l">
                        <a:lnSpc>
                          <a:spcPct val="115000"/>
                        </a:lnSpc>
                        <a:spcAft>
                          <a:spcPts val="800"/>
                        </a:spcAft>
                        <a:defRPr sz="1500" b="0">
                          <a:solidFill>
                            <a:srgbClr val="1C1E21"/>
                          </a:solidFill>
                        </a:defRPr>
                      </a:pPr>
                      <a:r>
                        <a:t>int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l">
                        <a:lnSpc>
                          <a:spcPct val="115000"/>
                        </a:lnSpc>
                        <a:spcAft>
                          <a:spcPts val="800"/>
                        </a:spcAft>
                        <a:defRPr sz="1500" b="0">
                          <a:solidFill>
                            <a:srgbClr val="1C1E21"/>
                          </a:solidFill>
                        </a:defRPr>
                      </a:pPr>
                      <a:r>
                        <a:t>system-gesture misfires (guardrail)</a:t>
                      </a:r>
                    </a:p>
                  </a:txBody>
                  <a:tcPr/>
                </a:tc>
              </a:tr>
              <a:tr h="502920">
                <a:tc>
                  <a:txBody>
                    <a:bodyPr/>
                    <a:lstStyle/>
                    <a:p>
                      <a:pPr algn="l">
                        <a:lnSpc>
                          <a:spcPct val="115000"/>
                        </a:lnSpc>
                        <a:spcAft>
                          <a:spcPts val="800"/>
                        </a:spcAft>
                        <a:defRPr sz="1500" b="0">
                          <a:solidFill>
                            <a:srgbClr val="1C1E21"/>
                          </a:solidFill>
                        </a:defRPr>
                      </a:pPr>
                      <a:r>
                        <a:t>session_min</a:t>
                      </a:r>
                    </a:p>
                  </a:txBody>
                  <a:tcPr>
                    <a:solidFill>
                      <a:srgbClr val="F5F6F7"/>
                    </a:solidFill>
                  </a:tcPr>
                </a:tc>
                <a:tc>
                  <a:txBody>
                    <a:bodyPr/>
                    <a:lstStyle/>
                    <a:p>
                      <a:pPr algn="l">
                        <a:lnSpc>
                          <a:spcPct val="115000"/>
                        </a:lnSpc>
                        <a:spcAft>
                          <a:spcPts val="800"/>
                        </a:spcAft>
                        <a:defRPr sz="1500" b="0">
                          <a:solidFill>
                            <a:srgbClr val="1C1E21"/>
                          </a:solidFill>
                        </a:defRPr>
                      </a:pPr>
                      <a:r>
                        <a:t>float</a:t>
                      </a:r>
                    </a:p>
                  </a:txBody>
                  <a:tcPr>
                    <a:solidFill>
                      <a:srgbClr val="F5F6F7"/>
                    </a:solidFill>
                  </a:tcPr>
                </a:tc>
                <a:tc>
                  <a:txBody>
                    <a:bodyPr/>
                    <a:lstStyle/>
                    <a:p>
                      <a:pPr algn="l">
                        <a:lnSpc>
                          <a:spcPct val="115000"/>
                        </a:lnSpc>
                        <a:spcAft>
                          <a:spcPts val="800"/>
                        </a:spcAft>
                        <a:defRPr sz="1500" b="0">
                          <a:solidFill>
                            <a:srgbClr val="1C1E21"/>
                          </a:solidFill>
                        </a:defRPr>
                      </a:pPr>
                      <a:r>
                        <a:t>engagement (secondary metric)</a:t>
                      </a:r>
                    </a:p>
                  </a:txBody>
                  <a:tcPr>
                    <a:solidFill>
                      <a:srgbClr val="F5F6F7"/>
                    </a:solidFill>
                  </a:tcPr>
                </a:tc>
              </a:tr>
              <a:tr h="502920">
                <a:tc>
                  <a:txBody>
                    <a:bodyPr/>
                    <a:lstStyle/>
                    <a:p>
                      <a:pPr algn="l">
                        <a:lnSpc>
                          <a:spcPct val="115000"/>
                        </a:lnSpc>
                        <a:spcAft>
                          <a:spcPts val="800"/>
                        </a:spcAft>
                        <a:defRPr sz="1500" b="0">
                          <a:solidFill>
                            <a:srgbClr val="1C1E21"/>
                          </a:solidFill>
                        </a:defRPr>
                      </a:pPr>
                      <a:r>
                        <a:t>crashed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l">
                        <a:lnSpc>
                          <a:spcPct val="115000"/>
                        </a:lnSpc>
                        <a:spcAft>
                          <a:spcPts val="800"/>
                        </a:spcAft>
                        <a:defRPr sz="1500" b="0">
                          <a:solidFill>
                            <a:srgbClr val="1C1E21"/>
                          </a:solidFill>
                        </a:defRPr>
                      </a:pPr>
                      <a:r>
                        <a:t>0/1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l">
                        <a:lnSpc>
                          <a:spcPct val="115000"/>
                        </a:lnSpc>
                        <a:spcAft>
                          <a:spcPts val="800"/>
                        </a:spcAft>
                        <a:defRPr sz="1500" b="0">
                          <a:solidFill>
                            <a:srgbClr val="1C1E21"/>
                          </a:solidFill>
                        </a:defRPr>
                      </a:pPr>
                      <a:r>
                        <a:t>stability guardrail</a:t>
                      </a:r>
                    </a:p>
                  </a:txBody>
                  <a:tcPr/>
                </a:tc>
              </a:tr>
            </a:tbl>
          </a:graphicData>
        </a:graphic>
      </p:graphicFrame>
      <p:sp>
        <p:nvSpPr>
          <p:cNvPr id="5" name="TextBox 4"/>
          <p:cNvSpPr txBox="1"/>
          <p:nvPr/>
        </p:nvSpPr>
        <p:spPr>
          <a:xfrm>
            <a:off x="457200" y="6446520"/>
            <a:ext cx="11274552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>
              <a:defRPr sz="1000">
                <a:solidFill>
                  <a:srgbClr val="656B74"/>
                </a:solidFill>
              </a:defRPr>
            </a:pPr>
            <a:r>
              <a:t>DISC x Meta - Oct 1, 2026  |  Fake data, real questions</a:t>
            </a:r>
          </a:p>
        </p:txBody>
      </p:sp>
    </p:spTree>
  </p:cSld>
  <p:clrMapOvr>
    <a:masterClrMapping/>
  </p:clrMapOvr>
</p:sld>
</file>

<file path=ppt/slides/slide19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731520" y="457200"/>
            <a:ext cx="10698480" cy="9144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l">
              <a:lnSpc>
                <a:spcPct val="115000"/>
              </a:lnSpc>
              <a:spcAft>
                <a:spcPts val="800"/>
              </a:spcAft>
              <a:defRPr sz="3200" b="1">
                <a:solidFill>
                  <a:srgbClr val="1C1E21"/>
                </a:solidFill>
              </a:defRPr>
            </a:pPr>
            <a:r>
              <a:t>Case study 1: your turn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731520" y="1371600"/>
            <a:ext cx="10698480" cy="2651760"/>
          </a:xfrm>
          <a:prstGeom prst="rect">
            <a:avLst/>
          </a:prstGeom>
          <a:solidFill>
            <a:srgbClr val="F5F6F7"/>
          </a:solidFill>
          <a:ln>
            <a:noFill/>
          </a:ln>
        </p:spPr>
        <p:txBody>
          <a:bodyPr wrap="square" lIns="228600" tIns="137160">
            <a:spAutoFit/>
          </a:bodyPr>
          <a:lstStyle/>
          <a:p>
            <a:pPr>
              <a:spcAft>
                <a:spcPts val="200"/>
              </a:spcAft>
              <a:defRPr sz="1500">
                <a:solidFill>
                  <a:srgbClr val="1C1E21"/>
                </a:solidFill>
                <a:latin typeface="Consolas"/>
              </a:defRPr>
            </a:pPr>
            <a:r>
              <a:t>import pandas as pd, numpy as np</a:t>
            </a:r>
          </a:p>
          <a:p>
            <a:pPr>
              <a:spcAft>
                <a:spcPts val="200"/>
              </a:spcAft>
              <a:defRPr sz="1500">
                <a:solidFill>
                  <a:srgbClr val="1C1E21"/>
                </a:solidFill>
                <a:latin typeface="Consolas"/>
              </a:defRPr>
            </a:pPr>
            <a:r>
              <a:t>df = pd.read_csv("ht_ab_holdout.csv")</a:t>
            </a:r>
          </a:p>
          <a:p>
            <a:pPr>
              <a:spcAft>
                <a:spcPts val="200"/>
              </a:spcAft>
              <a:defRPr sz="1500">
                <a:solidFill>
                  <a:srgbClr val="1C1E21"/>
                </a:solidFill>
                <a:latin typeface="Consolas"/>
              </a:defRPr>
            </a:pPr>
            <a:r>
              <a:t>g = df.groupby("group")</a:t>
            </a:r>
          </a:p>
          <a:p>
            <a:pPr>
              <a:spcAft>
                <a:spcPts val="200"/>
              </a:spcAft>
              <a:defRPr sz="1500">
                <a:solidFill>
                  <a:srgbClr val="1C1E21"/>
                </a:solidFill>
                <a:latin typeface="Consolas"/>
              </a:defRPr>
            </a:pPr>
            <a:r>
              <a:t>rate = g["gesture_successes"].sum() / g["gesture_attempts"].sum()</a:t>
            </a:r>
          </a:p>
          <a:p>
            <a:pPr>
              <a:spcAft>
                <a:spcPts val="200"/>
              </a:spcAft>
              <a:defRPr sz="1500">
                <a:solidFill>
                  <a:srgbClr val="1C1E21"/>
                </a:solidFill>
                <a:latin typeface="Consolas"/>
              </a:defRPr>
            </a:pPr>
            <a:r>
              <a:t>print(rate.round(4))  # now: is the gap bigger than noise?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731520" y="4251960"/>
            <a:ext cx="10698480" cy="5486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l">
              <a:lnSpc>
                <a:spcPct val="115000"/>
              </a:lnSpc>
              <a:spcAft>
                <a:spcPts val="800"/>
              </a:spcAft>
              <a:defRPr sz="2000" b="1">
                <a:solidFill>
                  <a:srgbClr val="0064E0"/>
                </a:solidFill>
              </a:defRPr>
            </a:pPr>
            <a:r>
              <a:t>Your task: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731520" y="4754880"/>
            <a:ext cx="10698480" cy="20574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lnSpc>
                <a:spcPct val="115000"/>
              </a:lnSpc>
              <a:spcAft>
                <a:spcPts val="800"/>
              </a:spcAft>
              <a:defRPr sz="1900" b="0">
                <a:solidFill>
                  <a:srgbClr val="1C1E21"/>
                </a:solidFill>
              </a:defRPr>
            </a:pPr>
            <a:r>
              <a:t>•  Compute gesture success rate by group. How big is the gap?</a:t>
            </a:r>
          </a:p>
          <a:p>
            <a:pPr algn="l">
              <a:lnSpc>
                <a:spcPct val="115000"/>
              </a:lnSpc>
              <a:spcAft>
                <a:spcPts val="800"/>
              </a:spcAft>
              <a:defRPr sz="1900" b="0">
                <a:solidFill>
                  <a:srgbClr val="1C1E21"/>
                </a:solidFill>
              </a:defRPr>
            </a:pPr>
            <a:r>
              <a:t>•  Run the two-proportion z-test. Significant at 1%? (rule of thumb: |z| &gt; 2.58)</a:t>
            </a:r>
          </a:p>
          <a:p>
            <a:pPr algn="l">
              <a:lnSpc>
                <a:spcPct val="115000"/>
              </a:lnSpc>
              <a:spcAft>
                <a:spcPts val="800"/>
              </a:spcAft>
              <a:defRPr sz="1900" b="0">
                <a:solidFill>
                  <a:srgbClr val="1C1E21"/>
                </a:solidFill>
              </a:defRPr>
            </a:pPr>
            <a:r>
              <a:t>•  Check the randomization: is the device mix the same in both arms? Why does that matter?</a:t>
            </a:r>
          </a:p>
          <a:p>
            <a:pPr algn="l">
              <a:lnSpc>
                <a:spcPct val="115000"/>
              </a:lnSpc>
              <a:spcAft>
                <a:spcPts val="800"/>
              </a:spcAft>
              <a:defRPr sz="1900" b="0">
                <a:solidFill>
                  <a:srgbClr val="1C1E21"/>
                </a:solidFill>
              </a:defRPr>
            </a:pPr>
            <a:r>
              <a:t>•  Check the guardrails: pinch false positives, crash rate. Ship or not?</a:t>
            </a:r>
          </a:p>
          <a:p>
            <a:pPr algn="l">
              <a:lnSpc>
                <a:spcPct val="115000"/>
              </a:lnSpc>
              <a:spcAft>
                <a:spcPts val="800"/>
              </a:spcAft>
              <a:defRPr sz="1900" b="0">
                <a:solidFill>
                  <a:srgbClr val="1C1E21"/>
                </a:solidFill>
              </a:defRPr>
            </a:pPr>
            <a:r>
              <a:t>•  Sketch the readout chart by hand. AI will offer you a pie chart and a truncated y-axis. You know better: pick the chart that makes the 3.2-point lift honest.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457200" y="6446520"/>
            <a:ext cx="11274552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>
              <a:defRPr sz="1000">
                <a:solidFill>
                  <a:srgbClr val="656B74"/>
                </a:solidFill>
              </a:defRPr>
            </a:pPr>
            <a:r>
              <a:t>DISC x Meta - Oct 1, 2026  |  Fake data, real questions</a:t>
            </a:r>
          </a:p>
        </p:txBody>
      </p:sp>
    </p:spTree>
  </p:cSld>
  <p:clrMapOvr>
    <a:masterClrMapping/>
  </p:clrMapOvr>
</p:sld>
</file>

<file path=ppt/slides/slide20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731520" y="457200"/>
            <a:ext cx="2926080" cy="457200"/>
          </a:xfrm>
          <a:prstGeom prst="rect">
            <a:avLst/>
          </a:prstGeom>
          <a:solidFill>
            <a:srgbClr val="FFE88A"/>
          </a:solidFill>
        </p:spPr>
        <p:txBody>
          <a:bodyPr wrap="none">
            <a:spAutoFit/>
          </a:bodyPr>
          <a:lstStyle/>
          <a:p>
            <a:pPr algn="l">
              <a:lnSpc>
                <a:spcPct val="115000"/>
              </a:lnSpc>
              <a:spcAft>
                <a:spcPts val="800"/>
              </a:spcAft>
              <a:defRPr sz="1300" b="1">
                <a:solidFill>
                  <a:srgbClr val="1C1E21"/>
                </a:solidFill>
              </a:defRPr>
            </a:pPr>
            <a:r>
              <a:t>DISCUSS FIRST - answer below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731520" y="1005840"/>
            <a:ext cx="10698480" cy="109728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l">
              <a:lnSpc>
                <a:spcPct val="115000"/>
              </a:lnSpc>
              <a:spcAft>
                <a:spcPts val="800"/>
              </a:spcAft>
              <a:defRPr sz="3200" b="1">
                <a:solidFill>
                  <a:srgbClr val="1C1E21"/>
                </a:solidFill>
              </a:defRPr>
            </a:pPr>
            <a:r>
              <a:t>Case study 1: answer key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731520" y="2057400"/>
            <a:ext cx="10698480" cy="42519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lnSpc>
                <a:spcPct val="120000"/>
              </a:lnSpc>
              <a:spcAft>
                <a:spcPts val="1000"/>
              </a:spcAft>
            </a:pPr>
            <a:r>
              <a:rPr sz="2000" b="1">
                <a:solidFill>
                  <a:srgbClr val="1C1E21"/>
                </a:solidFill>
              </a:rPr>
              <a:t>The lift: </a:t>
            </a:r>
            <a:r>
              <a:rPr sz="2000">
                <a:solidFill>
                  <a:srgbClr val="1C1E21"/>
                </a:solidFill>
              </a:rPr>
              <a:t>gesture success 78.0% -&gt; 81.2%. z = 35: not luck, not close.</a:t>
            </a:r>
          </a:p>
          <a:p>
            <a:pPr>
              <a:lnSpc>
                <a:spcPct val="120000"/>
              </a:lnSpc>
              <a:spcAft>
                <a:spcPts val="1000"/>
              </a:spcAft>
            </a:pPr>
            <a:r>
              <a:rPr sz="2000" b="1">
                <a:solidFill>
                  <a:srgbClr val="1C1E21"/>
                </a:solidFill>
              </a:rPr>
              <a:t>Randomization: </a:t>
            </a:r>
            <a:r>
              <a:rPr sz="2000">
                <a:solidFill>
                  <a:srgbClr val="1C1E21"/>
                </a:solidFill>
              </a:rPr>
              <a:t>device mix is identical (60/40) in both arms. The only systematic difference is the model.</a:t>
            </a:r>
          </a:p>
          <a:p>
            <a:pPr>
              <a:lnSpc>
                <a:spcPct val="120000"/>
              </a:lnSpc>
              <a:spcAft>
                <a:spcPts val="1000"/>
              </a:spcAft>
            </a:pPr>
            <a:r>
              <a:rPr sz="2000" b="1">
                <a:solidFill>
                  <a:srgbClr val="1C1E21"/>
                </a:solidFill>
              </a:rPr>
              <a:t>Guardrails: </a:t>
            </a:r>
            <a:r>
              <a:rPr sz="2000">
                <a:solidFill>
                  <a:srgbClr val="1C1E21"/>
                </a:solidFill>
              </a:rPr>
              <a:t>pinch false positives flat (4.5% vs 4.3%), crash rate flat. Nothing vetoes the ship.</a:t>
            </a:r>
          </a:p>
          <a:p>
            <a:pPr>
              <a:lnSpc>
                <a:spcPct val="120000"/>
              </a:lnSpc>
              <a:spcAft>
                <a:spcPts val="1000"/>
              </a:spcAft>
            </a:pPr>
            <a:r>
              <a:rPr sz="2000" b="1">
                <a:solidFill>
                  <a:srgbClr val="1C1E21"/>
                </a:solidFill>
              </a:rPr>
              <a:t>Secondary: </a:t>
            </a:r>
            <a:r>
              <a:rPr sz="2000">
                <a:solidFill>
                  <a:srgbClr val="1C1E21"/>
                </a:solidFill>
              </a:rPr>
              <a:t>session minutes tick up 22.2 -&gt; 23.0. Directional, not the decision metric.</a:t>
            </a:r>
          </a:p>
          <a:p>
            <a:pPr>
              <a:lnSpc>
                <a:spcPct val="120000"/>
              </a:lnSpc>
              <a:spcAft>
                <a:spcPts val="1000"/>
              </a:spcAft>
            </a:pPr>
            <a:r>
              <a:rPr sz="2000" b="1">
                <a:solidFill>
                  <a:srgbClr val="1C1E21"/>
                </a:solidFill>
              </a:rPr>
              <a:t>Insight: </a:t>
            </a:r>
            <a:r>
              <a:rPr sz="2000">
                <a:solidFill>
                  <a:srgbClr val="1C1E21"/>
                </a:solidFill>
              </a:rPr>
              <a:t>'significant' is not 'important.' Here the 3.2-point lift is both. Ship it, and keep watching the guardrails at 100%.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457200" y="6446520"/>
            <a:ext cx="11274552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>
              <a:defRPr sz="1000">
                <a:solidFill>
                  <a:srgbClr val="656B74"/>
                </a:solidFill>
              </a:defRPr>
            </a:pPr>
            <a:r>
              <a:t>DISC x Meta - Oct 1, 2026  |  Fake data, real questions</a:t>
            </a:r>
          </a:p>
        </p:txBody>
      </p:sp>
    </p:spTree>
  </p:cSld>
  <p:clrMapOvr>
    <a:masterClrMapping/>
  </p:clrMapOvr>
</p:sld>
</file>

<file path=ppt/slides/slide2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141A2E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731520" y="2011680"/>
            <a:ext cx="10698480" cy="14630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l">
              <a:lnSpc>
                <a:spcPct val="115000"/>
              </a:lnSpc>
              <a:spcAft>
                <a:spcPts val="800"/>
              </a:spcAft>
              <a:defRPr sz="4400" b="1">
                <a:solidFill>
                  <a:srgbClr val="FFFFFF"/>
                </a:solidFill>
              </a:defRPr>
            </a:pPr>
            <a:r>
              <a:t>Take-home case studies 📦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731520" y="3291840"/>
            <a:ext cx="10698480" cy="12801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l">
              <a:lnSpc>
                <a:spcPct val="115000"/>
              </a:lnSpc>
              <a:spcAft>
                <a:spcPts val="800"/>
              </a:spcAft>
              <a:defRPr sz="2200" b="0">
                <a:solidFill>
                  <a:srgbClr val="B0B8C9"/>
                </a:solidFill>
              </a:defRPr>
            </a:pPr>
            <a:r>
              <a:t>The trailer: story and punchline tonight. Datasets, tasks, and answer keys are in the appendix. Run them this weekend.</a:t>
            </a:r>
          </a:p>
        </p:txBody>
      </p:sp>
    </p:spTree>
  </p:cSld>
  <p:clrMapOvr>
    <a:masterClrMapping/>
  </p:clrMapOvr>
</p:sld>
</file>

<file path=ppt/slides/slide2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731520" y="457200"/>
            <a:ext cx="2926080" cy="457200"/>
          </a:xfrm>
          <a:prstGeom prst="rect">
            <a:avLst/>
          </a:prstGeom>
          <a:solidFill>
            <a:srgbClr val="FFE88A"/>
          </a:solidFill>
        </p:spPr>
        <p:txBody>
          <a:bodyPr wrap="none">
            <a:spAutoFit/>
          </a:bodyPr>
          <a:lstStyle/>
          <a:p>
            <a:pPr algn="l">
              <a:lnSpc>
                <a:spcPct val="115000"/>
              </a:lnSpc>
              <a:spcAft>
                <a:spcPts val="800"/>
              </a:spcAft>
              <a:defRPr sz="1300" b="1">
                <a:solidFill>
                  <a:srgbClr val="1C1E21"/>
                </a:solidFill>
              </a:defRPr>
            </a:pPr>
            <a:r>
              <a:t>TAKE-HOME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731520" y="1005840"/>
            <a:ext cx="10698480" cy="109728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l">
              <a:lnSpc>
                <a:spcPct val="115000"/>
              </a:lnSpc>
              <a:spcAft>
                <a:spcPts val="800"/>
              </a:spcAft>
              <a:defRPr sz="3200" b="1">
                <a:solidFill>
                  <a:srgbClr val="1C1E21"/>
                </a:solidFill>
              </a:defRPr>
            </a:pPr>
            <a:r>
              <a:t>Case study 2: Was the field data worth it?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731520" y="2057400"/>
            <a:ext cx="10698480" cy="7315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l">
              <a:lnSpc>
                <a:spcPct val="115000"/>
              </a:lnSpc>
              <a:spcAft>
                <a:spcPts val="800"/>
              </a:spcAft>
              <a:defRPr sz="2000" b="0">
                <a:solidFill>
                  <a:srgbClr val="656B74"/>
                </a:solidFill>
              </a:defRPr>
            </a:pPr>
            <a:r>
              <a:t>Technique: error analysis by segment  |  Maps to: CIS 412, CIS 404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731520" y="2743200"/>
            <a:ext cx="10698480" cy="35661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lnSpc>
                <a:spcPct val="120000"/>
              </a:lnSpc>
              <a:spcAft>
                <a:spcPts val="1000"/>
              </a:spcAft>
            </a:pPr>
            <a:r>
              <a:rPr sz="2000" b="1">
                <a:solidFill>
                  <a:srgbClr val="1C1E21"/>
                </a:solidFill>
              </a:rPr>
              <a:t>The spend: </a:t>
            </a:r>
            <a:r>
              <a:rPr sz="2000">
                <a:solidFill>
                  <a:srgbClr val="1C1E21"/>
                </a:solidFill>
              </a:rPr>
              <a:t>6 weeks collecting hand-tracking data in the wild: dim rooms, fast motion, all hand sizes. That data trained HT-v2.</a:t>
            </a:r>
          </a:p>
          <a:p>
            <a:pPr>
              <a:lnSpc>
                <a:spcPct val="120000"/>
              </a:lnSpc>
              <a:spcAft>
                <a:spcPts val="1000"/>
              </a:spcAft>
            </a:pPr>
            <a:r>
              <a:rPr sz="2000" b="1">
                <a:solidFill>
                  <a:srgbClr val="1C1E21"/>
                </a:solidFill>
              </a:rPr>
              <a:t>The hope: </a:t>
            </a:r>
            <a:r>
              <a:rPr sz="2000">
                <a:solidFill>
                  <a:srgbClr val="1C1E21"/>
                </a:solidFill>
              </a:rPr>
              <a:t>lab data is clean; field data is messy. Messy is what users actually do.</a:t>
            </a:r>
          </a:p>
          <a:p>
            <a:pPr>
              <a:lnSpc>
                <a:spcPct val="120000"/>
              </a:lnSpc>
              <a:spcAft>
                <a:spcPts val="1000"/>
              </a:spcAft>
            </a:pPr>
            <a:r>
              <a:rPr sz="2000" b="1">
                <a:solidFill>
                  <a:srgbClr val="1C1E21"/>
                </a:solidFill>
              </a:rPr>
              <a:t>The grading: </a:t>
            </a:r>
            <a:r>
              <a:rPr sz="2000">
                <a:solidFill>
                  <a:srgbClr val="1C1E21"/>
                </a:solidFill>
              </a:rPr>
              <a:t>MPJPE needs ground-truth joint positions, which online data never has. So we grade on an offline mocap set with known truth, under the same conditions. Field data trains the model; mocap data grades it.</a:t>
            </a:r>
          </a:p>
          <a:p>
            <a:pPr>
              <a:lnSpc>
                <a:spcPct val="120000"/>
              </a:lnSpc>
              <a:spcAft>
                <a:spcPts val="1000"/>
              </a:spcAft>
            </a:pPr>
            <a:r>
              <a:rPr sz="2000" b="1">
                <a:solidFill>
                  <a:srgbClr val="1C1E21"/>
                </a:solidFill>
              </a:rPr>
              <a:t>The question: </a:t>
            </a:r>
            <a:r>
              <a:rPr sz="2000">
                <a:solidFill>
                  <a:srgbClr val="1C1E21"/>
                </a:solidFill>
              </a:rPr>
              <a:t>did HT-v2 actually get better, and where does it still fail?</a:t>
            </a:r>
          </a:p>
          <a:p>
            <a:pPr>
              <a:lnSpc>
                <a:spcPct val="120000"/>
              </a:lnSpc>
              <a:spcAft>
                <a:spcPts val="1000"/>
              </a:spcAft>
            </a:pPr>
            <a:r>
              <a:rPr sz="2000" b="1">
                <a:solidFill>
                  <a:srgbClr val="1C1E21"/>
                </a:solidFill>
              </a:rPr>
              <a:t>Your data: </a:t>
            </a:r>
            <a:r>
              <a:rPr sz="2000">
                <a:solidFill>
                  <a:srgbClr val="1C1E21"/>
                </a:solidFill>
              </a:rPr>
              <a:t>ht_model_eval.csv: 8,000 labeled samples, ht_v1 vs ht_v2, by lighting, motion, and joint group.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457200" y="6446520"/>
            <a:ext cx="11274552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>
              <a:defRPr sz="1000">
                <a:solidFill>
                  <a:srgbClr val="656B74"/>
                </a:solidFill>
              </a:defRPr>
            </a:pPr>
            <a:r>
              <a:t>DISC x Meta - Oct 1, 2026  |  Fake data, real questions</a:t>
            </a:r>
          </a:p>
        </p:txBody>
      </p:sp>
    </p:spTree>
  </p:cSld>
  <p:clrMapOvr>
    <a:masterClrMapping/>
  </p:clrMapOvr>
</p:sld>
</file>

<file path=ppt/slides/slide2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731520" y="457200"/>
            <a:ext cx="2926080" cy="457200"/>
          </a:xfrm>
          <a:prstGeom prst="rect">
            <a:avLst/>
          </a:prstGeom>
          <a:solidFill>
            <a:srgbClr val="FFE88A"/>
          </a:solidFill>
        </p:spPr>
        <p:txBody>
          <a:bodyPr wrap="none">
            <a:spAutoFit/>
          </a:bodyPr>
          <a:lstStyle/>
          <a:p>
            <a:pPr algn="l">
              <a:lnSpc>
                <a:spcPct val="115000"/>
              </a:lnSpc>
              <a:spcAft>
                <a:spcPts val="800"/>
              </a:spcAft>
              <a:defRPr sz="1300" b="1">
                <a:solidFill>
                  <a:srgbClr val="1C1E21"/>
                </a:solidFill>
              </a:defRPr>
            </a:pPr>
            <a:r>
              <a:t>TAKE-HOME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731520" y="1005840"/>
            <a:ext cx="10698480" cy="109728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l">
              <a:lnSpc>
                <a:spcPct val="115000"/>
              </a:lnSpc>
              <a:spcAft>
                <a:spcPts val="800"/>
              </a:spcAft>
              <a:defRPr sz="3200" b="1">
                <a:solidFill>
                  <a:srgbClr val="1C1E21"/>
                </a:solidFill>
              </a:defRPr>
            </a:pPr>
            <a:r>
              <a:t>Case study 2: the money insight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731520" y="2057400"/>
            <a:ext cx="10698480" cy="42519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lnSpc>
                <a:spcPct val="120000"/>
              </a:lnSpc>
              <a:spcAft>
                <a:spcPts val="1000"/>
              </a:spcAft>
            </a:pPr>
            <a:r>
              <a:rPr sz="2000" b="1">
                <a:solidFill>
                  <a:srgbClr val="1C1E21"/>
                </a:solidFill>
              </a:rPr>
              <a:t>Overall: </a:t>
            </a:r>
            <a:r>
              <a:rPr sz="2000">
                <a:solidFill>
                  <a:srgbClr val="1C1E21"/>
                </a:solidFill>
              </a:rPr>
              <a:t>13.7 -&gt; 9.8 mm MPJPE (mean distance from predicted joints to mocap truth; lower is better). v1 was typical; v2 beats a published ~11 mm Quest 2 baseline.</a:t>
            </a:r>
          </a:p>
          <a:p>
            <a:pPr>
              <a:lnSpc>
                <a:spcPct val="120000"/>
              </a:lnSpc>
              <a:spcAft>
                <a:spcPts val="1000"/>
              </a:spcAft>
            </a:pPr>
            <a:r>
              <a:rPr sz="2000" b="1">
                <a:solidFill>
                  <a:srgbClr val="1C1E21"/>
                </a:solidFill>
              </a:rPr>
              <a:t>Where it paid off: </a:t>
            </a:r>
            <a:r>
              <a:rPr sz="2000">
                <a:solidFill>
                  <a:srgbClr val="1C1E21"/>
                </a:solidFill>
              </a:rPr>
              <a:t>dim+fast 18.6 -&gt; 11.3 mm, low+fast 22.2 -&gt; 13.4 mm. The gains land exactly where the field data was collected.</a:t>
            </a:r>
          </a:p>
          <a:p>
            <a:pPr>
              <a:lnSpc>
                <a:spcPct val="120000"/>
              </a:lnSpc>
              <a:spcAft>
                <a:spcPts val="1000"/>
              </a:spcAft>
            </a:pPr>
            <a:r>
              <a:rPr sz="2000" b="1">
                <a:solidFill>
                  <a:srgbClr val="1C1E21"/>
                </a:solidFill>
              </a:rPr>
              <a:t>Still hardest: </a:t>
            </a:r>
            <a:r>
              <a:rPr sz="2000">
                <a:solidFill>
                  <a:srgbClr val="1C1E21"/>
                </a:solidFill>
              </a:rPr>
              <a:t>fingertips (14.9 -&gt; 11.0 mm); the ranking is unchanged. Next collection should overweight fingertip-heavy gestures.</a:t>
            </a:r>
          </a:p>
          <a:p>
            <a:pPr>
              <a:lnSpc>
                <a:spcPct val="120000"/>
              </a:lnSpc>
              <a:spcAft>
                <a:spcPts val="1000"/>
              </a:spcAft>
            </a:pPr>
            <a:r>
              <a:rPr sz="2000" b="1">
                <a:solidFill>
                  <a:srgbClr val="1C1E21"/>
                </a:solidFill>
              </a:rPr>
              <a:t>Your chart: </a:t>
            </a:r>
            <a:r>
              <a:rPr sz="2000">
                <a:solidFill>
                  <a:srgbClr val="1C1E21"/>
                </a:solidFill>
              </a:rPr>
              <a:t>lighting x motion heatmap, faceted by model. The table hides the story; the heatmap shows where the money went.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457200" y="6446520"/>
            <a:ext cx="11274552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>
              <a:defRPr sz="1000">
                <a:solidFill>
                  <a:srgbClr val="656B74"/>
                </a:solidFill>
              </a:defRPr>
            </a:pPr>
            <a:r>
              <a:t>DISC x Meta - Oct 1, 2026  |  Fake data, real questions</a:t>
            </a:r>
          </a:p>
        </p:txBody>
      </p:sp>
    </p:spTree>
  </p:cSld>
  <p:clrMapOvr>
    <a:masterClrMapping/>
  </p:clrMapOvr>
</p:sld>
</file>

<file path=ppt/slides/slide2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731520" y="457200"/>
            <a:ext cx="2926080" cy="457200"/>
          </a:xfrm>
          <a:prstGeom prst="rect">
            <a:avLst/>
          </a:prstGeom>
          <a:solidFill>
            <a:srgbClr val="FFE88A"/>
          </a:solidFill>
        </p:spPr>
        <p:txBody>
          <a:bodyPr wrap="none">
            <a:spAutoFit/>
          </a:bodyPr>
          <a:lstStyle/>
          <a:p>
            <a:pPr algn="l">
              <a:lnSpc>
                <a:spcPct val="115000"/>
              </a:lnSpc>
              <a:spcAft>
                <a:spcPts val="800"/>
              </a:spcAft>
              <a:defRPr sz="1300" b="1">
                <a:solidFill>
                  <a:srgbClr val="1C1E21"/>
                </a:solidFill>
              </a:defRPr>
            </a:pPr>
            <a:r>
              <a:t>TAKE-HOME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731520" y="1005840"/>
            <a:ext cx="10698480" cy="109728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l">
              <a:lnSpc>
                <a:spcPct val="115000"/>
              </a:lnSpc>
              <a:spcAft>
                <a:spcPts val="800"/>
              </a:spcAft>
              <a:defRPr sz="3200" b="1">
                <a:solidFill>
                  <a:srgbClr val="1C1E21"/>
                </a:solidFill>
              </a:defRPr>
            </a:pPr>
            <a:r>
              <a:t>Case study 3: v69 shipped Tuesday. Is tracking actually worse?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731520" y="2057400"/>
            <a:ext cx="10698480" cy="7315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l">
              <a:lnSpc>
                <a:spcPct val="115000"/>
              </a:lnSpc>
              <a:spcAft>
                <a:spcPts val="800"/>
              </a:spcAft>
              <a:defRPr sz="2000" b="0">
                <a:solidFill>
                  <a:srgbClr val="656B74"/>
                </a:solidFill>
              </a:defRPr>
            </a:pPr>
            <a:r>
              <a:t>Technique: before/after comparison, segment cuts  |  Maps to: CIS 315, ECN 221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731520" y="2743200"/>
            <a:ext cx="10698480" cy="35661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lnSpc>
                <a:spcPct val="120000"/>
              </a:lnSpc>
              <a:spcAft>
                <a:spcPts val="1000"/>
              </a:spcAft>
            </a:pPr>
            <a:r>
              <a:rPr sz="2000" b="1">
                <a:solidFill>
                  <a:srgbClr val="1C1E21"/>
                </a:solidFill>
              </a:rPr>
              <a:t>The complaint: </a:t>
            </a:r>
            <a:r>
              <a:rPr sz="2000">
                <a:solidFill>
                  <a:srgbClr val="1C1E21"/>
                </a:solidFill>
              </a:rPr>
              <a:t>after the v69 release, users say hand tracking 'feels worse.'</a:t>
            </a:r>
          </a:p>
          <a:p>
            <a:pPr>
              <a:lnSpc>
                <a:spcPct val="120000"/>
              </a:lnSpc>
              <a:spcAft>
                <a:spcPts val="1000"/>
              </a:spcAft>
            </a:pPr>
            <a:r>
              <a:rPr sz="2000" b="1">
                <a:solidFill>
                  <a:srgbClr val="1C1E21"/>
                </a:solidFill>
              </a:rPr>
              <a:t>The trap: </a:t>
            </a:r>
            <a:r>
              <a:rPr sz="2000">
                <a:solidFill>
                  <a:srgbClr val="1C1E21"/>
                </a:solidFill>
              </a:rPr>
              <a:t>overall jitter looks only slightly up. The PM wants to roll back.</a:t>
            </a:r>
          </a:p>
          <a:p>
            <a:pPr>
              <a:lnSpc>
                <a:spcPct val="120000"/>
              </a:lnSpc>
              <a:spcAft>
                <a:spcPts val="1000"/>
              </a:spcAft>
            </a:pPr>
            <a:r>
              <a:rPr sz="2000" b="1">
                <a:solidFill>
                  <a:srgbClr val="1C1E21"/>
                </a:solidFill>
              </a:rPr>
              <a:t>The question: </a:t>
            </a:r>
            <a:r>
              <a:rPr sz="2000">
                <a:solidFill>
                  <a:srgbClr val="1C1E21"/>
                </a:solidFill>
              </a:rPr>
              <a:t>is it real, which devices, and did v70 fix it?</a:t>
            </a:r>
          </a:p>
          <a:p>
            <a:pPr>
              <a:lnSpc>
                <a:spcPct val="120000"/>
              </a:lnSpc>
              <a:spcAft>
                <a:spcPts val="1000"/>
              </a:spcAft>
            </a:pPr>
            <a:r>
              <a:rPr sz="2000" b="1">
                <a:solidFill>
                  <a:srgbClr val="1C1E21"/>
                </a:solidFill>
              </a:rPr>
              <a:t>Your data: </a:t>
            </a:r>
            <a:r>
              <a:rPr sz="2000">
                <a:solidFill>
                  <a:srgbClr val="1C1E21"/>
                </a:solidFill>
              </a:rPr>
              <a:t>release_perf.csv: 9,000 sessions across v68, v69, v70.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457200" y="6446520"/>
            <a:ext cx="11274552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>
              <a:defRPr sz="1000">
                <a:solidFill>
                  <a:srgbClr val="656B74"/>
                </a:solidFill>
              </a:defRPr>
            </a:pPr>
            <a:r>
              <a:t>DISC x Meta - Oct 1, 2026  |  Fake data, real questions</a:t>
            </a:r>
          </a:p>
        </p:txBody>
      </p:sp>
    </p:spTree>
  </p:cSld>
  <p:clrMapOvr>
    <a:masterClrMapping/>
  </p:clrMapOvr>
</p:sld>
</file>

<file path=ppt/slides/slide2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731520" y="457200"/>
            <a:ext cx="2926080" cy="457200"/>
          </a:xfrm>
          <a:prstGeom prst="rect">
            <a:avLst/>
          </a:prstGeom>
          <a:solidFill>
            <a:srgbClr val="FFE88A"/>
          </a:solidFill>
        </p:spPr>
        <p:txBody>
          <a:bodyPr wrap="none">
            <a:spAutoFit/>
          </a:bodyPr>
          <a:lstStyle/>
          <a:p>
            <a:pPr algn="l">
              <a:lnSpc>
                <a:spcPct val="115000"/>
              </a:lnSpc>
              <a:spcAft>
                <a:spcPts val="800"/>
              </a:spcAft>
              <a:defRPr sz="1300" b="1">
                <a:solidFill>
                  <a:srgbClr val="1C1E21"/>
                </a:solidFill>
              </a:defRPr>
            </a:pPr>
            <a:r>
              <a:t>TAKE-HOME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731520" y="1005840"/>
            <a:ext cx="10698480" cy="109728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l">
              <a:lnSpc>
                <a:spcPct val="115000"/>
              </a:lnSpc>
              <a:spcAft>
                <a:spcPts val="800"/>
              </a:spcAft>
              <a:defRPr sz="3200" b="1">
                <a:solidFill>
                  <a:srgbClr val="1C1E21"/>
                </a:solidFill>
              </a:defRPr>
            </a:pPr>
            <a:r>
              <a:t>Case study 3: the money insight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731520" y="2057400"/>
            <a:ext cx="10698480" cy="42519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lnSpc>
                <a:spcPct val="120000"/>
              </a:lnSpc>
              <a:spcAft>
                <a:spcPts val="1000"/>
              </a:spcAft>
            </a:pPr>
            <a:r>
              <a:rPr sz="2000" b="1">
                <a:solidFill>
                  <a:srgbClr val="1C1E21"/>
                </a:solidFill>
              </a:rPr>
              <a:t>Headline: </a:t>
            </a:r>
            <a:r>
              <a:rPr sz="2000">
                <a:solidFill>
                  <a:srgbClr val="1C1E21"/>
                </a:solidFill>
              </a:rPr>
              <a:t>overall jitter +21% in v69 (2.09 -&gt; 2.53 mm). Sounds mild.</a:t>
            </a:r>
          </a:p>
          <a:p>
            <a:pPr>
              <a:lnSpc>
                <a:spcPct val="120000"/>
              </a:lnSpc>
              <a:spcAft>
                <a:spcPts val="1000"/>
              </a:spcAft>
            </a:pPr>
            <a:r>
              <a:rPr sz="2000" b="1">
                <a:solidFill>
                  <a:srgbClr val="1C1E21"/>
                </a:solidFill>
              </a:rPr>
              <a:t>The cut: </a:t>
            </a:r>
            <a:r>
              <a:rPr sz="2000">
                <a:solidFill>
                  <a:srgbClr val="1C1E21"/>
                </a:solidFill>
              </a:rPr>
              <a:t>Quest 3S: 2.09 -&gt; 3.01 mm (+44%). Quest 3: flat near 2.1. The flat majority diluted the real regression.</a:t>
            </a:r>
          </a:p>
          <a:p>
            <a:pPr>
              <a:lnSpc>
                <a:spcPct val="120000"/>
              </a:lnSpc>
              <a:spcAft>
                <a:spcPts val="1000"/>
              </a:spcAft>
            </a:pPr>
            <a:r>
              <a:rPr sz="2000" b="1">
                <a:solidFill>
                  <a:srgbClr val="1C1E21"/>
                </a:solidFill>
              </a:rPr>
              <a:t>The fix and the cost: </a:t>
            </a:r>
            <a:r>
              <a:rPr sz="2000">
                <a:solidFill>
                  <a:srgbClr val="1C1E21"/>
                </a:solidFill>
              </a:rPr>
              <a:t>v70 brought 3S back to 2.17 mm, but battery drain rose 18.0 -&gt; 18.9 %/hr. Latency flat at 42 ms throughout.</a:t>
            </a:r>
          </a:p>
          <a:p>
            <a:pPr>
              <a:lnSpc>
                <a:spcPct val="120000"/>
              </a:lnSpc>
              <a:spcAft>
                <a:spcPts val="1000"/>
              </a:spcAft>
            </a:pPr>
            <a:r>
              <a:rPr sz="2000" b="1">
                <a:solidFill>
                  <a:srgbClr val="1C1E21"/>
                </a:solidFill>
              </a:rPr>
              <a:t>Your chart: </a:t>
            </a:r>
            <a:r>
              <a:rPr sz="2000">
                <a:solidFill>
                  <a:srgbClr val="1C1E21"/>
                </a:solidFill>
              </a:rPr>
              <a:t>jitter by release, faceted by device, battery on the second axis. Then the one-paragraph memo to the PM.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457200" y="6446520"/>
            <a:ext cx="11274552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>
              <a:defRPr sz="1000">
                <a:solidFill>
                  <a:srgbClr val="656B74"/>
                </a:solidFill>
              </a:defRPr>
            </a:pPr>
            <a:r>
              <a:t>DISC x Meta - Oct 1, 2026  |  Fake data, real questions</a:t>
            </a:r>
          </a:p>
        </p:txBody>
      </p:sp>
    </p:spTree>
  </p:cSld>
  <p:clrMapOvr>
    <a:masterClrMapping/>
  </p:clrMapOvr>
</p:sld>
</file>

<file path=ppt/slides/slide2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141A2E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731520" y="2011680"/>
            <a:ext cx="10698480" cy="14630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l">
              <a:lnSpc>
                <a:spcPct val="115000"/>
              </a:lnSpc>
              <a:spcAft>
                <a:spcPts val="800"/>
              </a:spcAft>
              <a:defRPr sz="4400" b="1">
                <a:solidFill>
                  <a:srgbClr val="FFFFFF"/>
                </a:solidFill>
              </a:defRPr>
            </a:pPr>
            <a:r>
              <a:t>Act 3 🎯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731520" y="3291840"/>
            <a:ext cx="10698480" cy="12801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l">
              <a:lnSpc>
                <a:spcPct val="115000"/>
              </a:lnSpc>
              <a:spcAft>
                <a:spcPts val="800"/>
              </a:spcAft>
              <a:defRPr sz="2200" b="0">
                <a:solidFill>
                  <a:srgbClr val="B0B8C9"/>
                </a:solidFill>
              </a:defRPr>
            </a:pPr>
            <a:r>
              <a:t>Mock interview questions, Meta style</a:t>
            </a:r>
          </a:p>
        </p:txBody>
      </p:sp>
    </p:spTree>
  </p:cSld>
  <p:clrMapOvr>
    <a:masterClrMapping/>
  </p:clrMapOvr>
</p:sld>
</file>

<file path=ppt/slides/slide2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731520" y="457200"/>
            <a:ext cx="10698480" cy="109728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l">
              <a:lnSpc>
                <a:spcPct val="115000"/>
              </a:lnSpc>
              <a:spcAft>
                <a:spcPts val="800"/>
              </a:spcAft>
              <a:defRPr sz="3200" b="1">
                <a:solidFill>
                  <a:srgbClr val="1C1E21"/>
                </a:solidFill>
              </a:defRPr>
            </a:pPr>
            <a:r>
              <a:t>How Meta interviews data scientists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731520" y="1508760"/>
            <a:ext cx="10698480" cy="48006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lnSpc>
                <a:spcPct val="120000"/>
              </a:lnSpc>
              <a:spcAft>
                <a:spcPts val="1000"/>
              </a:spcAft>
            </a:pPr>
            <a:r>
              <a:rPr sz="2000" b="1">
                <a:solidFill>
                  <a:srgbClr val="1C1E21"/>
                </a:solidFill>
              </a:rPr>
              <a:t>Four areas: </a:t>
            </a:r>
            <a:r>
              <a:rPr sz="2000">
                <a:solidFill>
                  <a:srgbClr val="1C1E21"/>
                </a:solidFill>
              </a:rPr>
              <a:t>SQL, statistics and experimentation, product sense, coding (Python).</a:t>
            </a:r>
          </a:p>
          <a:p>
            <a:pPr>
              <a:lnSpc>
                <a:spcPct val="120000"/>
              </a:lnSpc>
              <a:spcAft>
                <a:spcPts val="1000"/>
              </a:spcAft>
            </a:pPr>
            <a:r>
              <a:rPr sz="2000" b="1">
                <a:solidFill>
                  <a:srgbClr val="1C1E21"/>
                </a:solidFill>
              </a:rPr>
              <a:t>No LeetCode hard: </a:t>
            </a:r>
            <a:r>
              <a:rPr sz="2000">
                <a:solidFill>
                  <a:srgbClr val="1C1E21"/>
                </a:solidFill>
              </a:rPr>
              <a:t>we test how you think with data, not how fast you invert a binary tree.</a:t>
            </a:r>
          </a:p>
          <a:p>
            <a:pPr>
              <a:lnSpc>
                <a:spcPct val="120000"/>
              </a:lnSpc>
              <a:spcAft>
                <a:spcPts val="1000"/>
              </a:spcAft>
            </a:pPr>
            <a:r>
              <a:rPr sz="2000" b="1">
                <a:solidFill>
                  <a:srgbClr val="1C1E21"/>
                </a:solidFill>
              </a:rPr>
              <a:t>Format: </a:t>
            </a:r>
            <a:r>
              <a:rPr sz="2000">
                <a:solidFill>
                  <a:srgbClr val="1C1E21"/>
                </a:solidFill>
              </a:rPr>
              <a:t>45 minutes each, collaborative. Narrate your thinking out loud.</a:t>
            </a:r>
          </a:p>
          <a:p>
            <a:pPr>
              <a:lnSpc>
                <a:spcPct val="120000"/>
              </a:lnSpc>
              <a:spcAft>
                <a:spcPts val="1000"/>
              </a:spcAft>
            </a:pPr>
            <a:r>
              <a:rPr sz="2000" b="1">
                <a:solidFill>
                  <a:srgbClr val="1C1E21"/>
                </a:solidFill>
              </a:rPr>
              <a:t>Every question below: </a:t>
            </a:r>
            <a:r>
              <a:rPr sz="2000">
                <a:solidFill>
                  <a:srgbClr val="1C1E21"/>
                </a:solidFill>
              </a:rPr>
              <a:t>maps to a case study from tonight. You have already done the reps.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457200" y="6446520"/>
            <a:ext cx="11274552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>
              <a:defRPr sz="1000">
                <a:solidFill>
                  <a:srgbClr val="656B74"/>
                </a:solidFill>
              </a:defRPr>
            </a:pPr>
            <a:r>
              <a:t>DISC x Meta - Oct 1, 2026  |  Fake data, real questions</a:t>
            </a:r>
          </a:p>
        </p:txBody>
      </p:sp>
    </p:spTree>
  </p:cSld>
  <p:clrMapOvr>
    <a:masterClrMapping/>
  </p:clrMapOvr>
</p:sld>
</file>

<file path=ppt/slides/slide28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731520" y="457200"/>
            <a:ext cx="10698480" cy="109728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l">
              <a:lnSpc>
                <a:spcPct val="115000"/>
              </a:lnSpc>
              <a:spcAft>
                <a:spcPts val="800"/>
              </a:spcAft>
              <a:defRPr sz="3200" b="1">
                <a:solidFill>
                  <a:srgbClr val="1C1E21"/>
                </a:solidFill>
              </a:defRPr>
            </a:pPr>
            <a:r>
              <a:t>Interview tips that actually matter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731520" y="1508760"/>
            <a:ext cx="10698480" cy="48006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lnSpc>
                <a:spcPct val="120000"/>
              </a:lnSpc>
              <a:spcAft>
                <a:spcPts val="1000"/>
              </a:spcAft>
            </a:pPr>
            <a:r>
              <a:rPr sz="2000" b="1">
                <a:solidFill>
                  <a:srgbClr val="1C1E21"/>
                </a:solidFill>
              </a:rPr>
              <a:t>Narrate: </a:t>
            </a:r>
            <a:r>
              <a:rPr sz="2000">
                <a:solidFill>
                  <a:srgbClr val="1C1E21"/>
                </a:solidFill>
              </a:rPr>
              <a:t>silent brilliance does not score. Think out loud.</a:t>
            </a:r>
          </a:p>
          <a:p>
            <a:pPr>
              <a:lnSpc>
                <a:spcPct val="120000"/>
              </a:lnSpc>
              <a:spcAft>
                <a:spcPts val="1000"/>
              </a:spcAft>
            </a:pPr>
            <a:r>
              <a:rPr sz="2000" b="1">
                <a:solidFill>
                  <a:srgbClr val="1C1E21"/>
                </a:solidFill>
              </a:rPr>
              <a:t>Clarify first: </a:t>
            </a:r>
            <a:r>
              <a:rPr sz="2000">
                <a:solidFill>
                  <a:srgbClr val="1C1E21"/>
                </a:solidFill>
              </a:rPr>
              <a:t>define the metric before computing it. Ask what 'active' means.</a:t>
            </a:r>
          </a:p>
          <a:p>
            <a:pPr>
              <a:lnSpc>
                <a:spcPct val="120000"/>
              </a:lnSpc>
              <a:spcAft>
                <a:spcPts val="1000"/>
              </a:spcAft>
            </a:pPr>
            <a:r>
              <a:rPr sz="2000" b="1">
                <a:solidFill>
                  <a:srgbClr val="1C1E21"/>
                </a:solidFill>
              </a:rPr>
              <a:t>Compared to what?: </a:t>
            </a:r>
            <a:r>
              <a:rPr sz="2000">
                <a:solidFill>
                  <a:srgbClr val="1C1E21"/>
                </a:solidFill>
              </a:rPr>
              <a:t>the most powerful question you own. Bring a control.</a:t>
            </a:r>
          </a:p>
          <a:p>
            <a:pPr>
              <a:lnSpc>
                <a:spcPct val="120000"/>
              </a:lnSpc>
              <a:spcAft>
                <a:spcPts val="1000"/>
              </a:spcAft>
            </a:pPr>
            <a:r>
              <a:rPr sz="2000" b="1">
                <a:solidFill>
                  <a:srgbClr val="1C1E21"/>
                </a:solidFill>
              </a:rPr>
              <a:t>Behavioral: </a:t>
            </a:r>
            <a:r>
              <a:rPr sz="2000">
                <a:solidFill>
                  <a:srgbClr val="1C1E21"/>
                </a:solidFill>
              </a:rPr>
              <a:t>have one story ready: "a time data changed my mind." Make it specific.</a:t>
            </a:r>
          </a:p>
          <a:p>
            <a:pPr>
              <a:lnSpc>
                <a:spcPct val="120000"/>
              </a:lnSpc>
              <a:spcAft>
                <a:spcPts val="1000"/>
              </a:spcAft>
            </a:pPr>
            <a:r>
              <a:rPr sz="2000" b="1">
                <a:solidFill>
                  <a:srgbClr val="1C1E21"/>
                </a:solidFill>
              </a:rPr>
              <a:t>Close the loop: </a:t>
            </a:r>
            <a:r>
              <a:rPr sz="2000">
                <a:solidFill>
                  <a:srgbClr val="1C1E21"/>
                </a:solidFill>
              </a:rPr>
              <a:t>end with the recommendation, not the p-value.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457200" y="6446520"/>
            <a:ext cx="11274552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>
              <a:defRPr sz="1000">
                <a:solidFill>
                  <a:srgbClr val="656B74"/>
                </a:solidFill>
              </a:defRPr>
            </a:pPr>
            <a:r>
              <a:t>DISC x Meta - Oct 1, 2026  |  Fake data, real questions</a:t>
            </a:r>
          </a:p>
        </p:txBody>
      </p:sp>
    </p:spTree>
  </p:cSld>
  <p:clrMapOvr>
    <a:masterClrMapping/>
  </p:clrMapOvr>
</p:sld>
</file>

<file path=ppt/slides/slide29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731520" y="320040"/>
            <a:ext cx="10698480" cy="7315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l">
              <a:lnSpc>
                <a:spcPct val="115000"/>
              </a:lnSpc>
              <a:spcAft>
                <a:spcPts val="800"/>
              </a:spcAft>
              <a:defRPr sz="3600" b="1">
                <a:solidFill>
                  <a:srgbClr val="0064E0"/>
                </a:solidFill>
              </a:defRPr>
            </a:pPr>
            <a:r>
              <a:t>Interview Jeopardy 🎯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731520" y="1005840"/>
            <a:ext cx="10698480" cy="5486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l">
              <a:lnSpc>
                <a:spcPct val="115000"/>
              </a:lnSpc>
              <a:spcAft>
                <a:spcPts val="800"/>
              </a:spcAft>
              <a:defRPr sz="2000" b="0">
                <a:solidFill>
                  <a:srgbClr val="1C1E21"/>
                </a:solidFill>
              </a:defRPr>
            </a:pPr>
            <a:r>
              <a:t>Shout a number. Every question maps to a case study from tonight.</a:t>
            </a:r>
          </a:p>
        </p:txBody>
      </p:sp>
      <p:sp>
        <p:nvSpPr>
          <p:cNvPr id="4" name="Rounded Rectangle 3"/>
          <p:cNvSpPr/>
          <p:nvPr/>
        </p:nvSpPr>
        <p:spPr>
          <a:xfrm>
            <a:off x="731520" y="1783080"/>
            <a:ext cx="2514600" cy="1371600"/>
          </a:xfrm>
          <a:prstGeom prst="roundRect">
            <a:avLst/>
          </a:prstGeom>
          <a:solidFill>
            <a:srgbClr val="141A2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>
              <a:lnSpc>
                <a:spcPct val="115000"/>
              </a:lnSpc>
              <a:spcAft>
                <a:spcPts val="200"/>
              </a:spcAft>
              <a:defRPr sz="3000" b="1">
                <a:solidFill>
                  <a:srgbClr val="FFFFFF"/>
                </a:solidFill>
              </a:defRPr>
            </a:pPr>
            <a:r>
              <a:t>1</a:t>
            </a:r>
          </a:p>
          <a:p>
            <a:pPr algn="ctr">
              <a:lnSpc>
                <a:spcPct val="115000"/>
              </a:lnSpc>
              <a:spcAft>
                <a:spcPts val="200"/>
              </a:spcAft>
              <a:defRPr sz="1200" b="1">
                <a:solidFill>
                  <a:srgbClr val="FFFFFF"/>
                </a:solidFill>
              </a:defRPr>
            </a:pPr>
            <a:r>
              <a:t>SQL</a:t>
            </a:r>
          </a:p>
          <a:p>
            <a:pPr algn="ctr">
              <a:lnSpc>
                <a:spcPct val="115000"/>
              </a:lnSpc>
              <a:spcAft>
                <a:spcPts val="200"/>
              </a:spcAft>
              <a:defRPr sz="1200" b="0">
                <a:solidFill>
                  <a:srgbClr val="FFFFFF"/>
                </a:solidFill>
              </a:defRPr>
            </a:pPr>
            <a:r>
              <a:t>success rate per group</a:t>
            </a:r>
          </a:p>
        </p:txBody>
      </p:sp>
      <p:sp>
        <p:nvSpPr>
          <p:cNvPr id="5" name="Rounded Rectangle 4"/>
          <p:cNvSpPr/>
          <p:nvPr/>
        </p:nvSpPr>
        <p:spPr>
          <a:xfrm>
            <a:off x="3383280" y="1783080"/>
            <a:ext cx="2514600" cy="1371600"/>
          </a:xfrm>
          <a:prstGeom prst="roundRect">
            <a:avLst/>
          </a:prstGeom>
          <a:solidFill>
            <a:srgbClr val="141A2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>
              <a:lnSpc>
                <a:spcPct val="115000"/>
              </a:lnSpc>
              <a:spcAft>
                <a:spcPts val="200"/>
              </a:spcAft>
              <a:defRPr sz="3000" b="1">
                <a:solidFill>
                  <a:srgbClr val="FFFFFF"/>
                </a:solidFill>
              </a:defRPr>
            </a:pPr>
            <a:r>
              <a:t>2</a:t>
            </a:r>
          </a:p>
          <a:p>
            <a:pPr algn="ctr">
              <a:lnSpc>
                <a:spcPct val="115000"/>
              </a:lnSpc>
              <a:spcAft>
                <a:spcPts val="200"/>
              </a:spcAft>
              <a:defRPr sz="1200" b="1">
                <a:solidFill>
                  <a:srgbClr val="FFFFFF"/>
                </a:solidFill>
              </a:defRPr>
            </a:pPr>
            <a:r>
              <a:t>SQL</a:t>
            </a:r>
          </a:p>
          <a:p>
            <a:pPr algn="ctr">
              <a:lnSpc>
                <a:spcPct val="115000"/>
              </a:lnSpc>
              <a:spcAft>
                <a:spcPts val="200"/>
              </a:spcAft>
              <a:defRPr sz="1200" b="0">
                <a:solidFill>
                  <a:srgbClr val="FFFFFF"/>
                </a:solidFill>
              </a:defRPr>
            </a:pPr>
            <a:r>
              <a:t>jitter by release x device</a:t>
            </a:r>
          </a:p>
        </p:txBody>
      </p:sp>
      <p:sp>
        <p:nvSpPr>
          <p:cNvPr id="6" name="Rounded Rectangle 5"/>
          <p:cNvSpPr/>
          <p:nvPr/>
        </p:nvSpPr>
        <p:spPr>
          <a:xfrm>
            <a:off x="6035040" y="1783080"/>
            <a:ext cx="2514600" cy="1371600"/>
          </a:xfrm>
          <a:prstGeom prst="roundRect">
            <a:avLst/>
          </a:prstGeom>
          <a:solidFill>
            <a:srgbClr val="141A2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>
              <a:lnSpc>
                <a:spcPct val="115000"/>
              </a:lnSpc>
              <a:spcAft>
                <a:spcPts val="200"/>
              </a:spcAft>
              <a:defRPr sz="3000" b="1">
                <a:solidFill>
                  <a:srgbClr val="FFFFFF"/>
                </a:solidFill>
              </a:defRPr>
            </a:pPr>
            <a:r>
              <a:t>3</a:t>
            </a:r>
          </a:p>
          <a:p>
            <a:pPr algn="ctr">
              <a:lnSpc>
                <a:spcPct val="115000"/>
              </a:lnSpc>
              <a:spcAft>
                <a:spcPts val="200"/>
              </a:spcAft>
              <a:defRPr sz="1200" b="1">
                <a:solidFill>
                  <a:srgbClr val="FFFFFF"/>
                </a:solidFill>
              </a:defRPr>
            </a:pPr>
            <a:r>
              <a:t>STATS</a:t>
            </a:r>
          </a:p>
          <a:p>
            <a:pPr algn="ctr">
              <a:lnSpc>
                <a:spcPct val="115000"/>
              </a:lnSpc>
              <a:spcAft>
                <a:spcPts val="200"/>
              </a:spcAft>
              <a:defRPr sz="1200" b="0">
                <a:solidFill>
                  <a:srgbClr val="FFFFFF"/>
                </a:solidFill>
              </a:defRPr>
            </a:pPr>
            <a:r>
              <a:t>design the 1% holdout</a:t>
            </a:r>
          </a:p>
        </p:txBody>
      </p:sp>
      <p:sp>
        <p:nvSpPr>
          <p:cNvPr id="7" name="Rounded Rectangle 6"/>
          <p:cNvSpPr/>
          <p:nvPr/>
        </p:nvSpPr>
        <p:spPr>
          <a:xfrm>
            <a:off x="8686800" y="1783080"/>
            <a:ext cx="2514600" cy="1371600"/>
          </a:xfrm>
          <a:prstGeom prst="roundRect">
            <a:avLst/>
          </a:prstGeom>
          <a:solidFill>
            <a:srgbClr val="141A2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>
              <a:lnSpc>
                <a:spcPct val="115000"/>
              </a:lnSpc>
              <a:spcAft>
                <a:spcPts val="200"/>
              </a:spcAft>
              <a:defRPr sz="3000" b="1">
                <a:solidFill>
                  <a:srgbClr val="FFFFFF"/>
                </a:solidFill>
              </a:defRPr>
            </a:pPr>
            <a:r>
              <a:t>4</a:t>
            </a:r>
          </a:p>
          <a:p>
            <a:pPr algn="ctr">
              <a:lnSpc>
                <a:spcPct val="115000"/>
              </a:lnSpc>
              <a:spcAft>
                <a:spcPts val="200"/>
              </a:spcAft>
              <a:defRPr sz="1200" b="1">
                <a:solidFill>
                  <a:srgbClr val="FFFFFF"/>
                </a:solidFill>
              </a:defRPr>
            </a:pPr>
            <a:r>
              <a:t>STATS</a:t>
            </a:r>
          </a:p>
          <a:p>
            <a:pPr algn="ctr">
              <a:lnSpc>
                <a:spcPct val="115000"/>
              </a:lnSpc>
              <a:spcAft>
                <a:spcPts val="200"/>
              </a:spcAft>
              <a:defRPr sz="1200" b="0">
                <a:solidFill>
                  <a:srgbClr val="FFFFFF"/>
                </a:solidFill>
              </a:defRPr>
            </a:pPr>
            <a:r>
              <a:t>the peeking trap</a:t>
            </a:r>
          </a:p>
        </p:txBody>
      </p:sp>
      <p:sp>
        <p:nvSpPr>
          <p:cNvPr id="8" name="Rounded Rectangle 7"/>
          <p:cNvSpPr/>
          <p:nvPr/>
        </p:nvSpPr>
        <p:spPr>
          <a:xfrm>
            <a:off x="731520" y="3291839"/>
            <a:ext cx="2514600" cy="1371600"/>
          </a:xfrm>
          <a:prstGeom prst="roundRect">
            <a:avLst/>
          </a:prstGeom>
          <a:solidFill>
            <a:srgbClr val="141A2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>
              <a:lnSpc>
                <a:spcPct val="115000"/>
              </a:lnSpc>
              <a:spcAft>
                <a:spcPts val="200"/>
              </a:spcAft>
              <a:defRPr sz="3000" b="1">
                <a:solidFill>
                  <a:srgbClr val="FFFFFF"/>
                </a:solidFill>
              </a:defRPr>
            </a:pPr>
            <a:r>
              <a:t>5</a:t>
            </a:r>
          </a:p>
          <a:p>
            <a:pPr algn="ctr">
              <a:lnSpc>
                <a:spcPct val="115000"/>
              </a:lnSpc>
              <a:spcAft>
                <a:spcPts val="200"/>
              </a:spcAft>
              <a:defRPr sz="1200" b="1">
                <a:solidFill>
                  <a:srgbClr val="FFFFFF"/>
                </a:solidFill>
              </a:defRPr>
            </a:pPr>
            <a:r>
              <a:t>STATS</a:t>
            </a:r>
          </a:p>
          <a:p>
            <a:pPr algn="ctr">
              <a:lnSpc>
                <a:spcPct val="115000"/>
              </a:lnSpc>
              <a:spcAft>
                <a:spcPts val="200"/>
              </a:spcAft>
              <a:defRPr sz="1200" b="0">
                <a:solidFill>
                  <a:srgbClr val="FFFFFF"/>
                </a:solidFill>
              </a:defRPr>
            </a:pPr>
            <a:r>
              <a:t>Simpson's paradox</a:t>
            </a:r>
          </a:p>
        </p:txBody>
      </p:sp>
      <p:sp>
        <p:nvSpPr>
          <p:cNvPr id="9" name="Rounded Rectangle 8"/>
          <p:cNvSpPr/>
          <p:nvPr/>
        </p:nvSpPr>
        <p:spPr>
          <a:xfrm>
            <a:off x="3383280" y="3291839"/>
            <a:ext cx="2514600" cy="1371600"/>
          </a:xfrm>
          <a:prstGeom prst="roundRect">
            <a:avLst/>
          </a:prstGeom>
          <a:solidFill>
            <a:srgbClr val="141A2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>
              <a:lnSpc>
                <a:spcPct val="115000"/>
              </a:lnSpc>
              <a:spcAft>
                <a:spcPts val="200"/>
              </a:spcAft>
              <a:defRPr sz="3000" b="1">
                <a:solidFill>
                  <a:srgbClr val="FFFFFF"/>
                </a:solidFill>
              </a:defRPr>
            </a:pPr>
            <a:r>
              <a:t>6</a:t>
            </a:r>
          </a:p>
          <a:p>
            <a:pPr algn="ctr">
              <a:lnSpc>
                <a:spcPct val="115000"/>
              </a:lnSpc>
              <a:spcAft>
                <a:spcPts val="200"/>
              </a:spcAft>
              <a:defRPr sz="1200" b="1">
                <a:solidFill>
                  <a:srgbClr val="FFFFFF"/>
                </a:solidFill>
              </a:defRPr>
            </a:pPr>
            <a:r>
              <a:t>PRODUCT</a:t>
            </a:r>
          </a:p>
          <a:p>
            <a:pPr algn="ctr">
              <a:lnSpc>
                <a:spcPct val="115000"/>
              </a:lnSpc>
              <a:spcAft>
                <a:spcPts val="200"/>
              </a:spcAft>
              <a:defRPr sz="1200" b="0">
                <a:solidFill>
                  <a:srgbClr val="FFFFFF"/>
                </a:solidFill>
              </a:defRPr>
            </a:pPr>
            <a:r>
              <a:t>'feels better, ship it?'</a:t>
            </a:r>
          </a:p>
        </p:txBody>
      </p:sp>
      <p:sp>
        <p:nvSpPr>
          <p:cNvPr id="10" name="Rounded Rectangle 9"/>
          <p:cNvSpPr/>
          <p:nvPr/>
        </p:nvSpPr>
        <p:spPr>
          <a:xfrm>
            <a:off x="6035040" y="3291839"/>
            <a:ext cx="2514600" cy="1371600"/>
          </a:xfrm>
          <a:prstGeom prst="roundRect">
            <a:avLst/>
          </a:prstGeom>
          <a:solidFill>
            <a:srgbClr val="141A2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>
              <a:lnSpc>
                <a:spcPct val="115000"/>
              </a:lnSpc>
              <a:spcAft>
                <a:spcPts val="200"/>
              </a:spcAft>
              <a:defRPr sz="3000" b="1">
                <a:solidFill>
                  <a:srgbClr val="FFFFFF"/>
                </a:solidFill>
              </a:defRPr>
            </a:pPr>
            <a:r>
              <a:t>7</a:t>
            </a:r>
          </a:p>
          <a:p>
            <a:pPr algn="ctr">
              <a:lnSpc>
                <a:spcPct val="115000"/>
              </a:lnSpc>
              <a:spcAft>
                <a:spcPts val="200"/>
              </a:spcAft>
              <a:defRPr sz="1200" b="1">
                <a:solidFill>
                  <a:srgbClr val="FFFFFF"/>
                </a:solidFill>
              </a:defRPr>
            </a:pPr>
            <a:r>
              <a:t>PRODUCT</a:t>
            </a:r>
          </a:p>
          <a:p>
            <a:pPr algn="ctr">
              <a:lnSpc>
                <a:spcPct val="115000"/>
              </a:lnSpc>
              <a:spcAft>
                <a:spcPts val="200"/>
              </a:spcAft>
              <a:defRPr sz="1200" b="0">
                <a:solidFill>
                  <a:srgbClr val="FFFFFF"/>
                </a:solidFill>
              </a:defRPr>
            </a:pPr>
            <a:r>
              <a:t>define the success metric</a:t>
            </a:r>
          </a:p>
        </p:txBody>
      </p:sp>
      <p:sp>
        <p:nvSpPr>
          <p:cNvPr id="11" name="Rounded Rectangle 10"/>
          <p:cNvSpPr/>
          <p:nvPr/>
        </p:nvSpPr>
        <p:spPr>
          <a:xfrm>
            <a:off x="8686800" y="3291839"/>
            <a:ext cx="2514600" cy="1371600"/>
          </a:xfrm>
          <a:prstGeom prst="roundRect">
            <a:avLst/>
          </a:prstGeom>
          <a:solidFill>
            <a:srgbClr val="141A2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>
              <a:lnSpc>
                <a:spcPct val="115000"/>
              </a:lnSpc>
              <a:spcAft>
                <a:spcPts val="200"/>
              </a:spcAft>
              <a:defRPr sz="3000" b="1">
                <a:solidFill>
                  <a:srgbClr val="FFFFFF"/>
                </a:solidFill>
              </a:defRPr>
            </a:pPr>
            <a:r>
              <a:t>8</a:t>
            </a:r>
          </a:p>
          <a:p>
            <a:pPr algn="ctr">
              <a:lnSpc>
                <a:spcPct val="115000"/>
              </a:lnSpc>
              <a:spcAft>
                <a:spcPts val="200"/>
              </a:spcAft>
              <a:defRPr sz="1200" b="1">
                <a:solidFill>
                  <a:srgbClr val="FFFFFF"/>
                </a:solidFill>
              </a:defRPr>
            </a:pPr>
            <a:r>
              <a:t>CODING</a:t>
            </a:r>
          </a:p>
          <a:p>
            <a:pPr algn="ctr">
              <a:lnSpc>
                <a:spcPct val="115000"/>
              </a:lnSpc>
              <a:spcAft>
                <a:spcPts val="200"/>
              </a:spcAft>
              <a:defRPr sz="1200" b="0">
                <a:solidFill>
                  <a:srgbClr val="FFFFFF"/>
                </a:solidFill>
              </a:defRPr>
            </a:pPr>
            <a:r>
              <a:t>MPJPE by joint group</a:t>
            </a:r>
          </a:p>
        </p:txBody>
      </p:sp>
      <p:sp>
        <p:nvSpPr>
          <p:cNvPr id="12" name="Rounded Rectangle 11"/>
          <p:cNvSpPr/>
          <p:nvPr/>
        </p:nvSpPr>
        <p:spPr>
          <a:xfrm>
            <a:off x="731520" y="4800600"/>
            <a:ext cx="2514600" cy="1371600"/>
          </a:xfrm>
          <a:prstGeom prst="roundRect">
            <a:avLst/>
          </a:prstGeom>
          <a:solidFill>
            <a:srgbClr val="141A2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>
              <a:lnSpc>
                <a:spcPct val="115000"/>
              </a:lnSpc>
              <a:spcAft>
                <a:spcPts val="200"/>
              </a:spcAft>
              <a:defRPr sz="3000" b="1">
                <a:solidFill>
                  <a:srgbClr val="FFFFFF"/>
                </a:solidFill>
              </a:defRPr>
            </a:pPr>
            <a:r>
              <a:t>9</a:t>
            </a:r>
          </a:p>
          <a:p>
            <a:pPr algn="ctr">
              <a:lnSpc>
                <a:spcPct val="115000"/>
              </a:lnSpc>
              <a:spcAft>
                <a:spcPts val="200"/>
              </a:spcAft>
              <a:defRPr sz="1200" b="1">
                <a:solidFill>
                  <a:srgbClr val="FFFFFF"/>
                </a:solidFill>
              </a:defRPr>
            </a:pPr>
            <a:r>
              <a:t>CODING</a:t>
            </a:r>
          </a:p>
          <a:p>
            <a:pPr algn="ctr">
              <a:lnSpc>
                <a:spcPct val="115000"/>
              </a:lnSpc>
              <a:spcAft>
                <a:spcPts val="200"/>
              </a:spcAft>
              <a:defRPr sz="1200" b="0">
                <a:solidFill>
                  <a:srgbClr val="FFFFFF"/>
                </a:solidFill>
              </a:defRPr>
            </a:pPr>
            <a:r>
              <a:t>stable 1% sampling</a:t>
            </a:r>
          </a:p>
        </p:txBody>
      </p:sp>
      <p:sp>
        <p:nvSpPr>
          <p:cNvPr id="13" name="Rounded Rectangle 12"/>
          <p:cNvSpPr/>
          <p:nvPr/>
        </p:nvSpPr>
        <p:spPr>
          <a:xfrm>
            <a:off x="3383280" y="4800600"/>
            <a:ext cx="2514600" cy="1371600"/>
          </a:xfrm>
          <a:prstGeom prst="roundRect">
            <a:avLst/>
          </a:prstGeom>
          <a:solidFill>
            <a:srgbClr val="141A2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>
              <a:lnSpc>
                <a:spcPct val="115000"/>
              </a:lnSpc>
              <a:spcAft>
                <a:spcPts val="200"/>
              </a:spcAft>
              <a:defRPr sz="3000" b="1">
                <a:solidFill>
                  <a:srgbClr val="FFFFFF"/>
                </a:solidFill>
              </a:defRPr>
            </a:pPr>
            <a:r>
              <a:t>10</a:t>
            </a:r>
          </a:p>
          <a:p>
            <a:pPr algn="ctr">
              <a:lnSpc>
                <a:spcPct val="115000"/>
              </a:lnSpc>
              <a:spcAft>
                <a:spcPts val="200"/>
              </a:spcAft>
              <a:defRPr sz="1200" b="1">
                <a:solidFill>
                  <a:srgbClr val="FFFFFF"/>
                </a:solidFill>
              </a:defRPr>
            </a:pPr>
            <a:r>
              <a:t>ESTIMATION</a:t>
            </a:r>
          </a:p>
          <a:p>
            <a:pPr algn="ctr">
              <a:lnSpc>
                <a:spcPct val="115000"/>
              </a:lnSpc>
              <a:spcAft>
                <a:spcPts val="200"/>
              </a:spcAft>
              <a:defRPr sz="1200" b="0">
                <a:solidFill>
                  <a:srgbClr val="FFFFFF"/>
                </a:solidFill>
              </a:defRPr>
            </a:pPr>
            <a:r>
              <a:t>daily pinches on Quest</a:t>
            </a:r>
          </a:p>
        </p:txBody>
      </p:sp>
      <p:sp>
        <p:nvSpPr>
          <p:cNvPr id="14" name="Rounded Rectangle 13"/>
          <p:cNvSpPr/>
          <p:nvPr/>
        </p:nvSpPr>
        <p:spPr>
          <a:xfrm>
            <a:off x="6035040" y="4800600"/>
            <a:ext cx="2514600" cy="1371600"/>
          </a:xfrm>
          <a:prstGeom prst="roundRect">
            <a:avLst/>
          </a:prstGeom>
          <a:solidFill>
            <a:srgbClr val="141A2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>
              <a:lnSpc>
                <a:spcPct val="115000"/>
              </a:lnSpc>
              <a:spcAft>
                <a:spcPts val="200"/>
              </a:spcAft>
              <a:defRPr sz="3000" b="1">
                <a:solidFill>
                  <a:srgbClr val="FFFFFF"/>
                </a:solidFill>
              </a:defRPr>
            </a:pPr>
            <a:r>
              <a:t>11</a:t>
            </a:r>
          </a:p>
          <a:p>
            <a:pPr algn="ctr">
              <a:lnSpc>
                <a:spcPct val="115000"/>
              </a:lnSpc>
              <a:spcAft>
                <a:spcPts val="200"/>
              </a:spcAft>
              <a:defRPr sz="1200" b="1">
                <a:solidFill>
                  <a:srgbClr val="FFFFFF"/>
                </a:solidFill>
              </a:defRPr>
            </a:pPr>
            <a:r>
              <a:t>COMMUNICATION</a:t>
            </a:r>
          </a:p>
          <a:p>
            <a:pPr algn="ctr">
              <a:lnSpc>
                <a:spcPct val="115000"/>
              </a:lnSpc>
              <a:spcAft>
                <a:spcPts val="200"/>
              </a:spcAft>
              <a:defRPr sz="1200" b="0">
                <a:solidFill>
                  <a:srgbClr val="FFFFFF"/>
                </a:solidFill>
              </a:defRPr>
            </a:pPr>
            <a:r>
              <a:t>fix the AI readout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457200" y="6446520"/>
            <a:ext cx="11274552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>
              <a:defRPr sz="1000">
                <a:solidFill>
                  <a:srgbClr val="656B74"/>
                </a:solidFill>
              </a:defRPr>
            </a:pPr>
            <a:r>
              <a:t>DISC x Meta - Oct 1, 2026  |  Fake data, real questions</a:t>
            </a:r>
          </a:p>
        </p:txBody>
      </p:sp>
    </p:spTree>
  </p:cSld>
  <p:clrMapOvr>
    <a:masterClrMapping/>
  </p:clrMapOvr>
</p:sld>
</file>

<file path=ppt/slides/slide30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731520" y="457200"/>
            <a:ext cx="10698480" cy="7315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l">
              <a:lnSpc>
                <a:spcPct val="115000"/>
              </a:lnSpc>
              <a:spcAft>
                <a:spcPts val="800"/>
              </a:spcAft>
              <a:defRPr sz="2800" b="1">
                <a:solidFill>
                  <a:srgbClr val="0064E0"/>
                </a:solidFill>
              </a:defRPr>
            </a:pPr>
            <a:r>
              <a:t>Interview Q1: SQL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731520" y="1188720"/>
            <a:ext cx="10698480" cy="12801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lnSpc>
                <a:spcPct val="115000"/>
              </a:lnSpc>
              <a:spcAft>
                <a:spcPts val="800"/>
              </a:spcAft>
              <a:defRPr sz="2400" b="0">
                <a:solidFill>
                  <a:srgbClr val="1C1E21"/>
                </a:solidFill>
              </a:defRPr>
            </a:pPr>
            <a:r>
              <a:t>"From an attempt-level log of the holdout test, compute gesture success rate per group."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731520" y="2651760"/>
            <a:ext cx="10698480" cy="5486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l">
              <a:lnSpc>
                <a:spcPct val="115000"/>
              </a:lnSpc>
              <a:spcAft>
                <a:spcPts val="800"/>
              </a:spcAft>
              <a:defRPr sz="2000" b="1">
                <a:solidFill>
                  <a:srgbClr val="1C1E21"/>
                </a:solidFill>
              </a:defRPr>
            </a:pPr>
            <a:r>
              <a:t>What good looks like: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731520" y="3200400"/>
            <a:ext cx="10698480" cy="31089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lnSpc>
                <a:spcPct val="115000"/>
              </a:lnSpc>
              <a:spcAft>
                <a:spcPts val="800"/>
              </a:spcAft>
              <a:defRPr sz="1800" b="0">
                <a:solidFill>
                  <a:srgbClr val="1C1E21"/>
                </a:solidFill>
              </a:defRPr>
            </a:pPr>
            <a:r>
              <a:t>•  Name the grain first: one row per gesture attempt, then aggregate.</a:t>
            </a:r>
          </a:p>
          <a:p>
            <a:pPr algn="l">
              <a:lnSpc>
                <a:spcPct val="115000"/>
              </a:lnSpc>
              <a:spcAft>
                <a:spcPts val="800"/>
              </a:spcAft>
              <a:defRPr sz="1800" b="0">
                <a:solidFill>
                  <a:srgbClr val="1C1E21"/>
                </a:solidFill>
              </a:defRPr>
            </a:pPr>
            <a:r>
              <a:t>•  SUM(successes) / SUM(attempts) by group. Say how you would handle late-arriving events.</a:t>
            </a:r>
          </a:p>
          <a:p>
            <a:pPr algn="l">
              <a:lnSpc>
                <a:spcPct val="115000"/>
              </a:lnSpc>
              <a:spcAft>
                <a:spcPts val="800"/>
              </a:spcAft>
              <a:defRPr sz="1800" b="0">
                <a:solidFill>
                  <a:srgbClr val="1C1E21"/>
                </a:solidFill>
              </a:defRPr>
            </a:pPr>
            <a:r>
              <a:t>•  Strong answers ask what counts as an attempt before writing SELECT.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457200" y="6446520"/>
            <a:ext cx="11274552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>
              <a:defRPr sz="1000">
                <a:solidFill>
                  <a:srgbClr val="656B74"/>
                </a:solidFill>
              </a:defRPr>
            </a:pPr>
            <a:r>
              <a:t>DISC x Meta - Oct 1, 2026  |  Fake data, real questions</a:t>
            </a:r>
          </a:p>
        </p:txBody>
      </p:sp>
    </p:spTree>
  </p:cSld>
  <p:clrMapOvr>
    <a:masterClrMapping/>
  </p:clrMapOvr>
</p:sld>
</file>

<file path=ppt/slides/slide3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731520" y="457200"/>
            <a:ext cx="10698480" cy="7315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l">
              <a:lnSpc>
                <a:spcPct val="115000"/>
              </a:lnSpc>
              <a:spcAft>
                <a:spcPts val="800"/>
              </a:spcAft>
              <a:defRPr sz="2800" b="1">
                <a:solidFill>
                  <a:srgbClr val="0064E0"/>
                </a:solidFill>
              </a:defRPr>
            </a:pPr>
            <a:r>
              <a:t>Interview Q2: SQL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731520" y="1188720"/>
            <a:ext cx="10698480" cy="12801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lnSpc>
                <a:spcPct val="115000"/>
              </a:lnSpc>
              <a:spcAft>
                <a:spcPts val="800"/>
              </a:spcAft>
              <a:defRPr sz="2400" b="0">
                <a:solidFill>
                  <a:srgbClr val="1C1E21"/>
                </a:solidFill>
              </a:defRPr>
            </a:pPr>
            <a:r>
              <a:t>"For release_perf: mean jitter by release and device, plus median tracking loss."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731520" y="2651760"/>
            <a:ext cx="10698480" cy="5486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l">
              <a:lnSpc>
                <a:spcPct val="115000"/>
              </a:lnSpc>
              <a:spcAft>
                <a:spcPts val="800"/>
              </a:spcAft>
              <a:defRPr sz="2000" b="1">
                <a:solidFill>
                  <a:srgbClr val="1C1E21"/>
                </a:solidFill>
              </a:defRPr>
            </a:pPr>
            <a:r>
              <a:t>What good looks like: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731520" y="3200400"/>
            <a:ext cx="10698480" cy="31089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lnSpc>
                <a:spcPct val="115000"/>
              </a:lnSpc>
              <a:spcAft>
                <a:spcPts val="800"/>
              </a:spcAft>
              <a:defRPr sz="1800" b="0">
                <a:solidFill>
                  <a:srgbClr val="1C1E21"/>
                </a:solidFill>
              </a:defRPr>
            </a:pPr>
            <a:r>
              <a:t>•  GROUP BY release, device. Median needs a percentile function, not AVG.</a:t>
            </a:r>
          </a:p>
          <a:p>
            <a:pPr algn="l">
              <a:lnSpc>
                <a:spcPct val="115000"/>
              </a:lnSpc>
              <a:spcAft>
                <a:spcPts val="800"/>
              </a:spcAft>
              <a:defRPr sz="1800" b="0">
                <a:solidFill>
                  <a:srgbClr val="1C1E21"/>
                </a:solidFill>
              </a:defRPr>
            </a:pPr>
            <a:r>
              <a:t>•  Flag the small-cell problem: suppress or annotate tiny groups.</a:t>
            </a:r>
          </a:p>
          <a:p>
            <a:pPr algn="l">
              <a:lnSpc>
                <a:spcPct val="115000"/>
              </a:lnSpc>
              <a:spcAft>
                <a:spcPts val="800"/>
              </a:spcAft>
              <a:defRPr sz="1800" b="0">
                <a:solidFill>
                  <a:srgbClr val="1C1E21"/>
                </a:solidFill>
              </a:defRPr>
            </a:pPr>
            <a:r>
              <a:t>•  Bonus: week-over-week change with window functions.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457200" y="6446520"/>
            <a:ext cx="11274552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>
              <a:defRPr sz="1000">
                <a:solidFill>
                  <a:srgbClr val="656B74"/>
                </a:solidFill>
              </a:defRPr>
            </a:pPr>
            <a:r>
              <a:t>DISC x Meta - Oct 1, 2026  |  Fake data, real questions</a:t>
            </a:r>
          </a:p>
        </p:txBody>
      </p:sp>
    </p:spTree>
  </p:cSld>
  <p:clrMapOvr>
    <a:masterClrMapping/>
  </p:clrMapOvr>
</p:sld>
</file>

<file path=ppt/slides/slide3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731520" y="457200"/>
            <a:ext cx="10698480" cy="7315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l">
              <a:lnSpc>
                <a:spcPct val="115000"/>
              </a:lnSpc>
              <a:spcAft>
                <a:spcPts val="800"/>
              </a:spcAft>
              <a:defRPr sz="2800" b="1">
                <a:solidFill>
                  <a:srgbClr val="0064E0"/>
                </a:solidFill>
              </a:defRPr>
            </a:pPr>
            <a:r>
              <a:t>Interview Q3: Experiment design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731520" y="1188720"/>
            <a:ext cx="10698480" cy="12801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lnSpc>
                <a:spcPct val="115000"/>
              </a:lnSpc>
              <a:spcAft>
                <a:spcPts val="800"/>
              </a:spcAft>
              <a:defRPr sz="2400" b="0">
                <a:solidFill>
                  <a:srgbClr val="1C1E21"/>
                </a:solidFill>
              </a:defRPr>
            </a:pPr>
            <a:r>
              <a:t>"Design the 1% holdout for the next hand-tracking model."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731520" y="2651760"/>
            <a:ext cx="10698480" cy="5486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l">
              <a:lnSpc>
                <a:spcPct val="115000"/>
              </a:lnSpc>
              <a:spcAft>
                <a:spcPts val="800"/>
              </a:spcAft>
              <a:defRPr sz="2000" b="1">
                <a:solidFill>
                  <a:srgbClr val="1C1E21"/>
                </a:solidFill>
              </a:defRPr>
            </a:pPr>
            <a:r>
              <a:t>What good looks like: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731520" y="3200400"/>
            <a:ext cx="10698480" cy="31089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lnSpc>
                <a:spcPct val="115000"/>
              </a:lnSpc>
              <a:spcAft>
                <a:spcPts val="800"/>
              </a:spcAft>
              <a:defRPr sz="1800" b="0">
                <a:solidFill>
                  <a:srgbClr val="1C1E21"/>
                </a:solidFill>
              </a:defRPr>
            </a:pPr>
            <a:r>
              <a:t>•  Randomization unit: user, not session (avoid interference across sessions).</a:t>
            </a:r>
          </a:p>
          <a:p>
            <a:pPr algn="l">
              <a:lnSpc>
                <a:spcPct val="115000"/>
              </a:lnSpc>
              <a:spcAft>
                <a:spcPts val="800"/>
              </a:spcAft>
              <a:defRPr sz="1800" b="0">
                <a:solidFill>
                  <a:srgbClr val="1C1E21"/>
                </a:solidFill>
              </a:defRPr>
            </a:pPr>
            <a:r>
              <a:t>•  Primary metric: gesture success rate. Guardrails: crash rate, latency, pinch false positives.</a:t>
            </a:r>
          </a:p>
          <a:p>
            <a:pPr algn="l">
              <a:lnSpc>
                <a:spcPct val="115000"/>
              </a:lnSpc>
              <a:spcAft>
                <a:spcPts val="800"/>
              </a:spcAft>
              <a:defRPr sz="1800" b="0">
                <a:solidFill>
                  <a:srgbClr val="1C1E21"/>
                </a:solidFill>
              </a:defRPr>
            </a:pPr>
            <a:r>
              <a:t>•  Runtime comes from a power calculation, not a feeling.</a:t>
            </a:r>
          </a:p>
          <a:p>
            <a:pPr algn="l">
              <a:lnSpc>
                <a:spcPct val="115000"/>
              </a:lnSpc>
              <a:spcAft>
                <a:spcPts val="800"/>
              </a:spcAft>
              <a:defRPr sz="1800" b="0">
                <a:solidFill>
                  <a:srgbClr val="1C1E21"/>
                </a:solidFill>
              </a:defRPr>
            </a:pPr>
            <a:r>
              <a:t>•  Name the novelty effect: re-measure after week 2.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457200" y="6446520"/>
            <a:ext cx="11274552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>
              <a:defRPr sz="1000">
                <a:solidFill>
                  <a:srgbClr val="656B74"/>
                </a:solidFill>
              </a:defRPr>
            </a:pPr>
            <a:r>
              <a:t>DISC x Meta - Oct 1, 2026  |  Fake data, real questions</a:t>
            </a:r>
          </a:p>
        </p:txBody>
      </p:sp>
    </p:spTree>
  </p:cSld>
  <p:clrMapOvr>
    <a:masterClrMapping/>
  </p:clrMapOvr>
</p:sld>
</file>

<file path=ppt/slides/slide3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731520" y="457200"/>
            <a:ext cx="10698480" cy="7315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l">
              <a:lnSpc>
                <a:spcPct val="115000"/>
              </a:lnSpc>
              <a:spcAft>
                <a:spcPts val="800"/>
              </a:spcAft>
              <a:defRPr sz="2800" b="1">
                <a:solidFill>
                  <a:srgbClr val="0064E0"/>
                </a:solidFill>
              </a:defRPr>
            </a:pPr>
            <a:r>
              <a:t>Interview Q4: Statistics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731520" y="1188720"/>
            <a:ext cx="10698480" cy="12801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lnSpc>
                <a:spcPct val="115000"/>
              </a:lnSpc>
              <a:spcAft>
                <a:spcPts val="800"/>
              </a:spcAft>
              <a:defRPr sz="2400" b="0">
                <a:solidFill>
                  <a:srgbClr val="1C1E21"/>
                </a:solidFill>
              </a:defRPr>
            </a:pPr>
            <a:r>
              <a:t>"You watch the holdout dashboard daily and ship the moment p &lt; 0.05. What is wrong?"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731520" y="2651760"/>
            <a:ext cx="10698480" cy="5486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l">
              <a:lnSpc>
                <a:spcPct val="115000"/>
              </a:lnSpc>
              <a:spcAft>
                <a:spcPts val="800"/>
              </a:spcAft>
              <a:defRPr sz="2000" b="1">
                <a:solidFill>
                  <a:srgbClr val="1C1E21"/>
                </a:solidFill>
              </a:defRPr>
            </a:pPr>
            <a:r>
              <a:t>What good looks like: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731520" y="3200400"/>
            <a:ext cx="10698480" cy="31089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lnSpc>
                <a:spcPct val="115000"/>
              </a:lnSpc>
              <a:spcAft>
                <a:spcPts val="800"/>
              </a:spcAft>
              <a:defRPr sz="1800" b="0">
                <a:solidFill>
                  <a:srgbClr val="1C1E21"/>
                </a:solidFill>
              </a:defRPr>
            </a:pPr>
            <a:r>
              <a:t>•  Peeking inflates the false positive rate: with enough looks, everything is significant.</a:t>
            </a:r>
          </a:p>
          <a:p>
            <a:pPr algn="l">
              <a:lnSpc>
                <a:spcPct val="115000"/>
              </a:lnSpc>
              <a:spcAft>
                <a:spcPts val="800"/>
              </a:spcAft>
              <a:defRPr sz="1800" b="0">
                <a:solidFill>
                  <a:srgbClr val="1C1E21"/>
                </a:solidFill>
              </a:defRPr>
            </a:pPr>
            <a:r>
              <a:t>•  Fix: pre-register the runtime from a power calculation, or use sequential testing.</a:t>
            </a:r>
          </a:p>
          <a:p>
            <a:pPr algn="l">
              <a:lnSpc>
                <a:spcPct val="115000"/>
              </a:lnSpc>
              <a:spcAft>
                <a:spcPts val="800"/>
              </a:spcAft>
              <a:defRPr sz="1800" b="0">
                <a:solidFill>
                  <a:srgbClr val="1C1E21"/>
                </a:solidFill>
              </a:defRPr>
            </a:pPr>
            <a:r>
              <a:t>•  The most common junior mistake in experimentation. Name it confidently.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457200" y="6446520"/>
            <a:ext cx="11274552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>
              <a:defRPr sz="1000">
                <a:solidFill>
                  <a:srgbClr val="656B74"/>
                </a:solidFill>
              </a:defRPr>
            </a:pPr>
            <a:r>
              <a:t>DISC x Meta - Oct 1, 2026  |  Fake data, real questions</a:t>
            </a:r>
          </a:p>
        </p:txBody>
      </p:sp>
    </p:spTree>
  </p:cSld>
  <p:clrMapOvr>
    <a:masterClrMapping/>
  </p:clrMapOvr>
</p:sld>
</file>

<file path=ppt/slides/slide3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731520" y="457200"/>
            <a:ext cx="10698480" cy="7315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l">
              <a:lnSpc>
                <a:spcPct val="115000"/>
              </a:lnSpc>
              <a:spcAft>
                <a:spcPts val="800"/>
              </a:spcAft>
              <a:defRPr sz="2800" b="1">
                <a:solidFill>
                  <a:srgbClr val="0064E0"/>
                </a:solidFill>
              </a:defRPr>
            </a:pPr>
            <a:r>
              <a:t>Interview Q5: Statistics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731520" y="1188720"/>
            <a:ext cx="10698480" cy="12801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lnSpc>
                <a:spcPct val="115000"/>
              </a:lnSpc>
              <a:spcAft>
                <a:spcPts val="800"/>
              </a:spcAft>
              <a:defRPr sz="2400" b="0">
                <a:solidFill>
                  <a:srgbClr val="1C1E21"/>
                </a:solidFill>
              </a:defRPr>
            </a:pPr>
            <a:r>
              <a:t>"Overall jitter rose only +21% in v69, but Quest 3S regressed +44%. Explain the gap."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731520" y="2651760"/>
            <a:ext cx="10698480" cy="5486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l">
              <a:lnSpc>
                <a:spcPct val="115000"/>
              </a:lnSpc>
              <a:spcAft>
                <a:spcPts val="800"/>
              </a:spcAft>
              <a:defRPr sz="2000" b="1">
                <a:solidFill>
                  <a:srgbClr val="1C1E21"/>
                </a:solidFill>
              </a:defRPr>
            </a:pPr>
            <a:r>
              <a:t>What good looks like: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731520" y="3200400"/>
            <a:ext cx="10698480" cy="31089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lnSpc>
                <a:spcPct val="115000"/>
              </a:lnSpc>
              <a:spcAft>
                <a:spcPts val="800"/>
              </a:spcAft>
              <a:defRPr sz="1800" b="0">
                <a:solidFill>
                  <a:srgbClr val="1C1E21"/>
                </a:solidFill>
              </a:defRPr>
            </a:pPr>
            <a:r>
              <a:t>•  Aggregation hid it: the flat Quest 3 majority diluted the 3S regression in the headline average.</a:t>
            </a:r>
          </a:p>
          <a:p>
            <a:pPr algn="l">
              <a:lnSpc>
                <a:spcPct val="115000"/>
              </a:lnSpc>
              <a:spcAft>
                <a:spcPts val="800"/>
              </a:spcAft>
              <a:defRPr sz="1800" b="0">
                <a:solidFill>
                  <a:srgbClr val="1C1E21"/>
                </a:solidFill>
              </a:defRPr>
            </a:pPr>
            <a:r>
              <a:t>•  Stratify by device before concluding anything: 3S 2.09 -&gt; 3.01 mm, Quest 3 flat near 2.1.</a:t>
            </a:r>
          </a:p>
          <a:p>
            <a:pPr algn="l">
              <a:lnSpc>
                <a:spcPct val="115000"/>
              </a:lnSpc>
              <a:spcAft>
                <a:spcPts val="800"/>
              </a:spcAft>
              <a:defRPr sz="1800" b="0">
                <a:solidFill>
                  <a:srgbClr val="1C1E21"/>
                </a:solidFill>
              </a:defRPr>
            </a:pPr>
            <a:r>
              <a:t>•  This is the mild form of Simpson's paradox. The extreme form: the overall trend reverses inside every subgroup.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457200" y="6446520"/>
            <a:ext cx="11274552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>
              <a:defRPr sz="1000">
                <a:solidFill>
                  <a:srgbClr val="656B74"/>
                </a:solidFill>
              </a:defRPr>
            </a:pPr>
            <a:r>
              <a:t>DISC x Meta - Oct 1, 2026  |  Fake data, real questions</a:t>
            </a:r>
          </a:p>
        </p:txBody>
      </p:sp>
    </p:spTree>
  </p:cSld>
  <p:clrMapOvr>
    <a:masterClrMapping/>
  </p:clrMapOvr>
</p:sld>
</file>

<file path=ppt/slides/slide3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731520" y="457200"/>
            <a:ext cx="10698480" cy="109728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l">
              <a:lnSpc>
                <a:spcPct val="115000"/>
              </a:lnSpc>
              <a:spcAft>
                <a:spcPts val="800"/>
              </a:spcAft>
              <a:defRPr sz="3200" b="1">
                <a:solidFill>
                  <a:srgbClr val="1C1E21"/>
                </a:solidFill>
              </a:defRPr>
            </a:pPr>
            <a:r>
              <a:t>Simpson's paradox in 30 seconds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731520" y="1508760"/>
            <a:ext cx="10698480" cy="48006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lnSpc>
                <a:spcPct val="120000"/>
              </a:lnSpc>
              <a:spcAft>
                <a:spcPts val="1000"/>
              </a:spcAft>
            </a:pPr>
            <a:r>
              <a:rPr sz="2000" b="1">
                <a:solidFill>
                  <a:srgbClr val="1C1E21"/>
                </a:solidFill>
              </a:rPr>
              <a:t>The idea: </a:t>
            </a:r>
            <a:r>
              <a:rPr sz="2000">
                <a:solidFill>
                  <a:srgbClr val="1C1E21"/>
                </a:solidFill>
              </a:rPr>
              <a:t>a trend in the headline number disappears, or even reverses, inside every subgroup. Both readings are correct arithmetic; they answer different questions.</a:t>
            </a:r>
          </a:p>
          <a:p>
            <a:pPr>
              <a:lnSpc>
                <a:spcPct val="120000"/>
              </a:lnSpc>
              <a:spcAft>
                <a:spcPts val="1000"/>
              </a:spcAft>
            </a:pPr>
            <a:r>
              <a:rPr sz="2000" b="1">
                <a:solidFill>
                  <a:srgbClr val="1C1E21"/>
                </a:solidFill>
              </a:rPr>
              <a:t>Why it happens: </a:t>
            </a:r>
            <a:r>
              <a:rPr sz="2000">
                <a:solidFill>
                  <a:srgbClr val="1C1E21"/>
                </a:solidFill>
              </a:rPr>
              <a:t>the overall average is weighted by subgroup mix. A big flat subgroup dilutes a real regression in a smaller one, and a shifting mix can move the average all by itself.</a:t>
            </a:r>
          </a:p>
          <a:p>
            <a:pPr>
              <a:lnSpc>
                <a:spcPct val="120000"/>
              </a:lnSpc>
              <a:spcAft>
                <a:spcPts val="1000"/>
              </a:spcAft>
            </a:pPr>
            <a:r>
              <a:rPr sz="2000" b="1">
                <a:solidFill>
                  <a:srgbClr val="1C1E21"/>
                </a:solidFill>
              </a:rPr>
              <a:t>Your data, v69: </a:t>
            </a:r>
            <a:r>
              <a:rPr sz="2000">
                <a:solidFill>
                  <a:srgbClr val="1C1E21"/>
                </a:solidFill>
              </a:rPr>
              <a:t>headline jitter +21% (2.09 -&gt; 2.53 mm). Quest 3S: +44% (2.09 -&gt; 3.01). Quest 3: flat near 2.1. The flat majority diluted the real regression.</a:t>
            </a:r>
          </a:p>
          <a:p>
            <a:pPr>
              <a:lnSpc>
                <a:spcPct val="120000"/>
              </a:lnSpc>
              <a:spcAft>
                <a:spcPts val="1000"/>
              </a:spcAft>
            </a:pPr>
            <a:r>
              <a:rPr sz="2000" b="1">
                <a:solidFill>
                  <a:srgbClr val="1C1E21"/>
                </a:solidFill>
              </a:rPr>
              <a:t>The rule: </a:t>
            </a:r>
            <a:r>
              <a:rPr sz="2000">
                <a:solidFill>
                  <a:srgbClr val="1C1E21"/>
                </a:solidFill>
              </a:rPr>
              <a:t>always cut the headline metric by the big segments before concluding anything. The segment cut is the whole of case study 3.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457200" y="6446520"/>
            <a:ext cx="11274552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>
              <a:defRPr sz="1000">
                <a:solidFill>
                  <a:srgbClr val="656B74"/>
                </a:solidFill>
              </a:defRPr>
            </a:pPr>
            <a:r>
              <a:t>DISC x Meta - Oct 1, 2026  |  Fake data, real questions</a:t>
            </a:r>
          </a:p>
        </p:txBody>
      </p:sp>
    </p:spTree>
  </p:cSld>
  <p:clrMapOvr>
    <a:masterClrMapping/>
  </p:clrMapOvr>
</p:sld>
</file>

<file path=ppt/slides/slide3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731520" y="457200"/>
            <a:ext cx="10698480" cy="7315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l">
              <a:lnSpc>
                <a:spcPct val="115000"/>
              </a:lnSpc>
              <a:spcAft>
                <a:spcPts val="800"/>
              </a:spcAft>
              <a:defRPr sz="2800" b="1">
                <a:solidFill>
                  <a:srgbClr val="0064E0"/>
                </a:solidFill>
              </a:defRPr>
            </a:pPr>
            <a:r>
              <a:t>Interview Q6: Product sense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731520" y="1188720"/>
            <a:ext cx="10698480" cy="12801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lnSpc>
                <a:spcPct val="115000"/>
              </a:lnSpc>
              <a:spcAft>
                <a:spcPts val="800"/>
              </a:spcAft>
              <a:defRPr sz="2400" b="0">
                <a:solidFill>
                  <a:srgbClr val="1C1E21"/>
                </a:solidFill>
              </a:defRPr>
            </a:pPr>
            <a:r>
              <a:t>"Your PM says HT-v2 feels better and wants to ship. What evidence do you need?"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731520" y="2651760"/>
            <a:ext cx="10698480" cy="5486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l">
              <a:lnSpc>
                <a:spcPct val="115000"/>
              </a:lnSpc>
              <a:spcAft>
                <a:spcPts val="800"/>
              </a:spcAft>
              <a:defRPr sz="2000" b="1">
                <a:solidFill>
                  <a:srgbClr val="1C1E21"/>
                </a:solidFill>
              </a:defRPr>
            </a:pPr>
            <a:r>
              <a:t>What good looks like: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731520" y="3200400"/>
            <a:ext cx="10698480" cy="31089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lnSpc>
                <a:spcPct val="115000"/>
              </a:lnSpc>
              <a:spcAft>
                <a:spcPts val="800"/>
              </a:spcAft>
              <a:defRPr sz="1800" b="0">
                <a:solidFill>
                  <a:srgbClr val="1C1E21"/>
                </a:solidFill>
              </a:defRPr>
            </a:pPr>
            <a:r>
              <a:t>•  A defined primary metric and a control group, not a feeling.</a:t>
            </a:r>
          </a:p>
          <a:p>
            <a:pPr algn="l">
              <a:lnSpc>
                <a:spcPct val="115000"/>
              </a:lnSpc>
              <a:spcAft>
                <a:spcPts val="800"/>
              </a:spcAft>
              <a:defRPr sz="1800" b="0">
                <a:solidFill>
                  <a:srgbClr val="1C1E21"/>
                </a:solidFill>
              </a:defRPr>
            </a:pPr>
            <a:r>
              <a:t>•  Guardrails first: what would make you block the rollout?</a:t>
            </a:r>
          </a:p>
          <a:p>
            <a:pPr algn="l">
              <a:lnSpc>
                <a:spcPct val="115000"/>
              </a:lnSpc>
              <a:spcAft>
                <a:spcPts val="800"/>
              </a:spcAft>
              <a:defRPr sz="1800" b="0">
                <a:solidFill>
                  <a:srgbClr val="1C1E21"/>
                </a:solidFill>
              </a:defRPr>
            </a:pPr>
            <a:r>
              <a:t>•  Great answers separate 'the model improved' from 'users are better off.'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457200" y="6446520"/>
            <a:ext cx="11274552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>
              <a:defRPr sz="1000">
                <a:solidFill>
                  <a:srgbClr val="656B74"/>
                </a:solidFill>
              </a:defRPr>
            </a:pPr>
            <a:r>
              <a:t>DISC x Meta - Oct 1, 2026  |  Fake data, real questions</a:t>
            </a:r>
          </a:p>
        </p:txBody>
      </p:sp>
    </p:spTree>
  </p:cSld>
  <p:clrMapOvr>
    <a:masterClrMapping/>
  </p:clrMapOvr>
</p:sld>
</file>

<file path=ppt/slides/slide3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731520" y="457200"/>
            <a:ext cx="10698480" cy="7315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l">
              <a:lnSpc>
                <a:spcPct val="115000"/>
              </a:lnSpc>
              <a:spcAft>
                <a:spcPts val="800"/>
              </a:spcAft>
              <a:defRPr sz="2800" b="1">
                <a:solidFill>
                  <a:srgbClr val="0064E0"/>
                </a:solidFill>
              </a:defRPr>
            </a:pPr>
            <a:r>
              <a:t>Interview Q7: Product sense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731520" y="1188720"/>
            <a:ext cx="10698480" cy="12801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lnSpc>
                <a:spcPct val="115000"/>
              </a:lnSpc>
              <a:spcAft>
                <a:spcPts val="800"/>
              </a:spcAft>
              <a:defRPr sz="2400" b="0">
                <a:solidFill>
                  <a:srgbClr val="1C1E21"/>
                </a:solidFill>
              </a:defRPr>
            </a:pPr>
            <a:r>
              <a:t>"Define the success metric for a hand-tracking model release. What blocks the rollout?"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731520" y="2651760"/>
            <a:ext cx="10698480" cy="5486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l">
              <a:lnSpc>
                <a:spcPct val="115000"/>
              </a:lnSpc>
              <a:spcAft>
                <a:spcPts val="800"/>
              </a:spcAft>
              <a:defRPr sz="2000" b="1">
                <a:solidFill>
                  <a:srgbClr val="1C1E21"/>
                </a:solidFill>
              </a:defRPr>
            </a:pPr>
            <a:r>
              <a:t>What good looks like: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731520" y="3200400"/>
            <a:ext cx="10698480" cy="31089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lnSpc>
                <a:spcPct val="115000"/>
              </a:lnSpc>
              <a:spcAft>
                <a:spcPts val="800"/>
              </a:spcAft>
              <a:defRPr sz="1800" b="0">
                <a:solidFill>
                  <a:srgbClr val="1C1E21"/>
                </a:solidFill>
              </a:defRPr>
            </a:pPr>
            <a:r>
              <a:t>•  Primary: gesture success rate on a holdout. Leading indicator, measurable in two weeks.</a:t>
            </a:r>
          </a:p>
          <a:p>
            <a:pPr algn="l">
              <a:lnSpc>
                <a:spcPct val="115000"/>
              </a:lnSpc>
              <a:spcAft>
                <a:spcPts val="800"/>
              </a:spcAft>
              <a:defRPr sz="1800" b="0">
                <a:solidFill>
                  <a:srgbClr val="1C1E21"/>
                </a:solidFill>
              </a:defRPr>
            </a:pPr>
            <a:r>
              <a:t>•  Blockers: crash regression, latency regression, pinch false-positive spike.</a:t>
            </a:r>
          </a:p>
          <a:p>
            <a:pPr algn="l">
              <a:lnSpc>
                <a:spcPct val="115000"/>
              </a:lnSpc>
              <a:spcAft>
                <a:spcPts val="800"/>
              </a:spcAft>
              <a:defRPr sz="1800" b="0">
                <a:solidFill>
                  <a:srgbClr val="1C1E21"/>
                </a:solidFill>
              </a:defRPr>
            </a:pPr>
            <a:r>
              <a:t>•  Say what you would watch at 100% after the ship decision.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457200" y="6446520"/>
            <a:ext cx="11274552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>
              <a:defRPr sz="1000">
                <a:solidFill>
                  <a:srgbClr val="656B74"/>
                </a:solidFill>
              </a:defRPr>
            </a:pPr>
            <a:r>
              <a:t>DISC x Meta - Oct 1, 2026  |  Fake data, real questions</a:t>
            </a:r>
          </a:p>
        </p:txBody>
      </p:sp>
    </p:spTree>
  </p:cSld>
  <p:clrMapOvr>
    <a:masterClrMapping/>
  </p:clrMapOvr>
</p:sld>
</file>

<file path=ppt/slides/slide38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731520" y="457200"/>
            <a:ext cx="10698480" cy="7315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l">
              <a:lnSpc>
                <a:spcPct val="115000"/>
              </a:lnSpc>
              <a:spcAft>
                <a:spcPts val="800"/>
              </a:spcAft>
              <a:defRPr sz="2800" b="1">
                <a:solidFill>
                  <a:srgbClr val="0064E0"/>
                </a:solidFill>
              </a:defRPr>
            </a:pPr>
            <a:r>
              <a:t>Interview Q8: Coding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731520" y="1188720"/>
            <a:ext cx="10698480" cy="12801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lnSpc>
                <a:spcPct val="115000"/>
              </a:lnSpc>
              <a:spcAft>
                <a:spcPts val="800"/>
              </a:spcAft>
              <a:defRPr sz="2400" b="0">
                <a:solidFill>
                  <a:srgbClr val="1C1E21"/>
                </a:solidFill>
              </a:defRPr>
            </a:pPr>
            <a:r>
              <a:t>"Write a pandas function that turns a joint-location log into MPJPE by joint group."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731520" y="2651760"/>
            <a:ext cx="10698480" cy="5486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l">
              <a:lnSpc>
                <a:spcPct val="115000"/>
              </a:lnSpc>
              <a:spcAft>
                <a:spcPts val="800"/>
              </a:spcAft>
              <a:defRPr sz="2000" b="1">
                <a:solidFill>
                  <a:srgbClr val="1C1E21"/>
                </a:solidFill>
              </a:defRPr>
            </a:pPr>
            <a:r>
              <a:t>What good looks like: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731520" y="3200400"/>
            <a:ext cx="10698480" cy="31089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lnSpc>
                <a:spcPct val="115000"/>
              </a:lnSpc>
              <a:spcAft>
                <a:spcPts val="800"/>
              </a:spcAft>
              <a:defRPr sz="1800" b="0">
                <a:solidFill>
                  <a:srgbClr val="1C1E21"/>
                </a:solidFill>
              </a:defRPr>
            </a:pPr>
            <a:r>
              <a:t>•  Group by joint group, mean the per-joint errors. Vectorized, not loopy.</a:t>
            </a:r>
          </a:p>
          <a:p>
            <a:pPr algn="l">
              <a:lnSpc>
                <a:spcPct val="115000"/>
              </a:lnSpc>
              <a:spcAft>
                <a:spcPts val="800"/>
              </a:spcAft>
              <a:defRPr sz="1800" b="0">
                <a:solidFill>
                  <a:srgbClr val="1C1E21"/>
                </a:solidFill>
              </a:defRPr>
            </a:pPr>
            <a:r>
              <a:t>•  Handle untracked joints (isActive=false): exclude, do not zero-fill.</a:t>
            </a:r>
          </a:p>
          <a:p>
            <a:pPr algn="l">
              <a:lnSpc>
                <a:spcPct val="115000"/>
              </a:lnSpc>
              <a:spcAft>
                <a:spcPts val="800"/>
              </a:spcAft>
              <a:defRPr sz="1800" b="0">
                <a:solidFill>
                  <a:srgbClr val="1C1E21"/>
                </a:solidFill>
              </a:defRPr>
            </a:pPr>
            <a:r>
              <a:t>•  Talk through edge cases before coding: missing joints, duplicated timestamps.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457200" y="6446520"/>
            <a:ext cx="11274552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>
              <a:defRPr sz="1000">
                <a:solidFill>
                  <a:srgbClr val="656B74"/>
                </a:solidFill>
              </a:defRPr>
            </a:pPr>
            <a:r>
              <a:t>DISC x Meta - Oct 1, 2026  |  Fake data, real questions</a:t>
            </a:r>
          </a:p>
        </p:txBody>
      </p:sp>
    </p:spTree>
  </p:cSld>
  <p:clrMapOvr>
    <a:masterClrMapping/>
  </p:clrMapOvr>
</p:sld>
</file>

<file path=ppt/slides/slide39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731520" y="457200"/>
            <a:ext cx="10698480" cy="7315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l">
              <a:lnSpc>
                <a:spcPct val="115000"/>
              </a:lnSpc>
              <a:spcAft>
                <a:spcPts val="800"/>
              </a:spcAft>
              <a:defRPr sz="2800" b="1">
                <a:solidFill>
                  <a:srgbClr val="0064E0"/>
                </a:solidFill>
              </a:defRPr>
            </a:pPr>
            <a:r>
              <a:t>Interview Q9: Coding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731520" y="1188720"/>
            <a:ext cx="10698480" cy="12801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lnSpc>
                <a:spcPct val="115000"/>
              </a:lnSpc>
              <a:spcAft>
                <a:spcPts val="800"/>
              </a:spcAft>
              <a:defRPr sz="2400" b="0">
                <a:solidFill>
                  <a:srgbClr val="1C1E21"/>
                </a:solidFill>
              </a:defRPr>
            </a:pPr>
            <a:r>
              <a:t>"Assign a stable 1% holdout per user id."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731520" y="2651760"/>
            <a:ext cx="10698480" cy="5486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l">
              <a:lnSpc>
                <a:spcPct val="115000"/>
              </a:lnSpc>
              <a:spcAft>
                <a:spcPts val="800"/>
              </a:spcAft>
              <a:defRPr sz="2000" b="1">
                <a:solidFill>
                  <a:srgbClr val="1C1E21"/>
                </a:solidFill>
              </a:defRPr>
            </a:pPr>
            <a:r>
              <a:t>What good looks like: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731520" y="3200400"/>
            <a:ext cx="10698480" cy="31089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lnSpc>
                <a:spcPct val="115000"/>
              </a:lnSpc>
              <a:spcAft>
                <a:spcPts val="800"/>
              </a:spcAft>
              <a:defRPr sz="1800" b="0">
                <a:solidFill>
                  <a:srgbClr val="1C1E21"/>
                </a:solidFill>
              </a:defRPr>
            </a:pPr>
            <a:r>
              <a:t>•  Hash-based sampling on user_id: stable across joins and reruns.</a:t>
            </a:r>
          </a:p>
          <a:p>
            <a:pPr algn="l">
              <a:lnSpc>
                <a:spcPct val="115000"/>
              </a:lnSpc>
              <a:spcAft>
                <a:spcPts val="800"/>
              </a:spcAft>
              <a:defRPr sz="1800" b="0">
                <a:solidFill>
                  <a:srgbClr val="1C1E21"/>
                </a:solidFill>
              </a:defRPr>
            </a:pPr>
            <a:r>
              <a:t>•  Say why bare random() per row is wrong for joins.</a:t>
            </a:r>
          </a:p>
          <a:p>
            <a:pPr algn="l">
              <a:lnSpc>
                <a:spcPct val="115000"/>
              </a:lnSpc>
              <a:spcAft>
                <a:spcPts val="800"/>
              </a:spcAft>
              <a:defRPr sz="1800" b="0">
                <a:solidFill>
                  <a:srgbClr val="1C1E21"/>
                </a:solidFill>
              </a:defRPr>
            </a:pPr>
            <a:r>
              <a:t>•  Mention: the sampling must be independent of the outcome you will study.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457200" y="6446520"/>
            <a:ext cx="11274552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>
              <a:defRPr sz="1000">
                <a:solidFill>
                  <a:srgbClr val="656B74"/>
                </a:solidFill>
              </a:defRPr>
            </a:pPr>
            <a:r>
              <a:t>DISC x Meta - Oct 1, 2026  |  Fake data, real questions</a:t>
            </a:r>
          </a:p>
        </p:txBody>
      </p:sp>
    </p:spTree>
  </p:cSld>
  <p:clrMapOvr>
    <a:masterClrMapping/>
  </p:clrMapOvr>
</p:sld>
</file>

<file path=ppt/slides/slide40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731520" y="457200"/>
            <a:ext cx="10698480" cy="7315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l">
              <a:lnSpc>
                <a:spcPct val="115000"/>
              </a:lnSpc>
              <a:spcAft>
                <a:spcPts val="800"/>
              </a:spcAft>
              <a:defRPr sz="2800" b="1">
                <a:solidFill>
                  <a:srgbClr val="0064E0"/>
                </a:solidFill>
              </a:defRPr>
            </a:pPr>
            <a:r>
              <a:t>Interview Q10: Estimation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731520" y="1188720"/>
            <a:ext cx="10698480" cy="12801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lnSpc>
                <a:spcPct val="115000"/>
              </a:lnSpc>
              <a:spcAft>
                <a:spcPts val="800"/>
              </a:spcAft>
              <a:defRPr sz="2400" b="0">
                <a:solidFill>
                  <a:srgbClr val="1C1E21"/>
                </a:solidFill>
              </a:defRPr>
            </a:pPr>
            <a:r>
              <a:t>"Estimate daily pinch gestures on Quest. Show your work."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731520" y="2651760"/>
            <a:ext cx="10698480" cy="5486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l">
              <a:lnSpc>
                <a:spcPct val="115000"/>
              </a:lnSpc>
              <a:spcAft>
                <a:spcPts val="800"/>
              </a:spcAft>
              <a:defRPr sz="2000" b="1">
                <a:solidFill>
                  <a:srgbClr val="1C1E21"/>
                </a:solidFill>
              </a:defRPr>
            </a:pPr>
            <a:r>
              <a:t>What good looks like: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731520" y="3200400"/>
            <a:ext cx="10698480" cy="31089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lnSpc>
                <a:spcPct val="115000"/>
              </a:lnSpc>
              <a:spcAft>
                <a:spcPts val="800"/>
              </a:spcAft>
              <a:defRPr sz="1800" b="0">
                <a:solidFill>
                  <a:srgbClr val="1C1E21"/>
                </a:solidFill>
              </a:defRPr>
            </a:pPr>
            <a:r>
              <a:t>•  Structure it: headsets in market -&gt; fraction daily active -&gt; fraction using hand tracking -&gt; pinches per session.</a:t>
            </a:r>
          </a:p>
          <a:p>
            <a:pPr algn="l">
              <a:lnSpc>
                <a:spcPct val="115000"/>
              </a:lnSpc>
              <a:spcAft>
                <a:spcPts val="800"/>
              </a:spcAft>
              <a:defRPr sz="1800" b="0">
                <a:solidFill>
                  <a:srgbClr val="1C1E21"/>
                </a:solidFill>
              </a:defRPr>
            </a:pPr>
            <a:r>
              <a:t>•  State every assumption out loud. Round aggressively.</a:t>
            </a:r>
          </a:p>
          <a:p>
            <a:pPr algn="l">
              <a:lnSpc>
                <a:spcPct val="115000"/>
              </a:lnSpc>
              <a:spcAft>
                <a:spcPts val="800"/>
              </a:spcAft>
              <a:defRPr sz="1800" b="0">
                <a:solidFill>
                  <a:srgbClr val="1C1E21"/>
                </a:solidFill>
              </a:defRPr>
            </a:pPr>
            <a:r>
              <a:t>•  Sanity-check the magnitude at the end. The structure matters more than the number.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457200" y="6446520"/>
            <a:ext cx="11274552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>
              <a:defRPr sz="1000">
                <a:solidFill>
                  <a:srgbClr val="656B74"/>
                </a:solidFill>
              </a:defRPr>
            </a:pPr>
            <a:r>
              <a:t>DISC x Meta - Oct 1, 2026  |  Fake data, real questions</a:t>
            </a:r>
          </a:p>
        </p:txBody>
      </p:sp>
    </p:spTree>
  </p:cSld>
  <p:clrMapOvr>
    <a:masterClrMapping/>
  </p:clrMapOvr>
</p:sld>
</file>

<file path=ppt/slides/slide4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731520" y="457200"/>
            <a:ext cx="10698480" cy="7315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l">
              <a:lnSpc>
                <a:spcPct val="115000"/>
              </a:lnSpc>
              <a:spcAft>
                <a:spcPts val="800"/>
              </a:spcAft>
              <a:defRPr sz="2800" b="1">
                <a:solidFill>
                  <a:srgbClr val="0064E0"/>
                </a:solidFill>
              </a:defRPr>
            </a:pPr>
            <a:r>
              <a:t>Interview Q11: Communication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731520" y="1188720"/>
            <a:ext cx="10698480" cy="12801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lnSpc>
                <a:spcPct val="115000"/>
              </a:lnSpc>
              <a:spcAft>
                <a:spcPts val="800"/>
              </a:spcAft>
              <a:defRPr sz="2400" b="0">
                <a:solidFill>
                  <a:srgbClr val="1C1E21"/>
                </a:solidFill>
              </a:defRPr>
            </a:pPr>
            <a:r>
              <a:t>"Your AI assistant drafts the experiment readout: gesture success as a pie chart, Quest 3S jitter as bars with the y-axis starting at 2.0 mm. Five minutes before it goes to leadership. What do you change?"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731520" y="2651760"/>
            <a:ext cx="10698480" cy="5486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l">
              <a:lnSpc>
                <a:spcPct val="115000"/>
              </a:lnSpc>
              <a:spcAft>
                <a:spcPts val="800"/>
              </a:spcAft>
              <a:defRPr sz="2000" b="1">
                <a:solidFill>
                  <a:srgbClr val="1C1E21"/>
                </a:solidFill>
              </a:defRPr>
            </a:pPr>
            <a:r>
              <a:t>What good looks like: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731520" y="3200400"/>
            <a:ext cx="10698480" cy="31089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lnSpc>
                <a:spcPct val="115000"/>
              </a:lnSpc>
              <a:spcAft>
                <a:spcPts val="800"/>
              </a:spcAft>
              <a:defRPr sz="1800" b="0">
                <a:solidFill>
                  <a:srgbClr val="1C1E21"/>
                </a:solidFill>
              </a:defRPr>
            </a:pPr>
            <a:r>
              <a:t>•  Pie -&gt; bars or dots: humans judge angles badly and lengths well (Cleveland and McGill).</a:t>
            </a:r>
          </a:p>
          <a:p>
            <a:pPr algn="l">
              <a:lnSpc>
                <a:spcPct val="115000"/>
              </a:lnSpc>
              <a:spcAft>
                <a:spcPts val="800"/>
              </a:spcAft>
              <a:defRPr sz="1800" b="0">
                <a:solidFill>
                  <a:srgbClr val="1C1E21"/>
                </a:solidFill>
              </a:defRPr>
            </a:pPr>
            <a:r>
              <a:t>•  Un-truncate the y-axis, or annotate it loudly: 2.0 to 3.2 makes a 2.09 -&gt; 3.01 wobble look catastrophic.</a:t>
            </a:r>
          </a:p>
          <a:p>
            <a:pPr algn="l">
              <a:lnSpc>
                <a:spcPct val="115000"/>
              </a:lnSpc>
              <a:spcAft>
                <a:spcPts val="800"/>
              </a:spcAft>
              <a:defRPr sz="1800" b="0">
                <a:solidFill>
                  <a:srgbClr val="1C1E21"/>
                </a:solidFill>
              </a:defRPr>
            </a:pPr>
            <a:r>
              <a:t>•  Title the chart with the takeaway, not the variable name. That is the whole thesis of 'Storytelling with Data', your CIS 310 textbook.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457200" y="6446520"/>
            <a:ext cx="11274552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>
              <a:defRPr sz="1000">
                <a:solidFill>
                  <a:srgbClr val="656B74"/>
                </a:solidFill>
              </a:defRPr>
            </a:pPr>
            <a:r>
              <a:t>DISC x Meta - Oct 1, 2026  |  Fake data, real questions</a:t>
            </a:r>
          </a:p>
        </p:txBody>
      </p:sp>
    </p:spTree>
  </p:cSld>
  <p:clrMapOvr>
    <a:masterClrMapping/>
  </p:clrMapOvr>
</p:sld>
</file>

<file path=ppt/slides/slide4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141A2E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731520" y="2011680"/>
            <a:ext cx="10698480" cy="14630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l">
              <a:lnSpc>
                <a:spcPct val="115000"/>
              </a:lnSpc>
              <a:spcAft>
                <a:spcPts val="800"/>
              </a:spcAft>
              <a:defRPr sz="4400" b="1">
                <a:solidFill>
                  <a:srgbClr val="FFFFFF"/>
                </a:solidFill>
              </a:defRPr>
            </a:pPr>
            <a:r>
              <a:t>If we have time ⏰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731520" y="3291840"/>
            <a:ext cx="10698480" cy="12801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l">
              <a:lnSpc>
                <a:spcPct val="115000"/>
              </a:lnSpc>
              <a:spcAft>
                <a:spcPts val="800"/>
              </a:spcAft>
              <a:defRPr sz="2200" b="0">
                <a:solidFill>
                  <a:srgbClr val="B0B8C9"/>
                </a:solidFill>
              </a:defRPr>
            </a:pPr>
            <a:r>
              <a:t>Classic estimation questions, Meta interview style</a:t>
            </a:r>
          </a:p>
        </p:txBody>
      </p:sp>
    </p:spTree>
  </p:cSld>
  <p:clrMapOvr>
    <a:masterClrMapping/>
  </p:clrMapOvr>
</p:sld>
</file>

<file path=ppt/slides/slide4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731520" y="457200"/>
            <a:ext cx="10698480" cy="109728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l">
              <a:lnSpc>
                <a:spcPct val="115000"/>
              </a:lnSpc>
              <a:spcAft>
                <a:spcPts val="800"/>
              </a:spcAft>
              <a:defRPr sz="3200" b="1">
                <a:solidFill>
                  <a:srgbClr val="1C1E21"/>
                </a:solidFill>
              </a:defRPr>
            </a:pPr>
            <a:r>
              <a:t>Space Junk 🛰️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731520" y="1508760"/>
            <a:ext cx="10698480" cy="48006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lnSpc>
                <a:spcPct val="115000"/>
              </a:lnSpc>
              <a:spcAft>
                <a:spcPts val="800"/>
              </a:spcAft>
              <a:defRPr sz="2000" b="0">
                <a:solidFill>
                  <a:srgbClr val="1C1E21"/>
                </a:solidFill>
              </a:defRPr>
            </a:pPr>
            <a:r>
              <a:t>•  Which is least in danger of getting hit by space junk?</a:t>
            </a:r>
          </a:p>
          <a:p>
            <a:pPr algn="l">
              <a:lnSpc>
                <a:spcPct val="115000"/>
              </a:lnSpc>
              <a:spcAft>
                <a:spcPts val="800"/>
              </a:spcAft>
              <a:defRPr sz="2000" b="0">
                <a:solidFill>
                  <a:srgbClr val="1C1E21"/>
                </a:solidFill>
              </a:defRPr>
            </a:pPr>
            <a:r>
              <a:t>•  GOES weather satellite, GPS satellites, Hubble Space Telescope, the ISS?</a:t>
            </a:r>
          </a:p>
          <a:p>
            <a:pPr>
              <a:lnSpc>
                <a:spcPct val="120000"/>
              </a:lnSpc>
              <a:spcAft>
                <a:spcPts val="1000"/>
              </a:spcAft>
            </a:pPr>
            <a:r>
              <a:rPr sz="2000" b="1">
                <a:solidFill>
                  <a:srgbClr val="1C1E21"/>
                </a:solidFill>
              </a:rPr>
              <a:t>Why I'm asking: </a:t>
            </a:r>
            <a:r>
              <a:rPr sz="2000">
                <a:solidFill>
                  <a:srgbClr val="1C1E21"/>
                </a:solidFill>
              </a:rPr>
              <a:t>Fermi estimation. No data, just structure and orders of magnitude.</a:t>
            </a:r>
          </a:p>
          <a:p>
            <a:pPr>
              <a:lnSpc>
                <a:spcPct val="120000"/>
              </a:lnSpc>
              <a:spcAft>
                <a:spcPts val="1000"/>
              </a:spcAft>
            </a:pPr>
            <a:r>
              <a:rPr sz="2000" b="1">
                <a:solidFill>
                  <a:srgbClr val="1C1E21"/>
                </a:solidFill>
              </a:rPr>
              <a:t>What good looks like: </a:t>
            </a:r>
            <a:r>
              <a:rPr sz="2000">
                <a:solidFill>
                  <a:srgbClr val="1C1E21"/>
                </a:solidFill>
              </a:rPr>
              <a:t>altitude bands, debris density by orbit, cross-sectional area. Show the work, not the answer.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457200" y="6446520"/>
            <a:ext cx="11274552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>
              <a:defRPr sz="1000">
                <a:solidFill>
                  <a:srgbClr val="656B74"/>
                </a:solidFill>
              </a:defRPr>
            </a:pPr>
            <a:r>
              <a:t>DISC x Meta - Oct 1, 2026  |  Fake data, real questions</a:t>
            </a:r>
          </a:p>
        </p:txBody>
      </p:sp>
    </p:spTree>
  </p:cSld>
  <p:clrMapOvr>
    <a:masterClrMapping/>
  </p:clrMapOvr>
</p:sld>
</file>

<file path=ppt/slides/slide4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731520" y="457200"/>
            <a:ext cx="10698480" cy="109728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l">
              <a:lnSpc>
                <a:spcPct val="115000"/>
              </a:lnSpc>
              <a:spcAft>
                <a:spcPts val="800"/>
              </a:spcAft>
              <a:defRPr sz="3200" b="1">
                <a:solidFill>
                  <a:srgbClr val="1C1E21"/>
                </a:solidFill>
              </a:defRPr>
            </a:pPr>
            <a:r>
              <a:t>Biscuits 🍪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731520" y="1508760"/>
            <a:ext cx="10698480" cy="48006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lnSpc>
                <a:spcPct val="115000"/>
              </a:lnSpc>
              <a:spcAft>
                <a:spcPts val="800"/>
              </a:spcAft>
              <a:defRPr sz="2000" b="0">
                <a:solidFill>
                  <a:srgbClr val="1C1E21"/>
                </a:solidFill>
              </a:defRPr>
            </a:pPr>
            <a:r>
              <a:t>•  You need to determine which biscuits are good and which are bad.</a:t>
            </a:r>
          </a:p>
          <a:p>
            <a:pPr algn="l">
              <a:lnSpc>
                <a:spcPct val="115000"/>
              </a:lnSpc>
              <a:spcAft>
                <a:spcPts val="800"/>
              </a:spcAft>
              <a:defRPr sz="2000" b="0">
                <a:solidFill>
                  <a:srgbClr val="1C1E21"/>
                </a:solidFill>
              </a:defRPr>
            </a:pPr>
            <a:r>
              <a:t>•  12 biscuits roll past you every 60 seconds. How would you do it?</a:t>
            </a:r>
          </a:p>
          <a:p>
            <a:pPr>
              <a:lnSpc>
                <a:spcPct val="120000"/>
              </a:lnSpc>
              <a:spcAft>
                <a:spcPts val="1000"/>
              </a:spcAft>
            </a:pPr>
            <a:r>
              <a:rPr sz="2000" b="1">
                <a:solidFill>
                  <a:srgbClr val="1C1E21"/>
                </a:solidFill>
              </a:rPr>
              <a:t>Why I'm asking: </a:t>
            </a:r>
            <a:r>
              <a:rPr sz="2000">
                <a:solidFill>
                  <a:srgbClr val="1C1E21"/>
                </a:solidFill>
              </a:rPr>
              <a:t>sampling and measurement under a rate constraint. This is data quality in the real world.</a:t>
            </a:r>
          </a:p>
          <a:p>
            <a:pPr>
              <a:lnSpc>
                <a:spcPct val="120000"/>
              </a:lnSpc>
              <a:spcAft>
                <a:spcPts val="1000"/>
              </a:spcAft>
            </a:pPr>
            <a:r>
              <a:rPr sz="2000" b="1">
                <a:solidFill>
                  <a:srgbClr val="1C1E21"/>
                </a:solidFill>
              </a:rPr>
              <a:t>What good looks like: </a:t>
            </a:r>
            <a:r>
              <a:rPr sz="2000">
                <a:solidFill>
                  <a:srgbClr val="1C1E21"/>
                </a:solidFill>
              </a:rPr>
              <a:t>sample, don't census. Define 'bad' first. Say how your error rate changes with sample size.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457200" y="6446520"/>
            <a:ext cx="11274552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>
              <a:defRPr sz="1000">
                <a:solidFill>
                  <a:srgbClr val="656B74"/>
                </a:solidFill>
              </a:defRPr>
            </a:pPr>
            <a:r>
              <a:t>DISC x Meta - Oct 1, 2026  |  Fake data, real questions</a:t>
            </a:r>
          </a:p>
        </p:txBody>
      </p:sp>
    </p:spTree>
  </p:cSld>
  <p:clrMapOvr>
    <a:masterClrMapping/>
  </p:clrMapOvr>
</p:sld>
</file>

<file path=ppt/slides/slide4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731520" y="457200"/>
            <a:ext cx="10698480" cy="109728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l">
              <a:lnSpc>
                <a:spcPct val="115000"/>
              </a:lnSpc>
              <a:spcAft>
                <a:spcPts val="800"/>
              </a:spcAft>
              <a:defRPr sz="3200" b="1">
                <a:solidFill>
                  <a:srgbClr val="1C1E21"/>
                </a:solidFill>
              </a:defRPr>
            </a:pPr>
            <a:r>
              <a:t>Music or Movies? 💽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731520" y="1508760"/>
            <a:ext cx="10698480" cy="48006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lnSpc>
                <a:spcPct val="115000"/>
              </a:lnSpc>
              <a:spcAft>
                <a:spcPts val="800"/>
              </a:spcAft>
              <a:defRPr sz="2000" b="0">
                <a:solidFill>
                  <a:srgbClr val="1C1E21"/>
                </a:solidFill>
              </a:defRPr>
            </a:pPr>
            <a:r>
              <a:t>•  Your friend hands you a 2TB hard drive of music and movies.</a:t>
            </a:r>
          </a:p>
          <a:p>
            <a:pPr algn="l">
              <a:lnSpc>
                <a:spcPct val="115000"/>
              </a:lnSpc>
              <a:spcAft>
                <a:spcPts val="800"/>
              </a:spcAft>
              <a:defRPr sz="2000" b="0">
                <a:solidFill>
                  <a:srgbClr val="1C1E21"/>
                </a:solidFill>
              </a:defRPr>
            </a:pPr>
            <a:r>
              <a:t>•  'Summarize it for me.' What analysis would you perform?</a:t>
            </a:r>
          </a:p>
          <a:p>
            <a:pPr>
              <a:lnSpc>
                <a:spcPct val="120000"/>
              </a:lnSpc>
              <a:spcAft>
                <a:spcPts val="1000"/>
              </a:spcAft>
            </a:pPr>
            <a:r>
              <a:rPr sz="2000" b="1">
                <a:solidFill>
                  <a:srgbClr val="1C1E21"/>
                </a:solidFill>
              </a:rPr>
              <a:t>Why I'm asking: </a:t>
            </a:r>
            <a:r>
              <a:rPr sz="2000">
                <a:solidFill>
                  <a:srgbClr val="1C1E21"/>
                </a:solidFill>
              </a:rPr>
              <a:t>exploratory analysis with no question given. The scariest and most common DS situation.</a:t>
            </a:r>
          </a:p>
          <a:p>
            <a:pPr>
              <a:lnSpc>
                <a:spcPct val="120000"/>
              </a:lnSpc>
              <a:spcAft>
                <a:spcPts val="1000"/>
              </a:spcAft>
            </a:pPr>
            <a:r>
              <a:rPr sz="2000" b="1">
                <a:solidFill>
                  <a:srgbClr val="1C1E21"/>
                </a:solidFill>
              </a:rPr>
              <a:t>What good looks like: </a:t>
            </a:r>
            <a:r>
              <a:rPr sz="2000">
                <a:solidFill>
                  <a:srgbClr val="1C1E21"/>
                </a:solidFill>
              </a:rPr>
              <a:t>distributions first (formats, sizes, dates), then the interesting cuts. Ask what 'summarize' means before you start.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457200" y="6446520"/>
            <a:ext cx="11274552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>
              <a:defRPr sz="1000">
                <a:solidFill>
                  <a:srgbClr val="656B74"/>
                </a:solidFill>
              </a:defRPr>
            </a:pPr>
            <a:r>
              <a:t>DISC x Meta - Oct 1, 2026  |  Fake data, real questions</a:t>
            </a:r>
          </a:p>
        </p:txBody>
      </p:sp>
    </p:spTree>
  </p:cSld>
  <p:clrMapOvr>
    <a:masterClrMapping/>
  </p:clrMapOvr>
</p:sld>
</file>

<file path=ppt/slides/slide4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141A2E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731520" y="2011680"/>
            <a:ext cx="10698480" cy="14630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l">
              <a:lnSpc>
                <a:spcPct val="115000"/>
              </a:lnSpc>
              <a:spcAft>
                <a:spcPts val="800"/>
              </a:spcAft>
              <a:defRPr sz="4400" b="1">
                <a:solidFill>
                  <a:srgbClr val="FFFFFF"/>
                </a:solidFill>
              </a:defRPr>
            </a:pPr>
            <a:r>
              <a:t>Take it with you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731520" y="3291840"/>
            <a:ext cx="10698480" cy="12801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l">
              <a:lnSpc>
                <a:spcPct val="115000"/>
              </a:lnSpc>
              <a:spcAft>
                <a:spcPts val="800"/>
              </a:spcAft>
              <a:defRPr sz="2200" b="0">
                <a:solidFill>
                  <a:srgbClr val="B0B8C9"/>
                </a:solidFill>
              </a:defRPr>
            </a:pPr>
            <a:r>
              <a:t>The data, the code, and where to go next</a:t>
            </a:r>
          </a:p>
        </p:txBody>
      </p:sp>
    </p:spTree>
  </p:cSld>
  <p:clrMapOvr>
    <a:masterClrMapping/>
  </p:clrMapOvr>
</p:sld>
</file>

<file path=ppt/slides/slide4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731520" y="457200"/>
            <a:ext cx="10698480" cy="109728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l">
              <a:lnSpc>
                <a:spcPct val="115000"/>
              </a:lnSpc>
              <a:spcAft>
                <a:spcPts val="800"/>
              </a:spcAft>
              <a:defRPr sz="3200" b="1">
                <a:solidFill>
                  <a:srgbClr val="1C1E21"/>
                </a:solidFill>
              </a:defRPr>
            </a:pPr>
            <a:r>
              <a:t>Take the data tonight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731520" y="1508760"/>
            <a:ext cx="10698480" cy="48006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lnSpc>
                <a:spcPct val="120000"/>
              </a:lnSpc>
              <a:spcAft>
                <a:spcPts val="1000"/>
              </a:spcAft>
            </a:pPr>
            <a:r>
              <a:rPr sz="2000" b="1">
                <a:solidFill>
                  <a:srgbClr val="1C1E21"/>
                </a:solidFill>
              </a:rPr>
              <a:t>All three CSVs: </a:t>
            </a:r>
            <a:r>
              <a:rPr sz="2000">
                <a:solidFill>
                  <a:srgbClr val="1C1E21"/>
                </a:solidFill>
              </a:rPr>
              <a:t>ht_ab_holdout, ht_model_eval, release_perf</a:t>
            </a:r>
          </a:p>
          <a:p>
            <a:pPr>
              <a:lnSpc>
                <a:spcPct val="120000"/>
              </a:lnSpc>
              <a:spcAft>
                <a:spcPts val="1000"/>
              </a:spcAft>
            </a:pPr>
            <a:r>
              <a:rPr sz="2000" b="1">
                <a:solidFill>
                  <a:srgbClr val="1C1E21"/>
                </a:solidFill>
              </a:rPr>
              <a:t>Plus: </a:t>
            </a:r>
            <a:r>
              <a:rPr sz="2000">
                <a:solidFill>
                  <a:srgbClr val="1C1E21"/>
                </a:solidFill>
              </a:rPr>
              <a:t>starter code for each case study and the full answer key (datasets/README.md)</a:t>
            </a:r>
          </a:p>
          <a:p>
            <a:pPr>
              <a:lnSpc>
                <a:spcPct val="120000"/>
              </a:lnSpc>
              <a:spcAft>
                <a:spcPts val="1000"/>
              </a:spcAft>
            </a:pPr>
            <a:r>
              <a:rPr sz="2000" b="1">
                <a:solidFill>
                  <a:srgbClr val="1C1E21"/>
                </a:solidFill>
              </a:rPr>
              <a:t>Download: </a:t>
            </a:r>
            <a:r>
              <a:rPr sz="2000">
                <a:solidFill>
                  <a:srgbClr val="1C1E21"/>
                </a:solidFill>
              </a:rPr>
              <a:t>[ADD YOUR SHARE LINK HERE before the talk]</a:t>
            </a:r>
          </a:p>
          <a:p>
            <a:pPr>
              <a:lnSpc>
                <a:spcPct val="120000"/>
              </a:lnSpc>
              <a:spcAft>
                <a:spcPts val="1000"/>
              </a:spcAft>
            </a:pPr>
            <a:r>
              <a:rPr sz="2000" b="1">
                <a:solidFill>
                  <a:srgbClr val="1C1E21"/>
                </a:solidFill>
              </a:rPr>
              <a:t>Reproducible: </a:t>
            </a:r>
            <a:r>
              <a:rPr sz="2000">
                <a:solidFill>
                  <a:srgbClr val="1C1E21"/>
                </a:solidFill>
              </a:rPr>
              <a:t>gen_rl_datasets.py regenerates everything from seed 20261001.</a:t>
            </a:r>
          </a:p>
          <a:p>
            <a:pPr algn="l">
              <a:lnSpc>
                <a:spcPct val="115000"/>
              </a:lnSpc>
              <a:spcAft>
                <a:spcPts val="800"/>
              </a:spcAft>
              <a:defRPr sz="2000" b="0">
                <a:solidFill>
                  <a:srgbClr val="1C1E21"/>
                </a:solidFill>
              </a:defRPr>
            </a:pPr>
            <a:r>
              <a:t>•  Run it tonight. Bring your plots to next Thursday's DISC meeting and argue with me.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457200" y="6446520"/>
            <a:ext cx="11274552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>
              <a:defRPr sz="1000">
                <a:solidFill>
                  <a:srgbClr val="656B74"/>
                </a:solidFill>
              </a:defRPr>
            </a:pPr>
            <a:r>
              <a:t>DISC x Meta - Oct 1, 2026  |  Fake data, real questions</a:t>
            </a:r>
          </a:p>
        </p:txBody>
      </p:sp>
    </p:spTree>
  </p:cSld>
  <p:clrMapOvr>
    <a:masterClrMapping/>
  </p:clrMapOvr>
</p:sld>
</file>

<file path=ppt/slides/slide48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731520" y="457200"/>
            <a:ext cx="10698480" cy="109728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l">
              <a:lnSpc>
                <a:spcPct val="115000"/>
              </a:lnSpc>
              <a:spcAft>
                <a:spcPts val="800"/>
              </a:spcAft>
              <a:defRPr sz="3200" b="1">
                <a:solidFill>
                  <a:srgbClr val="1C1E21"/>
                </a:solidFill>
              </a:defRPr>
            </a:pPr>
            <a:r>
              <a:t>Where to go next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731520" y="1508760"/>
            <a:ext cx="10698480" cy="48006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lnSpc>
                <a:spcPct val="120000"/>
              </a:lnSpc>
              <a:spcAft>
                <a:spcPts val="1000"/>
              </a:spcAft>
            </a:pPr>
            <a:r>
              <a:rPr sz="2000" b="1">
                <a:solidFill>
                  <a:srgbClr val="1C1E21"/>
                </a:solidFill>
              </a:rPr>
              <a:t>DISC: </a:t>
            </a:r>
            <a:r>
              <a:rPr sz="2000">
                <a:solidFill>
                  <a:srgbClr val="1C1E21"/>
                </a:solidFill>
              </a:rPr>
              <a:t>linktr.ee/discatasu - mentorship program, Tech Thursdays, company nights.</a:t>
            </a:r>
          </a:p>
          <a:p>
            <a:pPr>
              <a:lnSpc>
                <a:spcPct val="120000"/>
              </a:lnSpc>
              <a:spcAft>
                <a:spcPts val="1000"/>
              </a:spcAft>
            </a:pPr>
            <a:r>
              <a:rPr sz="2000" b="1">
                <a:solidFill>
                  <a:srgbClr val="1C1E21"/>
                </a:solidFill>
              </a:rPr>
              <a:t>Kaggle Learn: </a:t>
            </a:r>
            <a:r>
              <a:rPr sz="2000">
                <a:solidFill>
                  <a:srgbClr val="1C1E21"/>
                </a:solidFill>
              </a:rPr>
              <a:t>free, weekend-sized: pandas, SQL, intro ML.</a:t>
            </a:r>
          </a:p>
          <a:p>
            <a:pPr>
              <a:lnSpc>
                <a:spcPct val="120000"/>
              </a:lnSpc>
              <a:spcAft>
                <a:spcPts val="1000"/>
              </a:spcAft>
            </a:pPr>
            <a:r>
              <a:rPr sz="2000" b="1">
                <a:solidFill>
                  <a:srgbClr val="1C1E21"/>
                </a:solidFill>
              </a:rPr>
              <a:t>Grad school: </a:t>
            </a:r>
            <a:r>
              <a:rPr sz="2000">
                <a:solidFill>
                  <a:srgbClr val="1C1E21"/>
                </a:solidFill>
              </a:rPr>
              <a:t>W.P. Carey's MS in Business Analytics (9-month, STEM) or MS in Information Systems Management if you want to go deeper.</a:t>
            </a:r>
          </a:p>
          <a:p>
            <a:pPr>
              <a:lnSpc>
                <a:spcPct val="120000"/>
              </a:lnSpc>
              <a:spcAft>
                <a:spcPts val="1000"/>
              </a:spcAft>
            </a:pPr>
            <a:r>
              <a:rPr sz="2000" b="1">
                <a:solidFill>
                  <a:srgbClr val="1C1E21"/>
                </a:solidFill>
              </a:rPr>
              <a:t>The experimentation bible: </a:t>
            </a:r>
            <a:r>
              <a:rPr sz="2000">
                <a:solidFill>
                  <a:srgbClr val="1C1E21"/>
                </a:solidFill>
              </a:rPr>
              <a:t>"Trustworthy Online Controlled Experiments" by Kohavi, Tang, Xu.</a:t>
            </a:r>
          </a:p>
          <a:p>
            <a:pPr>
              <a:lnSpc>
                <a:spcPct val="120000"/>
              </a:lnSpc>
              <a:spcAft>
                <a:spcPts val="1000"/>
              </a:spcAft>
            </a:pPr>
            <a:r>
              <a:rPr sz="2000" b="1">
                <a:solidFill>
                  <a:srgbClr val="1C1E21"/>
                </a:solidFill>
              </a:rPr>
              <a:t>Meta careers: </a:t>
            </a:r>
            <a:r>
              <a:rPr sz="2000">
                <a:solidFill>
                  <a:srgbClr val="1C1E21"/>
                </a:solidFill>
              </a:rPr>
              <a:t>[ADD LINK] - internships open soon.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457200" y="6446520"/>
            <a:ext cx="11274552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>
              <a:defRPr sz="1000">
                <a:solidFill>
                  <a:srgbClr val="656B74"/>
                </a:solidFill>
              </a:defRPr>
            </a:pPr>
            <a:r>
              <a:t>DISC x Meta - Oct 1, 2026  |  Fake data, real questions</a:t>
            </a:r>
          </a:p>
        </p:txBody>
      </p:sp>
    </p:spTree>
  </p:cSld>
  <p:clrMapOvr>
    <a:masterClrMapping/>
  </p:clrMapOvr>
</p:sld>
</file>

<file path=ppt/slides/slide49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731520" y="457200"/>
            <a:ext cx="10698480" cy="109728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l">
              <a:lnSpc>
                <a:spcPct val="115000"/>
              </a:lnSpc>
              <a:spcAft>
                <a:spcPts val="800"/>
              </a:spcAft>
              <a:defRPr sz="3200" b="1">
                <a:solidFill>
                  <a:srgbClr val="1C1E21"/>
                </a:solidFill>
              </a:defRPr>
            </a:pPr>
            <a:r>
              <a:t>AI and your career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731520" y="1508760"/>
            <a:ext cx="10698480" cy="7315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l">
              <a:lnSpc>
                <a:spcPct val="115000"/>
              </a:lnSpc>
              <a:spcAft>
                <a:spcPts val="800"/>
              </a:spcAft>
              <a:defRPr sz="2000" b="0">
                <a:solidFill>
                  <a:srgbClr val="656B74"/>
                </a:solidFill>
              </a:defRPr>
            </a:pPr>
            <a:r>
              <a:t>Where this goes, and what is already happening.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731520" y="2194560"/>
            <a:ext cx="10698480" cy="41148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lnSpc>
                <a:spcPct val="120000"/>
              </a:lnSpc>
              <a:spcAft>
                <a:spcPts val="1000"/>
              </a:spcAft>
            </a:pPr>
            <a:r>
              <a:rPr sz="2000" b="1">
                <a:solidFill>
                  <a:srgbClr val="1C1E21"/>
                </a:solidFill>
              </a:rPr>
              <a:t>Already happening: </a:t>
            </a:r>
            <a:r>
              <a:rPr sz="2000">
                <a:solidFill>
                  <a:srgbClr val="1C1E21"/>
                </a:solidFill>
              </a:rPr>
              <a:t>Copilot in Power BI/Fabric writes DAX, builds models, and drafts reports. Tableau's agentic analytics answers plain-language questions over your data. The translation work is automated.</a:t>
            </a:r>
          </a:p>
          <a:p>
            <a:pPr>
              <a:lnSpc>
                <a:spcPct val="120000"/>
              </a:lnSpc>
              <a:spcAft>
                <a:spcPts val="1000"/>
              </a:spcAft>
            </a:pPr>
            <a:r>
              <a:rPr sz="2000" b="1">
                <a:solidFill>
                  <a:srgbClr val="1C1E21"/>
                </a:solidFill>
              </a:rPr>
              <a:t>Your job moves up the stack: </a:t>
            </a:r>
            <a:r>
              <a:rPr sz="2000">
                <a:solidFill>
                  <a:srgbClr val="1C1E21"/>
                </a:solidFill>
              </a:rPr>
              <a:t>pick the right question, check the answer, own the decision. When everyone can build dashboards, the scarce role is the person who governs the platform: guardrails on what gets published, validation that the data is right, one centralized model instead of twelve conflicting dashboards, and the business context no AI can infer.</a:t>
            </a:r>
          </a:p>
          <a:p>
            <a:pPr>
              <a:lnSpc>
                <a:spcPct val="120000"/>
              </a:lnSpc>
              <a:spcAft>
                <a:spcPts val="1000"/>
              </a:spcAft>
            </a:pPr>
            <a:r>
              <a:rPr sz="2000" b="1">
                <a:solidFill>
                  <a:srgbClr val="1C1E21"/>
                </a:solidFill>
              </a:rPr>
              <a:t>Guardrails are a career skill: </a:t>
            </a:r>
            <a:r>
              <a:rPr sz="2000">
                <a:solidFill>
                  <a:srgbClr val="1C1E21"/>
                </a:solidFill>
              </a:rPr>
              <a:t>AI outputs need human validation. Saying 'do not ship' when the guardrails fail is exactly the instinct employers will pay for. That is what tonight's case study was about.</a:t>
            </a:r>
          </a:p>
          <a:p>
            <a:pPr>
              <a:lnSpc>
                <a:spcPct val="120000"/>
              </a:lnSpc>
              <a:spcAft>
                <a:spcPts val="1000"/>
              </a:spcAft>
            </a:pPr>
            <a:r>
              <a:rPr sz="2000" b="1">
                <a:solidFill>
                  <a:srgbClr val="1C1E21"/>
                </a:solidFill>
              </a:rPr>
              <a:t>The forecasts agree: </a:t>
            </a:r>
            <a:r>
              <a:rPr sz="2000">
                <a:solidFill>
                  <a:srgbClr val="1C1E21"/>
                </a:solidFill>
              </a:rPr>
              <a:t>WEF Future of Jobs 2025 puts Big Data Specialists, AI/ML Specialists, and Data Analysts/Scientists among the fastest-growing roles to 2030. Analytical thinking is employers' most sought-after core skill.</a:t>
            </a:r>
          </a:p>
          <a:p>
            <a:pPr>
              <a:lnSpc>
                <a:spcPct val="120000"/>
              </a:lnSpc>
              <a:spcAft>
                <a:spcPts val="1000"/>
              </a:spcAft>
            </a:pPr>
            <a:r>
              <a:rPr sz="2000" b="1">
                <a:solidFill>
                  <a:srgbClr val="1C1E21"/>
                </a:solidFill>
              </a:rPr>
              <a:t>What to do now: </a:t>
            </a:r>
            <a:r>
              <a:rPr sz="2000">
                <a:solidFill>
                  <a:srgbClr val="1C1E21"/>
                </a:solidFill>
              </a:rPr>
              <a:t>learn to direct AI systems, keep the stats fundamentals sharp (ECN 221 is the moat), and ship one real end-to-end thing before you graduate.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457200" y="6446520"/>
            <a:ext cx="11274552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>
              <a:defRPr sz="1000">
                <a:solidFill>
                  <a:srgbClr val="656B74"/>
                </a:solidFill>
              </a:defRPr>
            </a:pPr>
            <a:r>
              <a:t>DISC x Meta - Oct 1, 2026  |  Fake data, real questions</a:t>
            </a:r>
          </a:p>
        </p:txBody>
      </p:sp>
    </p:spTree>
  </p:cSld>
  <p:clrMapOvr>
    <a:masterClrMapping/>
  </p:clrMapOvr>
</p:sld>
</file>

<file path=ppt/slides/slide50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137160"/>
            <a:ext cx="11274552" cy="9144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l">
              <a:lnSpc>
                <a:spcPct val="115000"/>
              </a:lnSpc>
              <a:spcAft>
                <a:spcPts val="800"/>
              </a:spcAft>
              <a:defRPr sz="3600" b="1">
                <a:solidFill>
                  <a:srgbClr val="1C1E21"/>
                </a:solidFill>
              </a:defRPr>
            </a:pPr>
            <a:r>
              <a:t>The stack moved. So did you.</a:t>
            </a:r>
          </a:p>
        </p:txBody>
      </p:sp>
      <p:pic>
        <p:nvPicPr>
          <p:cNvPr id="3" name="Picture 2" descr="stack-shift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280160" y="1188720"/>
            <a:ext cx="9601200" cy="5500529"/>
          </a:xfrm>
          <a:prstGeom prst="rect">
            <a:avLst/>
          </a:prstGeom>
        </p:spPr>
      </p:pic>
    </p:spTree>
  </p:cSld>
  <p:clrMapOvr>
    <a:masterClrMapping/>
  </p:clrMapOvr>
</p:sld>
</file>

<file path=ppt/slides/slide5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731520" y="457200"/>
            <a:ext cx="10698480" cy="109728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l">
              <a:lnSpc>
                <a:spcPct val="115000"/>
              </a:lnSpc>
              <a:spcAft>
                <a:spcPts val="800"/>
              </a:spcAft>
              <a:defRPr sz="3200" b="1">
                <a:solidFill>
                  <a:srgbClr val="1C1E21"/>
                </a:solidFill>
              </a:defRPr>
            </a:pPr>
            <a:r>
              <a:t>Nobody reads the wall of text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731520" y="1508760"/>
            <a:ext cx="10698480" cy="7315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l">
              <a:lnSpc>
                <a:spcPct val="115000"/>
              </a:lnSpc>
              <a:spcAft>
                <a:spcPts val="800"/>
              </a:spcAft>
              <a:defRPr sz="2000" b="0">
                <a:solidFill>
                  <a:srgbClr val="656B74"/>
                </a:solidFill>
              </a:defRPr>
            </a:pPr>
            <a:r>
              <a:t>Writing for leadership in the age of AI slop.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731520" y="2194560"/>
            <a:ext cx="10698480" cy="41148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lnSpc>
                <a:spcPct val="120000"/>
              </a:lnSpc>
              <a:spcAft>
                <a:spcPts val="1000"/>
              </a:spcAft>
            </a:pPr>
            <a:r>
              <a:rPr sz="2000" b="1">
                <a:solidFill>
                  <a:srgbClr val="1C1E21"/>
                </a:solidFill>
              </a:rPr>
              <a:t>AI slop is real: </a:t>
            </a:r>
            <a:r>
              <a:rPr sz="2000">
                <a:solidFill>
                  <a:srgbClr val="1C1E21"/>
                </a:solidFill>
              </a:rPr>
              <a:t>if your doc looks generated, it gets skimmed like it's generated. Leadership can tell when nobody re-read it.</a:t>
            </a:r>
          </a:p>
          <a:p>
            <a:pPr>
              <a:lnSpc>
                <a:spcPct val="120000"/>
              </a:lnSpc>
              <a:spcAft>
                <a:spcPts val="1000"/>
              </a:spcAft>
            </a:pPr>
            <a:r>
              <a:rPr sz="2000" b="1">
                <a:solidFill>
                  <a:srgbClr val="1C1E21"/>
                </a:solidFill>
              </a:rPr>
              <a:t>The one-paragraph rule: </a:t>
            </a:r>
            <a:r>
              <a:rPr sz="2000">
                <a:solidFill>
                  <a:srgbClr val="1C1E21"/>
                </a:solidFill>
              </a:rPr>
              <a:t>if you can't state the recommendation in one paragraph, you don't have one yet. Case study 3's memo was the whole skill.</a:t>
            </a:r>
          </a:p>
          <a:p>
            <a:pPr>
              <a:lnSpc>
                <a:spcPct val="120000"/>
              </a:lnSpc>
              <a:spcAft>
                <a:spcPts val="1000"/>
              </a:spcAft>
            </a:pPr>
            <a:r>
              <a:rPr sz="2000" b="1">
                <a:solidFill>
                  <a:srgbClr val="1C1E21"/>
                </a:solidFill>
              </a:rPr>
              <a:t>Design the post: </a:t>
            </a:r>
            <a:r>
              <a:rPr sz="2000">
                <a:solidFill>
                  <a:srgbClr val="1C1E21"/>
                </a:solidFill>
              </a:rPr>
              <a:t>headline first, then the decision, then the data. Title with the takeaway, not 'Q3 metrics update.'</a:t>
            </a:r>
          </a:p>
          <a:p>
            <a:pPr>
              <a:lnSpc>
                <a:spcPct val="120000"/>
              </a:lnSpc>
              <a:spcAft>
                <a:spcPts val="1000"/>
              </a:spcAft>
            </a:pPr>
            <a:r>
              <a:rPr sz="2000" b="1">
                <a:solidFill>
                  <a:srgbClr val="1C1E21"/>
                </a:solidFill>
              </a:rPr>
              <a:t>Quality over quantity: </a:t>
            </a:r>
            <a:r>
              <a:rPr sz="2000">
                <a:solidFill>
                  <a:srgbClr val="1C1E21"/>
                </a:solidFill>
              </a:rPr>
              <a:t>one sharp chart beats ten AI-drafted dashboards. Five reviewed lines beat fifty generated ones.</a:t>
            </a:r>
          </a:p>
          <a:p>
            <a:pPr>
              <a:lnSpc>
                <a:spcPct val="120000"/>
              </a:lnSpc>
              <a:spcAft>
                <a:spcPts val="1000"/>
              </a:spcAft>
            </a:pPr>
            <a:r>
              <a:rPr sz="2000" b="1">
                <a:solidFill>
                  <a:srgbClr val="1C1E21"/>
                </a:solidFill>
              </a:rPr>
              <a:t>The test: </a:t>
            </a:r>
            <a:r>
              <a:rPr sz="2000">
                <a:solidFill>
                  <a:srgbClr val="1C1E21"/>
                </a:solidFill>
              </a:rPr>
              <a:t>before you post, delete half. If nothing broke, delete half again.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457200" y="6446520"/>
            <a:ext cx="11274552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>
              <a:defRPr sz="1000">
                <a:solidFill>
                  <a:srgbClr val="656B74"/>
                </a:solidFill>
              </a:defRPr>
            </a:pPr>
            <a:r>
              <a:t>DISC x Meta - Oct 1, 2026  |  Fake data, real questions</a:t>
            </a:r>
          </a:p>
        </p:txBody>
      </p:sp>
    </p:spTree>
  </p:cSld>
  <p:clrMapOvr>
    <a:masterClrMapping/>
  </p:clrMapOvr>
</p:sld>
</file>

<file path=ppt/slides/slide5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731520" y="457200"/>
            <a:ext cx="10698480" cy="109728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l">
              <a:lnSpc>
                <a:spcPct val="115000"/>
              </a:lnSpc>
              <a:spcAft>
                <a:spcPts val="800"/>
              </a:spcAft>
              <a:defRPr sz="3200" b="1">
                <a:solidFill>
                  <a:srgbClr val="1C1E21"/>
                </a:solidFill>
              </a:defRPr>
            </a:pPr>
            <a:r>
              <a:t>The one thing to remember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731520" y="1508760"/>
            <a:ext cx="10698480" cy="48006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lnSpc>
                <a:spcPct val="115000"/>
              </a:lnSpc>
              <a:spcAft>
                <a:spcPts val="800"/>
              </a:spcAft>
              <a:defRPr sz="2000" b="0">
                <a:solidFill>
                  <a:srgbClr val="1C1E21"/>
                </a:solidFill>
              </a:defRPr>
            </a:pPr>
            <a:r>
              <a:t>•  The analysis is not the hard part. Knowing which question to ask is.</a:t>
            </a:r>
          </a:p>
          <a:p>
            <a:pPr algn="l">
              <a:lnSpc>
                <a:spcPct val="115000"/>
              </a:lnSpc>
              <a:spcAft>
                <a:spcPts val="800"/>
              </a:spcAft>
              <a:defRPr sz="2000" b="0">
                <a:solidFill>
                  <a:srgbClr val="1C1E21"/>
                </a:solidFill>
              </a:defRPr>
            </a:pPr>
            <a:r>
              <a:t>•  </a:t>
            </a:r>
          </a:p>
          <a:p>
            <a:pPr algn="l">
              <a:lnSpc>
                <a:spcPct val="115000"/>
              </a:lnSpc>
              <a:spcAft>
                <a:spcPts val="800"/>
              </a:spcAft>
              <a:defRPr sz="2000" b="0">
                <a:solidFill>
                  <a:srgbClr val="1C1E21"/>
                </a:solidFill>
              </a:defRPr>
            </a:pPr>
            <a:r>
              <a:t>•  Fake data, real questions. Go ask them.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457200" y="6446520"/>
            <a:ext cx="11274552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>
              <a:defRPr sz="1000">
                <a:solidFill>
                  <a:srgbClr val="656B74"/>
                </a:solidFill>
              </a:defRPr>
            </a:pPr>
            <a:r>
              <a:t>DISC x Meta - Oct 1, 2026  |  Fake data, real questions</a:t>
            </a:r>
          </a:p>
        </p:txBody>
      </p:sp>
    </p:spTree>
  </p:cSld>
  <p:clrMapOvr>
    <a:masterClrMapping/>
  </p:clrMapOvr>
</p:sld>
</file>

<file path=ppt/slides/slide5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731520" y="1097280"/>
            <a:ext cx="10698480" cy="201168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l">
              <a:lnSpc>
                <a:spcPct val="115000"/>
              </a:lnSpc>
              <a:spcAft>
                <a:spcPts val="800"/>
              </a:spcAft>
              <a:defRPr sz="4400" b="1">
                <a:solidFill>
                  <a:srgbClr val="1C1E21"/>
                </a:solidFill>
              </a:defRPr>
            </a:pPr>
            <a:r>
              <a:t>Thank you. Questions?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731520" y="2834640"/>
            <a:ext cx="10698480" cy="14630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l">
              <a:lnSpc>
                <a:spcPct val="115000"/>
              </a:lnSpc>
              <a:spcAft>
                <a:spcPts val="800"/>
              </a:spcAft>
              <a:defRPr sz="2400" b="0">
                <a:solidFill>
                  <a:srgbClr val="656B74"/>
                </a:solidFill>
              </a:defRPr>
            </a:pPr>
            <a:r>
              <a:t>Greg Vannoni, Software Engineer, Meta Reality Labs</a:t>
            </a:r>
            <a:br/>
            <a:r>
              <a:t>[contact / LinkedIn]</a:t>
            </a:r>
            <a:br/>
            <a:r>
              <a:t>DISC, October 1, 2026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457200" y="6446520"/>
            <a:ext cx="11274552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>
              <a:defRPr sz="1000">
                <a:solidFill>
                  <a:srgbClr val="656B74"/>
                </a:solidFill>
              </a:defRPr>
            </a:pPr>
            <a:r>
              <a:t>DISC x Meta - Oct 1, 2026  |  Fake data, real questions</a:t>
            </a:r>
          </a:p>
        </p:txBody>
      </p:sp>
    </p:spTree>
  </p:cSld>
  <p:clrMapOvr>
    <a:masterClrMapping/>
  </p:clrMapOvr>
</p:sld>
</file>

<file path=ppt/slides/slide5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141A2E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731520" y="2011680"/>
            <a:ext cx="10698480" cy="14630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l">
              <a:lnSpc>
                <a:spcPct val="115000"/>
              </a:lnSpc>
              <a:spcAft>
                <a:spcPts val="800"/>
              </a:spcAft>
              <a:defRPr sz="4400" b="1">
                <a:solidFill>
                  <a:srgbClr val="FFFFFF"/>
                </a:solidFill>
              </a:defRPr>
            </a:pPr>
            <a:r>
              <a:t>Appendix 📎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731520" y="3291840"/>
            <a:ext cx="10698480" cy="12801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l">
              <a:lnSpc>
                <a:spcPct val="115000"/>
              </a:lnSpc>
              <a:spcAft>
                <a:spcPts val="800"/>
              </a:spcAft>
              <a:defRPr sz="2200" b="0">
                <a:solidFill>
                  <a:srgbClr val="B0B8C9"/>
                </a:solidFill>
              </a:defRPr>
            </a:pPr>
            <a:r>
              <a:t>References, take-home datasets, tasks, and answer keys.</a:t>
            </a:r>
          </a:p>
        </p:txBody>
      </p:sp>
    </p:spTree>
  </p:cSld>
  <p:clrMapOvr>
    <a:masterClrMapping/>
  </p:clrMapOvr>
</p:sld>
</file>

<file path=ppt/slides/slide5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731520" y="457200"/>
            <a:ext cx="10698480" cy="8229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l">
              <a:lnSpc>
                <a:spcPct val="115000"/>
              </a:lnSpc>
              <a:spcAft>
                <a:spcPts val="800"/>
              </a:spcAft>
              <a:defRPr sz="3200" b="1">
                <a:solidFill>
                  <a:srgbClr val="0064E0"/>
                </a:solidFill>
              </a:defRPr>
            </a:pPr>
            <a:r>
              <a:t>References 🔗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731520" y="1143000"/>
            <a:ext cx="10698480" cy="5486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l">
              <a:lnSpc>
                <a:spcPct val="115000"/>
              </a:lnSpc>
              <a:spcAft>
                <a:spcPts val="800"/>
              </a:spcAft>
              <a:defRPr sz="1800" b="0">
                <a:solidFill>
                  <a:srgbClr val="656B74"/>
                </a:solidFill>
              </a:defRPr>
            </a:pPr>
            <a:r>
              <a:t>Everything real we leaned on. The datasets are still synthetic.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731520" y="1920240"/>
            <a:ext cx="10698480" cy="43891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lnSpc>
                <a:spcPct val="115000"/>
              </a:lnSpc>
              <a:spcAft>
                <a:spcPts val="1000"/>
              </a:spcAft>
            </a:pPr>
            <a:r>
              <a:rPr sz="1800" b="1">
                <a:solidFill>
                  <a:srgbClr val="1C1E21"/>
                </a:solidFill>
              </a:rPr>
              <a:t>•  Real Quest release notes: </a:t>
            </a:r>
            <a:r>
              <a:rPr sz="1800" u="sng">
                <a:solidFill>
                  <a:srgbClr val="0064E0"/>
                </a:solidFill>
                <a:hlinkClick r:id="rId2"/>
              </a:rPr>
              <a:t>meta.com</a:t>
            </a:r>
            <a:r>
              <a:rPr sz="1800">
                <a:solidFill>
                  <a:srgbClr val="1C1E21"/>
                </a:solidFill>
              </a:rPr>
              <a:t> — what actually ships in each release. Our v69 regression is fictional; this is where real ones get documented.</a:t>
            </a:r>
          </a:p>
          <a:p>
            <a:pPr>
              <a:lnSpc>
                <a:spcPct val="115000"/>
              </a:lnSpc>
              <a:spcAft>
                <a:spcPts val="1000"/>
              </a:spcAft>
            </a:pPr>
            <a:r>
              <a:rPr sz="1800" b="1">
                <a:solidFill>
                  <a:srgbClr val="1C1E21"/>
                </a:solidFill>
              </a:rPr>
              <a:t>•  OpenXR hand tracking: </a:t>
            </a:r>
            <a:r>
              <a:rPr sz="1800" u="sng">
                <a:solidFill>
                  <a:srgbClr val="0064E0"/>
                </a:solidFill>
                <a:hlinkClick r:id="rId3"/>
              </a:rPr>
              <a:t>XR_EXT_hand_tracking</a:t>
            </a:r>
            <a:r>
              <a:rPr sz="1800">
                <a:solidFill>
                  <a:srgbClr val="1C1E21"/>
                </a:solidFill>
              </a:rPr>
              <a:t> — 26 joints per hand, per-joint tracked flags. The API our case studies pretend to sit on.</a:t>
            </a:r>
          </a:p>
          <a:p>
            <a:pPr>
              <a:lnSpc>
                <a:spcPct val="115000"/>
              </a:lnSpc>
              <a:spcAft>
                <a:spcPts val="1000"/>
              </a:spcAft>
            </a:pPr>
            <a:r>
              <a:rPr sz="1800" b="1">
                <a:solidFill>
                  <a:srgbClr val="1C1E21"/>
                </a:solidFill>
              </a:rPr>
              <a:t>•  Jitter, defined: </a:t>
            </a:r>
            <a:r>
              <a:rPr sz="1800" u="sng">
                <a:solidFill>
                  <a:srgbClr val="0064E0"/>
                </a:solidFill>
                <a:hlinkClick r:id="rId4"/>
              </a:rPr>
              <a:t>UmeTrack (arXiv)</a:t>
            </a:r>
            <a:r>
              <a:rPr sz="1800">
                <a:solidFill>
                  <a:srgbClr val="1C1E21"/>
                </a:solidFill>
              </a:rPr>
              <a:t> — measures tracking jitter as mean per-joint position acceleration; lower means less jittery tracking. Also defines MPJPE.</a:t>
            </a:r>
          </a:p>
          <a:p>
            <a:pPr>
              <a:lnSpc>
                <a:spcPct val="115000"/>
              </a:lnSpc>
              <a:spcAft>
                <a:spcPts val="1000"/>
              </a:spcAft>
            </a:pPr>
            <a:r>
              <a:rPr sz="1800" b="1">
                <a:solidFill>
                  <a:srgbClr val="1C1E21"/>
                </a:solidFill>
              </a:rPr>
              <a:t>•  Accuracy baseline: </a:t>
            </a:r>
            <a:r>
              <a:rPr sz="1800" u="sng">
                <a:solidFill>
                  <a:srgbClr val="0064E0"/>
                </a:solidFill>
                <a:hlinkClick r:id="rId5"/>
              </a:rPr>
              <a:t>Quest 2 hand-tracking study</a:t>
            </a:r>
            <a:r>
              <a:rPr sz="1800">
                <a:solidFill>
                  <a:srgbClr val="1C1E21"/>
                </a:solidFill>
              </a:rPr>
              <a:t> — about 1.1 cm fingertip error. The number v1 and v2 are judged against in case study 2.</a:t>
            </a:r>
          </a:p>
          <a:p>
            <a:pPr>
              <a:lnSpc>
                <a:spcPct val="115000"/>
              </a:lnSpc>
              <a:spcAft>
                <a:spcPts val="1000"/>
              </a:spcAft>
            </a:pPr>
            <a:r>
              <a:rPr sz="1800" b="1">
                <a:solidFill>
                  <a:srgbClr val="1C1E21"/>
                </a:solidFill>
              </a:rPr>
              <a:t>•  Simpson's paradox: </a:t>
            </a:r>
            <a:r>
              <a:rPr sz="1800" u="sng">
                <a:solidFill>
                  <a:srgbClr val="0064E0"/>
                </a:solidFill>
                <a:hlinkClick r:id="rId6"/>
              </a:rPr>
              <a:t>Wikipedia</a:t>
            </a:r>
            <a:r>
              <a:rPr sz="1800">
                <a:solidFill>
                  <a:srgbClr val="1C1E21"/>
                </a:solidFill>
              </a:rPr>
              <a:t> — the kidney-stone and Berkeley admissions examples are worth five minutes of your time.</a:t>
            </a:r>
          </a:p>
          <a:p>
            <a:pPr>
              <a:lnSpc>
                <a:spcPct val="115000"/>
              </a:lnSpc>
              <a:spcAft>
                <a:spcPts val="1000"/>
              </a:spcAft>
            </a:pPr>
            <a:r>
              <a:rPr sz="1800" b="1">
                <a:solidFill>
                  <a:srgbClr val="1C1E21"/>
                </a:solidFill>
              </a:rPr>
              <a:t>•  Meta DS, Product Analytics posting: </a:t>
            </a:r>
            <a:r>
              <a:rPr sz="1800" u="sng">
                <a:solidFill>
                  <a:srgbClr val="0064E0"/>
                </a:solidFill>
                <a:hlinkClick r:id="rId7"/>
              </a:rPr>
              <a:t>job posting (mirror)</a:t>
            </a:r>
            <a:r>
              <a:rPr sz="1800">
                <a:solidFill>
                  <a:srgbClr val="1C1E21"/>
                </a:solidFill>
              </a:rPr>
              <a:t> — set KPIs and goals, design and evaluate experiments, inform product strategy and investment decisions.</a:t>
            </a:r>
          </a:p>
          <a:p>
            <a:pPr>
              <a:lnSpc>
                <a:spcPct val="115000"/>
              </a:lnSpc>
              <a:spcAft>
                <a:spcPts val="1000"/>
              </a:spcAft>
            </a:pPr>
            <a:r>
              <a:rPr sz="1800" b="1">
                <a:solidFill>
                  <a:srgbClr val="1C1E21"/>
                </a:solidFill>
              </a:rPr>
              <a:t>•  Meta Data Engineer posting: </a:t>
            </a:r>
            <a:r>
              <a:rPr sz="1800" u="sng">
                <a:solidFill>
                  <a:srgbClr val="0064E0"/>
                </a:solidFill>
                <a:hlinkClick r:id="rId8"/>
              </a:rPr>
              <a:t>job posting (mirror)</a:t>
            </a:r>
            <a:r>
              <a:rPr sz="1800">
                <a:solidFill>
                  <a:srgbClr val="1C1E21"/>
                </a:solidFill>
              </a:rPr>
              <a:t> — own data architecture, dataset SLAs, data quality, privacy, and governance.</a:t>
            </a:r>
          </a:p>
          <a:p>
            <a:pPr>
              <a:lnSpc>
                <a:spcPct val="115000"/>
              </a:lnSpc>
              <a:spcAft>
                <a:spcPts val="1000"/>
              </a:spcAft>
            </a:pPr>
            <a:r>
              <a:rPr sz="1800" b="1">
                <a:solidFill>
                  <a:srgbClr val="1C1E21"/>
                </a:solidFill>
              </a:rPr>
              <a:t>•  What a Meta DS actually does: </a:t>
            </a:r>
            <a:r>
              <a:rPr sz="1800" u="sng">
                <a:solidFill>
                  <a:srgbClr val="0064E0"/>
                </a:solidFill>
                <a:hlinkClick r:id="rId9"/>
              </a:rPr>
              <a:t>interview guide</a:t>
            </a:r>
            <a:r>
              <a:rPr sz="1800">
                <a:solidFill>
                  <a:srgbClr val="1C1E21"/>
                </a:solidFill>
              </a:rPr>
              <a:t> — product analytics role overview, from ex-Meta interviewers.</a:t>
            </a:r>
          </a:p>
          <a:p>
            <a:pPr>
              <a:lnSpc>
                <a:spcPct val="115000"/>
              </a:lnSpc>
              <a:spcAft>
                <a:spcPts val="1000"/>
              </a:spcAft>
            </a:pPr>
            <a:r>
              <a:rPr sz="1800" b="1">
                <a:solidFill>
                  <a:srgbClr val="1C1E21"/>
                </a:solidFill>
              </a:rPr>
              <a:t>•  Privacy Aware Infrastructure (PAI): </a:t>
            </a:r>
            <a:r>
              <a:rPr sz="1800" u="sng">
                <a:solidFill>
                  <a:srgbClr val="0064E0"/>
                </a:solidFill>
                <a:hlinkClick r:id="rId10"/>
              </a:rPr>
              <a:t>engineering blog</a:t>
            </a:r>
            <a:r>
              <a:rPr sz="1800">
                <a:solidFill>
                  <a:srgbClr val="1C1E21"/>
                </a:solidFill>
              </a:rPr>
              <a:t> — Meta's public privacy framework: annotations at ingestion, universal taxonomy, Policy Zones enforcing purpose limitation at scale.</a:t>
            </a:r>
          </a:p>
          <a:p>
            <a:pPr>
              <a:lnSpc>
                <a:spcPct val="115000"/>
              </a:lnSpc>
              <a:spcAft>
                <a:spcPts val="1000"/>
              </a:spcAft>
            </a:pPr>
            <a:r>
              <a:rPr sz="1800" b="1">
                <a:solidFill>
                  <a:srgbClr val="1C1E21"/>
                </a:solidFill>
              </a:rPr>
              <a:t>•  OECD Privacy Guidelines: </a:t>
            </a:r>
            <a:r>
              <a:rPr sz="1800" u="sng">
                <a:solidFill>
                  <a:srgbClr val="0064E0"/>
                </a:solidFill>
                <a:hlinkClick r:id="rId11"/>
              </a:rPr>
              <a:t>course handout</a:t>
            </a:r>
            <a:r>
              <a:rPr sz="1800">
                <a:solidFill>
                  <a:srgbClr val="1C1E21"/>
                </a:solidFill>
              </a:rPr>
              <a:t> — the 8 principles (1980, revised 2013) behind most privacy law and company training.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457200" y="6446520"/>
            <a:ext cx="11274552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>
              <a:defRPr sz="1000">
                <a:solidFill>
                  <a:srgbClr val="656B74"/>
                </a:solidFill>
              </a:defRPr>
            </a:pPr>
            <a:r>
              <a:t>DISC x Meta - Oct 1, 2026  |  Fake data, real questions</a:t>
            </a:r>
          </a:p>
        </p:txBody>
      </p:sp>
    </p:spTree>
  </p:cSld>
  <p:clrMapOvr>
    <a:masterClrMapping/>
  </p:clrMapOvr>
</p:sld>
</file>

<file path=ppt/slides/slide5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731520" y="457200"/>
            <a:ext cx="10698480" cy="9144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l">
              <a:lnSpc>
                <a:spcPct val="115000"/>
              </a:lnSpc>
              <a:spcAft>
                <a:spcPts val="800"/>
              </a:spcAft>
              <a:defRPr sz="3200" b="1">
                <a:solidFill>
                  <a:srgbClr val="1C1E21"/>
                </a:solidFill>
              </a:defRPr>
            </a:pPr>
            <a:r>
              <a:t>Case study 2: the dataset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731520" y="1371600"/>
            <a:ext cx="10698480" cy="64008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l">
              <a:lnSpc>
                <a:spcPct val="115000"/>
              </a:lnSpc>
              <a:spcAft>
                <a:spcPts val="800"/>
              </a:spcAft>
              <a:defRPr sz="1800" b="0">
                <a:solidFill>
                  <a:srgbClr val="656B74"/>
                </a:solidFill>
              </a:defRPr>
            </a:pPr>
            <a:r>
              <a:t>ht_model_eval.csv - 8,000 rows. Synthetic.</a:t>
            </a:r>
          </a:p>
        </p:txBody>
      </p:sp>
      <p:graphicFrame>
        <p:nvGraphicFramePr>
          <p:cNvPr id="4" name="Table 3"/>
          <p:cNvGraphicFramePr>
            <a:graphicFrameLocks noGrp="1"/>
          </p:cNvGraphicFramePr>
          <p:nvPr/>
        </p:nvGraphicFramePr>
        <p:xfrm>
          <a:off x="731520" y="1965960"/>
          <a:ext cx="10698480" cy="4023360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2560320"/>
                <a:gridCol w="1280160"/>
                <a:gridCol w="6858000"/>
              </a:tblGrid>
              <a:tr h="502920">
                <a:tc>
                  <a:txBody>
                    <a:bodyPr/>
                    <a:lstStyle/>
                    <a:p>
                      <a:pPr algn="l">
                        <a:lnSpc>
                          <a:spcPct val="115000"/>
                        </a:lnSpc>
                        <a:spcAft>
                          <a:spcPts val="800"/>
                        </a:spcAft>
                        <a:defRPr sz="1600" b="1">
                          <a:solidFill>
                            <a:srgbClr val="FFFFFF"/>
                          </a:solidFill>
                        </a:defRPr>
                      </a:pPr>
                      <a:r>
                        <a:t>Column</a:t>
                      </a:r>
                    </a:p>
                  </a:txBody>
                  <a:tcPr>
                    <a:solidFill>
                      <a:srgbClr val="0064E0"/>
                    </a:solidFill>
                  </a:tcPr>
                </a:tc>
                <a:tc>
                  <a:txBody>
                    <a:bodyPr/>
                    <a:lstStyle/>
                    <a:p>
                      <a:pPr algn="l">
                        <a:lnSpc>
                          <a:spcPct val="115000"/>
                        </a:lnSpc>
                        <a:spcAft>
                          <a:spcPts val="800"/>
                        </a:spcAft>
                        <a:defRPr sz="1600" b="1">
                          <a:solidFill>
                            <a:srgbClr val="FFFFFF"/>
                          </a:solidFill>
                        </a:defRPr>
                      </a:pPr>
                      <a:r>
                        <a:t>Type</a:t>
                      </a:r>
                    </a:p>
                  </a:txBody>
                  <a:tcPr>
                    <a:solidFill>
                      <a:srgbClr val="0064E0"/>
                    </a:solidFill>
                  </a:tcPr>
                </a:tc>
                <a:tc>
                  <a:txBody>
                    <a:bodyPr/>
                    <a:lstStyle/>
                    <a:p>
                      <a:pPr algn="l">
                        <a:lnSpc>
                          <a:spcPct val="115000"/>
                        </a:lnSpc>
                        <a:spcAft>
                          <a:spcPts val="800"/>
                        </a:spcAft>
                        <a:defRPr sz="1600" b="1">
                          <a:solidFill>
                            <a:srgbClr val="FFFFFF"/>
                          </a:solidFill>
                        </a:defRPr>
                      </a:pPr>
                      <a:r>
                        <a:t>Meaning</a:t>
                      </a:r>
                    </a:p>
                  </a:txBody>
                  <a:tcPr>
                    <a:solidFill>
                      <a:srgbClr val="0064E0"/>
                    </a:solidFill>
                  </a:tcPr>
                </a:tc>
              </a:tr>
              <a:tr h="502920">
                <a:tc>
                  <a:txBody>
                    <a:bodyPr/>
                    <a:lstStyle/>
                    <a:p>
                      <a:pPr algn="l">
                        <a:lnSpc>
                          <a:spcPct val="115000"/>
                        </a:lnSpc>
                        <a:spcAft>
                          <a:spcPts val="800"/>
                        </a:spcAft>
                        <a:defRPr sz="1500" b="0">
                          <a:solidFill>
                            <a:srgbClr val="1C1E21"/>
                          </a:solidFill>
                        </a:defRPr>
                      </a:pPr>
                      <a:r>
                        <a:t>sample_id / model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l">
                        <a:lnSpc>
                          <a:spcPct val="115000"/>
                        </a:lnSpc>
                        <a:spcAft>
                          <a:spcPts val="800"/>
                        </a:spcAft>
                        <a:defRPr sz="1500" b="0">
                          <a:solidFill>
                            <a:srgbClr val="1C1E21"/>
                          </a:solidFill>
                        </a:defRPr>
                      </a:pPr>
                      <a:r>
                        <a:t>string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l">
                        <a:lnSpc>
                          <a:spcPct val="115000"/>
                        </a:lnSpc>
                        <a:spcAft>
                          <a:spcPts val="800"/>
                        </a:spcAft>
                        <a:defRPr sz="1500" b="0">
                          <a:solidFill>
                            <a:srgbClr val="1C1E21"/>
                          </a:solidFill>
                        </a:defRPr>
                      </a:pPr>
                      <a:r>
                        <a:t>id and ht_v1 vs ht_v2</a:t>
                      </a:r>
                    </a:p>
                  </a:txBody>
                  <a:tcPr/>
                </a:tc>
              </a:tr>
              <a:tr h="502920">
                <a:tc>
                  <a:txBody>
                    <a:bodyPr/>
                    <a:lstStyle/>
                    <a:p>
                      <a:pPr algn="l">
                        <a:lnSpc>
                          <a:spcPct val="115000"/>
                        </a:lnSpc>
                        <a:spcAft>
                          <a:spcPts val="800"/>
                        </a:spcAft>
                        <a:defRPr sz="1500" b="0">
                          <a:solidFill>
                            <a:srgbClr val="1C1E21"/>
                          </a:solidFill>
                        </a:defRPr>
                      </a:pPr>
                      <a:r>
                        <a:t>lighting</a:t>
                      </a:r>
                    </a:p>
                  </a:txBody>
                  <a:tcPr>
                    <a:solidFill>
                      <a:srgbClr val="F5F6F7"/>
                    </a:solidFill>
                  </a:tcPr>
                </a:tc>
                <a:tc>
                  <a:txBody>
                    <a:bodyPr/>
                    <a:lstStyle/>
                    <a:p>
                      <a:pPr algn="l">
                        <a:lnSpc>
                          <a:spcPct val="115000"/>
                        </a:lnSpc>
                        <a:spcAft>
                          <a:spcPts val="800"/>
                        </a:spcAft>
                        <a:defRPr sz="1500" b="0">
                          <a:solidFill>
                            <a:srgbClr val="1C1E21"/>
                          </a:solidFill>
                        </a:defRPr>
                      </a:pPr>
                      <a:r>
                        <a:t>string</a:t>
                      </a:r>
                    </a:p>
                  </a:txBody>
                  <a:tcPr>
                    <a:solidFill>
                      <a:srgbClr val="F5F6F7"/>
                    </a:solidFill>
                  </a:tcPr>
                </a:tc>
                <a:tc>
                  <a:txBody>
                    <a:bodyPr/>
                    <a:lstStyle/>
                    <a:p>
                      <a:pPr algn="l">
                        <a:lnSpc>
                          <a:spcPct val="115000"/>
                        </a:lnSpc>
                        <a:spcAft>
                          <a:spcPts val="800"/>
                        </a:spcAft>
                        <a:defRPr sz="1500" b="0">
                          <a:solidFill>
                            <a:srgbClr val="1C1E21"/>
                          </a:solidFill>
                        </a:defRPr>
                      </a:pPr>
                      <a:r>
                        <a:t>bright, dim, low</a:t>
                      </a:r>
                    </a:p>
                  </a:txBody>
                  <a:tcPr>
                    <a:solidFill>
                      <a:srgbClr val="F5F6F7"/>
                    </a:solidFill>
                  </a:tcPr>
                </a:tc>
              </a:tr>
              <a:tr h="502920">
                <a:tc>
                  <a:txBody>
                    <a:bodyPr/>
                    <a:lstStyle/>
                    <a:p>
                      <a:pPr algn="l">
                        <a:lnSpc>
                          <a:spcPct val="115000"/>
                        </a:lnSpc>
                        <a:spcAft>
                          <a:spcPts val="800"/>
                        </a:spcAft>
                        <a:defRPr sz="1500" b="0">
                          <a:solidFill>
                            <a:srgbClr val="1C1E21"/>
                          </a:solidFill>
                        </a:defRPr>
                      </a:pPr>
                      <a:r>
                        <a:t>motion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l">
                        <a:lnSpc>
                          <a:spcPct val="115000"/>
                        </a:lnSpc>
                        <a:spcAft>
                          <a:spcPts val="800"/>
                        </a:spcAft>
                        <a:defRPr sz="1500" b="0">
                          <a:solidFill>
                            <a:srgbClr val="1C1E21"/>
                          </a:solidFill>
                        </a:defRPr>
                      </a:pPr>
                      <a:r>
                        <a:t>string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l">
                        <a:lnSpc>
                          <a:spcPct val="115000"/>
                        </a:lnSpc>
                        <a:spcAft>
                          <a:spcPts val="800"/>
                        </a:spcAft>
                        <a:defRPr sz="1500" b="0">
                          <a:solidFill>
                            <a:srgbClr val="1C1E21"/>
                          </a:solidFill>
                        </a:defRPr>
                      </a:pPr>
                      <a:r>
                        <a:t>slow or fast hand movement</a:t>
                      </a:r>
                    </a:p>
                  </a:txBody>
                  <a:tcPr/>
                </a:tc>
              </a:tr>
              <a:tr h="502920">
                <a:tc>
                  <a:txBody>
                    <a:bodyPr/>
                    <a:lstStyle/>
                    <a:p>
                      <a:pPr algn="l">
                        <a:lnSpc>
                          <a:spcPct val="115000"/>
                        </a:lnSpc>
                        <a:spcAft>
                          <a:spcPts val="800"/>
                        </a:spcAft>
                        <a:defRPr sz="1500" b="0">
                          <a:solidFill>
                            <a:srgbClr val="1C1E21"/>
                          </a:solidFill>
                        </a:defRPr>
                      </a:pPr>
                      <a:r>
                        <a:t>joint_group</a:t>
                      </a:r>
                    </a:p>
                  </a:txBody>
                  <a:tcPr>
                    <a:solidFill>
                      <a:srgbClr val="F5F6F7"/>
                    </a:solidFill>
                  </a:tcPr>
                </a:tc>
                <a:tc>
                  <a:txBody>
                    <a:bodyPr/>
                    <a:lstStyle/>
                    <a:p>
                      <a:pPr algn="l">
                        <a:lnSpc>
                          <a:spcPct val="115000"/>
                        </a:lnSpc>
                        <a:spcAft>
                          <a:spcPts val="800"/>
                        </a:spcAft>
                        <a:defRPr sz="1500" b="0">
                          <a:solidFill>
                            <a:srgbClr val="1C1E21"/>
                          </a:solidFill>
                        </a:defRPr>
                      </a:pPr>
                      <a:r>
                        <a:t>string</a:t>
                      </a:r>
                    </a:p>
                  </a:txBody>
                  <a:tcPr>
                    <a:solidFill>
                      <a:srgbClr val="F5F6F7"/>
                    </a:solidFill>
                  </a:tcPr>
                </a:tc>
                <a:tc>
                  <a:txBody>
                    <a:bodyPr/>
                    <a:lstStyle/>
                    <a:p>
                      <a:pPr algn="l">
                        <a:lnSpc>
                          <a:spcPct val="115000"/>
                        </a:lnSpc>
                        <a:spcAft>
                          <a:spcPts val="800"/>
                        </a:spcAft>
                        <a:defRPr sz="1500" b="0">
                          <a:solidFill>
                            <a:srgbClr val="1C1E21"/>
                          </a:solidFill>
                        </a:defRPr>
                      </a:pPr>
                      <a:r>
                        <a:t>fingertips, knuckles, palm_wrist</a:t>
                      </a:r>
                    </a:p>
                  </a:txBody>
                  <a:tcPr>
                    <a:solidFill>
                      <a:srgbClr val="F5F6F7"/>
                    </a:solidFill>
                  </a:tcPr>
                </a:tc>
              </a:tr>
              <a:tr h="502920">
                <a:tc>
                  <a:txBody>
                    <a:bodyPr/>
                    <a:lstStyle/>
                    <a:p>
                      <a:pPr algn="l">
                        <a:lnSpc>
                          <a:spcPct val="115000"/>
                        </a:lnSpc>
                        <a:spcAft>
                          <a:spcPts val="800"/>
                        </a:spcAft>
                        <a:defRPr sz="1500" b="0">
                          <a:solidFill>
                            <a:srgbClr val="1C1E21"/>
                          </a:solidFill>
                        </a:defRPr>
                      </a:pPr>
                      <a:r>
                        <a:t>mpjpe_mm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l">
                        <a:lnSpc>
                          <a:spcPct val="115000"/>
                        </a:lnSpc>
                        <a:spcAft>
                          <a:spcPts val="800"/>
                        </a:spcAft>
                        <a:defRPr sz="1500" b="0">
                          <a:solidFill>
                            <a:srgbClr val="1C1E21"/>
                          </a:solidFill>
                        </a:defRPr>
                      </a:pPr>
                      <a:r>
                        <a:t>float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l">
                        <a:lnSpc>
                          <a:spcPct val="115000"/>
                        </a:lnSpc>
                        <a:spcAft>
                          <a:spcPts val="800"/>
                        </a:spcAft>
                        <a:defRPr sz="1500" b="0">
                          <a:solidFill>
                            <a:srgbClr val="1C1E21"/>
                          </a:solidFill>
                        </a:defRPr>
                      </a:pPr>
                      <a:r>
                        <a:t>mean per-joint position error vs motion-capture ground truth</a:t>
                      </a:r>
                    </a:p>
                  </a:txBody>
                  <a:tcPr/>
                </a:tc>
              </a:tr>
              <a:tr h="502920">
                <a:tc>
                  <a:txBody>
                    <a:bodyPr/>
                    <a:lstStyle/>
                    <a:p>
                      <a:pPr algn="l">
                        <a:lnSpc>
                          <a:spcPct val="115000"/>
                        </a:lnSpc>
                        <a:spcAft>
                          <a:spcPts val="800"/>
                        </a:spcAft>
                        <a:defRPr sz="1500" b="0">
                          <a:solidFill>
                            <a:srgbClr val="1C1E21"/>
                          </a:solidFill>
                        </a:defRPr>
                      </a:pPr>
                      <a:r>
                        <a:t>tracked</a:t>
                      </a:r>
                    </a:p>
                  </a:txBody>
                  <a:tcPr>
                    <a:solidFill>
                      <a:srgbClr val="F5F6F7"/>
                    </a:solidFill>
                  </a:tcPr>
                </a:tc>
                <a:tc>
                  <a:txBody>
                    <a:bodyPr/>
                    <a:lstStyle/>
                    <a:p>
                      <a:pPr algn="l">
                        <a:lnSpc>
                          <a:spcPct val="115000"/>
                        </a:lnSpc>
                        <a:spcAft>
                          <a:spcPts val="800"/>
                        </a:spcAft>
                        <a:defRPr sz="1500" b="0">
                          <a:solidFill>
                            <a:srgbClr val="1C1E21"/>
                          </a:solidFill>
                        </a:defRPr>
                      </a:pPr>
                      <a:r>
                        <a:t>0/1</a:t>
                      </a:r>
                    </a:p>
                  </a:txBody>
                  <a:tcPr>
                    <a:solidFill>
                      <a:srgbClr val="F5F6F7"/>
                    </a:solidFill>
                  </a:tcPr>
                </a:tc>
                <a:tc>
                  <a:txBody>
                    <a:bodyPr/>
                    <a:lstStyle/>
                    <a:p>
                      <a:pPr algn="l">
                        <a:lnSpc>
                          <a:spcPct val="115000"/>
                        </a:lnSpc>
                        <a:spcAft>
                          <a:spcPts val="800"/>
                        </a:spcAft>
                        <a:defRPr sz="1500" b="0">
                          <a:solidFill>
                            <a:srgbClr val="1C1E21"/>
                          </a:solidFill>
                        </a:defRPr>
                      </a:pPr>
                      <a:r>
                        <a:t>POSITION_TRACKED_BIT analogue: joint actively tracked</a:t>
                      </a:r>
                    </a:p>
                  </a:txBody>
                  <a:tcPr>
                    <a:solidFill>
                      <a:srgbClr val="F5F6F7"/>
                    </a:solidFill>
                  </a:tcPr>
                </a:tc>
              </a:tr>
              <a:tr h="502920">
                <a:tc>
                  <a:txBody>
                    <a:bodyPr/>
                    <a:lstStyle/>
                    <a:p>
                      <a:pPr algn="l">
                        <a:lnSpc>
                          <a:spcPct val="115000"/>
                        </a:lnSpc>
                        <a:spcAft>
                          <a:spcPts val="800"/>
                        </a:spcAft>
                        <a:defRPr sz="1500" b="0">
                          <a:solidFill>
                            <a:srgbClr val="1C1E21"/>
                          </a:solidFill>
                        </a:defRPr>
                      </a:pPr>
                      <a:r>
                        <a:t>pinch_correct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l">
                        <a:lnSpc>
                          <a:spcPct val="115000"/>
                        </a:lnSpc>
                        <a:spcAft>
                          <a:spcPts val="800"/>
                        </a:spcAft>
                        <a:defRPr sz="1500" b="0">
                          <a:solidFill>
                            <a:srgbClr val="1C1E21"/>
                          </a:solidFill>
                        </a:defRPr>
                      </a:pPr>
                      <a:r>
                        <a:t>0/1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l">
                        <a:lnSpc>
                          <a:spcPct val="115000"/>
                        </a:lnSpc>
                        <a:spcAft>
                          <a:spcPts val="800"/>
                        </a:spcAft>
                        <a:defRPr sz="1500" b="0">
                          <a:solidFill>
                            <a:srgbClr val="1C1E21"/>
                          </a:solidFill>
                        </a:defRPr>
                      </a:pPr>
                      <a:r>
                        <a:t>pinch gesture classified correctly</a:t>
                      </a:r>
                    </a:p>
                  </a:txBody>
                  <a:tcPr/>
                </a:tc>
              </a:tr>
            </a:tbl>
          </a:graphicData>
        </a:graphic>
      </p:graphicFrame>
      <p:sp>
        <p:nvSpPr>
          <p:cNvPr id="5" name="TextBox 4"/>
          <p:cNvSpPr txBox="1"/>
          <p:nvPr/>
        </p:nvSpPr>
        <p:spPr>
          <a:xfrm>
            <a:off x="457200" y="6446520"/>
            <a:ext cx="11274552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>
              <a:defRPr sz="1000">
                <a:solidFill>
                  <a:srgbClr val="656B74"/>
                </a:solidFill>
              </a:defRPr>
            </a:pPr>
            <a:r>
              <a:t>DISC x Meta - Oct 1, 2026  |  Fake data, real questions</a:t>
            </a:r>
          </a:p>
        </p:txBody>
      </p:sp>
    </p:spTree>
  </p:cSld>
  <p:clrMapOvr>
    <a:masterClrMapping/>
  </p:clrMapOvr>
</p:sld>
</file>

<file path=ppt/slides/slide5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731520" y="457200"/>
            <a:ext cx="10698480" cy="9144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l">
              <a:lnSpc>
                <a:spcPct val="115000"/>
              </a:lnSpc>
              <a:spcAft>
                <a:spcPts val="800"/>
              </a:spcAft>
              <a:defRPr sz="3200" b="1">
                <a:solidFill>
                  <a:srgbClr val="1C1E21"/>
                </a:solidFill>
              </a:defRPr>
            </a:pPr>
            <a:r>
              <a:t>Case study 2: your turn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731520" y="1371600"/>
            <a:ext cx="10698480" cy="2651760"/>
          </a:xfrm>
          <a:prstGeom prst="rect">
            <a:avLst/>
          </a:prstGeom>
          <a:solidFill>
            <a:srgbClr val="F5F6F7"/>
          </a:solidFill>
          <a:ln>
            <a:noFill/>
          </a:ln>
        </p:spPr>
        <p:txBody>
          <a:bodyPr wrap="square" lIns="228600" tIns="137160">
            <a:spAutoFit/>
          </a:bodyPr>
          <a:lstStyle/>
          <a:p>
            <a:pPr>
              <a:spcAft>
                <a:spcPts val="200"/>
              </a:spcAft>
              <a:defRPr sz="1500">
                <a:solidFill>
                  <a:srgbClr val="1C1E21"/>
                </a:solidFill>
                <a:latin typeface="Consolas"/>
              </a:defRPr>
            </a:pPr>
            <a:r>
              <a:t>df = pd.read_csv("ht_model_eval.csv")</a:t>
            </a:r>
          </a:p>
          <a:p>
            <a:pPr>
              <a:spcAft>
                <a:spcPts val="200"/>
              </a:spcAft>
              <a:defRPr sz="1500">
                <a:solidFill>
                  <a:srgbClr val="1C1E21"/>
                </a:solidFill>
                <a:latin typeface="Consolas"/>
              </a:defRPr>
            </a:pPr>
            <a:r>
              <a:t>print(df.groupby(["model","lighting","motion"])["mpjpe_mm"].mean().round(1))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731520" y="4251960"/>
            <a:ext cx="10698480" cy="5486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l">
              <a:lnSpc>
                <a:spcPct val="115000"/>
              </a:lnSpc>
              <a:spcAft>
                <a:spcPts val="800"/>
              </a:spcAft>
              <a:defRPr sz="2000" b="1">
                <a:solidFill>
                  <a:srgbClr val="0064E0"/>
                </a:solidFill>
              </a:defRPr>
            </a:pPr>
            <a:r>
              <a:t>Your task: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731520" y="4754880"/>
            <a:ext cx="10698480" cy="20574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lnSpc>
                <a:spcPct val="115000"/>
              </a:lnSpc>
              <a:spcAft>
                <a:spcPts val="800"/>
              </a:spcAft>
              <a:defRPr sz="1900" b="0">
                <a:solidFill>
                  <a:srgbClr val="1C1E21"/>
                </a:solidFill>
              </a:defRPr>
            </a:pPr>
            <a:r>
              <a:t>•  Overall MPJPE by model. Then cut by lighting x motion: where was v1 worst, and where did v2 gain most?</a:t>
            </a:r>
          </a:p>
          <a:p>
            <a:pPr algn="l">
              <a:lnSpc>
                <a:spcPct val="115000"/>
              </a:lnSpc>
              <a:spcAft>
                <a:spcPts val="800"/>
              </a:spcAft>
              <a:defRPr sz="1900" b="0">
                <a:solidFill>
                  <a:srgbClr val="1C1E21"/>
                </a:solidFill>
              </a:defRPr>
            </a:pPr>
            <a:r>
              <a:t>•  Which joint group is hardest? Does v2 change the ranking?</a:t>
            </a:r>
          </a:p>
          <a:p>
            <a:pPr algn="l">
              <a:lnSpc>
                <a:spcPct val="115000"/>
              </a:lnSpc>
              <a:spcAft>
                <a:spcPts val="800"/>
              </a:spcAft>
              <a:defRPr sz="1900" b="0">
                <a:solidFill>
                  <a:srgbClr val="1C1E21"/>
                </a:solidFill>
              </a:defRPr>
            </a:pPr>
            <a:r>
              <a:t>•  Do tracked rate and pinch accuracy agree with the MPJPE story?</a:t>
            </a:r>
          </a:p>
          <a:p>
            <a:pPr algn="l">
              <a:lnSpc>
                <a:spcPct val="115000"/>
              </a:lnSpc>
              <a:spcAft>
                <a:spcPts val="800"/>
              </a:spcAft>
              <a:defRPr sz="1900" b="0">
                <a:solidFill>
                  <a:srgbClr val="1C1E21"/>
                </a:solidFill>
              </a:defRPr>
            </a:pPr>
            <a:r>
              <a:t>•  Build the heatmap: MPJPE by lighting x motion. The table hides the story; the heatmap shows where the field data paid off.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457200" y="6446520"/>
            <a:ext cx="11274552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>
              <a:defRPr sz="1000">
                <a:solidFill>
                  <a:srgbClr val="656B74"/>
                </a:solidFill>
              </a:defRPr>
            </a:pPr>
            <a:r>
              <a:t>DISC x Meta - Oct 1, 2026  |  Fake data, real questions</a:t>
            </a:r>
          </a:p>
        </p:txBody>
      </p:sp>
    </p:spTree>
  </p:cSld>
  <p:clrMapOvr>
    <a:masterClrMapping/>
  </p:clrMapOvr>
</p:sld>
</file>

<file path=ppt/slides/slide58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731520" y="457200"/>
            <a:ext cx="2926080" cy="457200"/>
          </a:xfrm>
          <a:prstGeom prst="rect">
            <a:avLst/>
          </a:prstGeom>
          <a:solidFill>
            <a:srgbClr val="FFE88A"/>
          </a:solidFill>
        </p:spPr>
        <p:txBody>
          <a:bodyPr wrap="none">
            <a:spAutoFit/>
          </a:bodyPr>
          <a:lstStyle/>
          <a:p>
            <a:pPr algn="l">
              <a:lnSpc>
                <a:spcPct val="115000"/>
              </a:lnSpc>
              <a:spcAft>
                <a:spcPts val="800"/>
              </a:spcAft>
              <a:defRPr sz="1300" b="1">
                <a:solidFill>
                  <a:srgbClr val="1C1E21"/>
                </a:solidFill>
              </a:defRPr>
            </a:pPr>
            <a:r>
              <a:t>TAKE-HOME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731520" y="1005840"/>
            <a:ext cx="10698480" cy="109728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l">
              <a:lnSpc>
                <a:spcPct val="115000"/>
              </a:lnSpc>
              <a:spcAft>
                <a:spcPts val="800"/>
              </a:spcAft>
              <a:defRPr sz="3200" b="1">
                <a:solidFill>
                  <a:srgbClr val="1C1E21"/>
                </a:solidFill>
              </a:defRPr>
            </a:pPr>
            <a:r>
              <a:t>Case study 2: answer key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731520" y="2057400"/>
            <a:ext cx="10698480" cy="42519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lnSpc>
                <a:spcPct val="120000"/>
              </a:lnSpc>
              <a:spcAft>
                <a:spcPts val="1000"/>
              </a:spcAft>
            </a:pPr>
            <a:r>
              <a:rPr sz="2000" b="1">
                <a:solidFill>
                  <a:srgbClr val="1C1E21"/>
                </a:solidFill>
              </a:rPr>
              <a:t>Overall: </a:t>
            </a:r>
            <a:r>
              <a:rPr sz="2000">
                <a:solidFill>
                  <a:srgbClr val="1C1E21"/>
                </a:solidFill>
              </a:rPr>
              <a:t>13.7 -&gt; 9.8 mm. For reference, a published Quest 2 study measured ~11 mm fingertip error: v1 was typical, v2 beats it.</a:t>
            </a:r>
          </a:p>
          <a:p>
            <a:pPr>
              <a:lnSpc>
                <a:spcPct val="120000"/>
              </a:lnSpc>
              <a:spcAft>
                <a:spcPts val="1000"/>
              </a:spcAft>
            </a:pPr>
            <a:r>
              <a:rPr sz="2000" b="1">
                <a:solidFill>
                  <a:srgbClr val="1C1E21"/>
                </a:solidFill>
              </a:rPr>
              <a:t>The money slide: </a:t>
            </a:r>
            <a:r>
              <a:rPr sz="2000">
                <a:solidFill>
                  <a:srgbClr val="1C1E21"/>
                </a:solidFill>
              </a:rPr>
              <a:t>dim+fast 18.6 -&gt; 11.3 mm, low+fast 22.2 -&gt; 13.4 mm. The gains land exactly where the field data was collected.</a:t>
            </a:r>
          </a:p>
          <a:p>
            <a:pPr>
              <a:lnSpc>
                <a:spcPct val="120000"/>
              </a:lnSpc>
              <a:spcAft>
                <a:spcPts val="1000"/>
              </a:spcAft>
            </a:pPr>
            <a:r>
              <a:rPr sz="2000" b="1">
                <a:solidFill>
                  <a:srgbClr val="1C1E21"/>
                </a:solidFill>
              </a:rPr>
              <a:t>Still hardest: </a:t>
            </a:r>
            <a:r>
              <a:rPr sz="2000">
                <a:solidFill>
                  <a:srgbClr val="1C1E21"/>
                </a:solidFill>
              </a:rPr>
              <a:t>fingertips (14.9 -&gt; 11.0 mm); the ranking is unchanged. Next collection should overweight fingertip-heavy gestures.</a:t>
            </a:r>
          </a:p>
          <a:p>
            <a:pPr>
              <a:lnSpc>
                <a:spcPct val="120000"/>
              </a:lnSpc>
              <a:spcAft>
                <a:spcPts val="1000"/>
              </a:spcAft>
            </a:pPr>
            <a:r>
              <a:rPr sz="2000" b="1">
                <a:solidFill>
                  <a:srgbClr val="1C1E21"/>
                </a:solidFill>
              </a:rPr>
              <a:t>Agreement: </a:t>
            </a:r>
            <a:r>
              <a:rPr sz="2000">
                <a:solidFill>
                  <a:srgbClr val="1C1E21"/>
                </a:solidFill>
              </a:rPr>
              <a:t>tracked rate 90.3% -&gt; 94.3%, pinch accuracy 86.8% -&gt; 91.6%. Three metrics, same story.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457200" y="6446520"/>
            <a:ext cx="11274552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>
              <a:defRPr sz="1000">
                <a:solidFill>
                  <a:srgbClr val="656B74"/>
                </a:solidFill>
              </a:defRPr>
            </a:pPr>
            <a:r>
              <a:t>DISC x Meta - Oct 1, 2026  |  Fake data, real questions</a:t>
            </a:r>
          </a:p>
        </p:txBody>
      </p:sp>
    </p:spTree>
  </p:cSld>
  <p:clrMapOvr>
    <a:masterClrMapping/>
  </p:clrMapOvr>
</p:sld>
</file>

<file path=ppt/slides/slide59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731520" y="457200"/>
            <a:ext cx="10698480" cy="9144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l">
              <a:lnSpc>
                <a:spcPct val="115000"/>
              </a:lnSpc>
              <a:spcAft>
                <a:spcPts val="800"/>
              </a:spcAft>
              <a:defRPr sz="3200" b="1">
                <a:solidFill>
                  <a:srgbClr val="1C1E21"/>
                </a:solidFill>
              </a:defRPr>
            </a:pPr>
            <a:r>
              <a:t>Case study 3: the dataset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731520" y="1371600"/>
            <a:ext cx="10698480" cy="64008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l">
              <a:lnSpc>
                <a:spcPct val="115000"/>
              </a:lnSpc>
              <a:spcAft>
                <a:spcPts val="800"/>
              </a:spcAft>
              <a:defRPr sz="1800" b="0">
                <a:solidFill>
                  <a:srgbClr val="656B74"/>
                </a:solidFill>
              </a:defRPr>
            </a:pPr>
            <a:r>
              <a:t>release_perf.csv - 9,000 rows. Synthetic.</a:t>
            </a:r>
          </a:p>
        </p:txBody>
      </p:sp>
      <p:graphicFrame>
        <p:nvGraphicFramePr>
          <p:cNvPr id="4" name="Table 3"/>
          <p:cNvGraphicFramePr>
            <a:graphicFrameLocks noGrp="1"/>
          </p:cNvGraphicFramePr>
          <p:nvPr/>
        </p:nvGraphicFramePr>
        <p:xfrm>
          <a:off x="731520" y="1965960"/>
          <a:ext cx="10698480" cy="3520440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2743200"/>
                <a:gridCol w="1280160"/>
                <a:gridCol w="6675120"/>
              </a:tblGrid>
              <a:tr h="502920">
                <a:tc>
                  <a:txBody>
                    <a:bodyPr/>
                    <a:lstStyle/>
                    <a:p>
                      <a:pPr algn="l">
                        <a:lnSpc>
                          <a:spcPct val="115000"/>
                        </a:lnSpc>
                        <a:spcAft>
                          <a:spcPts val="800"/>
                        </a:spcAft>
                        <a:defRPr sz="1600" b="1">
                          <a:solidFill>
                            <a:srgbClr val="FFFFFF"/>
                          </a:solidFill>
                        </a:defRPr>
                      </a:pPr>
                      <a:r>
                        <a:t>Column</a:t>
                      </a:r>
                    </a:p>
                  </a:txBody>
                  <a:tcPr>
                    <a:solidFill>
                      <a:srgbClr val="0064E0"/>
                    </a:solidFill>
                  </a:tcPr>
                </a:tc>
                <a:tc>
                  <a:txBody>
                    <a:bodyPr/>
                    <a:lstStyle/>
                    <a:p>
                      <a:pPr algn="l">
                        <a:lnSpc>
                          <a:spcPct val="115000"/>
                        </a:lnSpc>
                        <a:spcAft>
                          <a:spcPts val="800"/>
                        </a:spcAft>
                        <a:defRPr sz="1600" b="1">
                          <a:solidFill>
                            <a:srgbClr val="FFFFFF"/>
                          </a:solidFill>
                        </a:defRPr>
                      </a:pPr>
                      <a:r>
                        <a:t>Type</a:t>
                      </a:r>
                    </a:p>
                  </a:txBody>
                  <a:tcPr>
                    <a:solidFill>
                      <a:srgbClr val="0064E0"/>
                    </a:solidFill>
                  </a:tcPr>
                </a:tc>
                <a:tc>
                  <a:txBody>
                    <a:bodyPr/>
                    <a:lstStyle/>
                    <a:p>
                      <a:pPr algn="l">
                        <a:lnSpc>
                          <a:spcPct val="115000"/>
                        </a:lnSpc>
                        <a:spcAft>
                          <a:spcPts val="800"/>
                        </a:spcAft>
                        <a:defRPr sz="1600" b="1">
                          <a:solidFill>
                            <a:srgbClr val="FFFFFF"/>
                          </a:solidFill>
                        </a:defRPr>
                      </a:pPr>
                      <a:r>
                        <a:t>Meaning</a:t>
                      </a:r>
                    </a:p>
                  </a:txBody>
                  <a:tcPr>
                    <a:solidFill>
                      <a:srgbClr val="0064E0"/>
                    </a:solidFill>
                  </a:tcPr>
                </a:tc>
              </a:tr>
              <a:tr h="502920">
                <a:tc>
                  <a:txBody>
                    <a:bodyPr/>
                    <a:lstStyle/>
                    <a:p>
                      <a:pPr algn="l">
                        <a:lnSpc>
                          <a:spcPct val="115000"/>
                        </a:lnSpc>
                        <a:spcAft>
                          <a:spcPts val="800"/>
                        </a:spcAft>
                        <a:defRPr sz="1500" b="0">
                          <a:solidFill>
                            <a:srgbClr val="1C1E21"/>
                          </a:solidFill>
                        </a:defRPr>
                      </a:pPr>
                      <a:r>
                        <a:t>session_id / release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l">
                        <a:lnSpc>
                          <a:spcPct val="115000"/>
                        </a:lnSpc>
                        <a:spcAft>
                          <a:spcPts val="800"/>
                        </a:spcAft>
                        <a:defRPr sz="1500" b="0">
                          <a:solidFill>
                            <a:srgbClr val="1C1E21"/>
                          </a:solidFill>
                        </a:defRPr>
                      </a:pPr>
                      <a:r>
                        <a:t>string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l">
                        <a:lnSpc>
                          <a:spcPct val="115000"/>
                        </a:lnSpc>
                        <a:spcAft>
                          <a:spcPts val="800"/>
                        </a:spcAft>
                        <a:defRPr sz="1500" b="0">
                          <a:solidFill>
                            <a:srgbClr val="1C1E21"/>
                          </a:solidFill>
                        </a:defRPr>
                      </a:pPr>
                      <a:r>
                        <a:t>id and v68, v69, or v70</a:t>
                      </a:r>
                    </a:p>
                  </a:txBody>
                  <a:tcPr/>
                </a:tc>
              </a:tr>
              <a:tr h="502920">
                <a:tc>
                  <a:txBody>
                    <a:bodyPr/>
                    <a:lstStyle/>
                    <a:p>
                      <a:pPr algn="l">
                        <a:lnSpc>
                          <a:spcPct val="115000"/>
                        </a:lnSpc>
                        <a:spcAft>
                          <a:spcPts val="800"/>
                        </a:spcAft>
                        <a:defRPr sz="1500" b="0">
                          <a:solidFill>
                            <a:srgbClr val="1C1E21"/>
                          </a:solidFill>
                        </a:defRPr>
                      </a:pPr>
                      <a:r>
                        <a:t>device</a:t>
                      </a:r>
                    </a:p>
                  </a:txBody>
                  <a:tcPr>
                    <a:solidFill>
                      <a:srgbClr val="F5F6F7"/>
                    </a:solidFill>
                  </a:tcPr>
                </a:tc>
                <a:tc>
                  <a:txBody>
                    <a:bodyPr/>
                    <a:lstStyle/>
                    <a:p>
                      <a:pPr algn="l">
                        <a:lnSpc>
                          <a:spcPct val="115000"/>
                        </a:lnSpc>
                        <a:spcAft>
                          <a:spcPts val="800"/>
                        </a:spcAft>
                        <a:defRPr sz="1500" b="0">
                          <a:solidFill>
                            <a:srgbClr val="1C1E21"/>
                          </a:solidFill>
                        </a:defRPr>
                      </a:pPr>
                      <a:r>
                        <a:t>string</a:t>
                      </a:r>
                    </a:p>
                  </a:txBody>
                  <a:tcPr>
                    <a:solidFill>
                      <a:srgbClr val="F5F6F7"/>
                    </a:solidFill>
                  </a:tcPr>
                </a:tc>
                <a:tc>
                  <a:txBody>
                    <a:bodyPr/>
                    <a:lstStyle/>
                    <a:p>
                      <a:pPr algn="l">
                        <a:lnSpc>
                          <a:spcPct val="115000"/>
                        </a:lnSpc>
                        <a:spcAft>
                          <a:spcPts val="800"/>
                        </a:spcAft>
                        <a:defRPr sz="1500" b="0">
                          <a:solidFill>
                            <a:srgbClr val="1C1E21"/>
                          </a:solidFill>
                        </a:defRPr>
                      </a:pPr>
                      <a:r>
                        <a:t>quest3 or quest3s</a:t>
                      </a:r>
                    </a:p>
                  </a:txBody>
                  <a:tcPr>
                    <a:solidFill>
                      <a:srgbClr val="F5F6F7"/>
                    </a:solidFill>
                  </a:tcPr>
                </a:tc>
              </a:tr>
              <a:tr h="502920">
                <a:tc>
                  <a:txBody>
                    <a:bodyPr/>
                    <a:lstStyle/>
                    <a:p>
                      <a:pPr algn="l">
                        <a:lnSpc>
                          <a:spcPct val="115000"/>
                        </a:lnSpc>
                        <a:spcAft>
                          <a:spcPts val="800"/>
                        </a:spcAft>
                        <a:defRPr sz="1500" b="0">
                          <a:solidFill>
                            <a:srgbClr val="1C1E21"/>
                          </a:solidFill>
                        </a:defRPr>
                      </a:pPr>
                      <a:r>
                        <a:t>jitter_mm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l">
                        <a:lnSpc>
                          <a:spcPct val="115000"/>
                        </a:lnSpc>
                        <a:spcAft>
                          <a:spcPts val="800"/>
                        </a:spcAft>
                        <a:defRPr sz="1500" b="0">
                          <a:solidFill>
                            <a:srgbClr val="1C1E21"/>
                          </a:solidFill>
                        </a:defRPr>
                      </a:pPr>
                      <a:r>
                        <a:t>float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l">
                        <a:lnSpc>
                          <a:spcPct val="115000"/>
                        </a:lnSpc>
                        <a:spcAft>
                          <a:spcPts val="800"/>
                        </a:spcAft>
                        <a:defRPr sz="1500" b="0">
                          <a:solidFill>
                            <a:srgbClr val="1C1E21"/>
                          </a:solidFill>
                        </a:defRPr>
                      </a:pPr>
                      <a:r>
                        <a:t>frame-to-frame joint noise</a:t>
                      </a:r>
                    </a:p>
                  </a:txBody>
                  <a:tcPr/>
                </a:tc>
              </a:tr>
              <a:tr h="502920">
                <a:tc>
                  <a:txBody>
                    <a:bodyPr/>
                    <a:lstStyle/>
                    <a:p>
                      <a:pPr algn="l">
                        <a:lnSpc>
                          <a:spcPct val="115000"/>
                        </a:lnSpc>
                        <a:spcAft>
                          <a:spcPts val="800"/>
                        </a:spcAft>
                        <a:defRPr sz="1500" b="0">
                          <a:solidFill>
                            <a:srgbClr val="1C1E21"/>
                          </a:solidFill>
                        </a:defRPr>
                      </a:pPr>
                      <a:r>
                        <a:t>tracking_loss_per_hr</a:t>
                      </a:r>
                    </a:p>
                  </a:txBody>
                  <a:tcPr>
                    <a:solidFill>
                      <a:srgbClr val="F5F6F7"/>
                    </a:solidFill>
                  </a:tcPr>
                </a:tc>
                <a:tc>
                  <a:txBody>
                    <a:bodyPr/>
                    <a:lstStyle/>
                    <a:p>
                      <a:pPr algn="l">
                        <a:lnSpc>
                          <a:spcPct val="115000"/>
                        </a:lnSpc>
                        <a:spcAft>
                          <a:spcPts val="800"/>
                        </a:spcAft>
                        <a:defRPr sz="1500" b="0">
                          <a:solidFill>
                            <a:srgbClr val="1C1E21"/>
                          </a:solidFill>
                        </a:defRPr>
                      </a:pPr>
                      <a:r>
                        <a:t>float</a:t>
                      </a:r>
                    </a:p>
                  </a:txBody>
                  <a:tcPr>
                    <a:solidFill>
                      <a:srgbClr val="F5F6F7"/>
                    </a:solidFill>
                  </a:tcPr>
                </a:tc>
                <a:tc>
                  <a:txBody>
                    <a:bodyPr/>
                    <a:lstStyle/>
                    <a:p>
                      <a:pPr algn="l">
                        <a:lnSpc>
                          <a:spcPct val="115000"/>
                        </a:lnSpc>
                        <a:spcAft>
                          <a:spcPts val="800"/>
                        </a:spcAft>
                        <a:defRPr sz="1500" b="0">
                          <a:solidFill>
                            <a:srgbClr val="1C1E21"/>
                          </a:solidFill>
                        </a:defRPr>
                      </a:pPr>
                      <a:r>
                        <a:t>isActive=false events per hour</a:t>
                      </a:r>
                    </a:p>
                  </a:txBody>
                  <a:tcPr>
                    <a:solidFill>
                      <a:srgbClr val="F5F6F7"/>
                    </a:solidFill>
                  </a:tcPr>
                </a:tc>
              </a:tr>
              <a:tr h="502920">
                <a:tc>
                  <a:txBody>
                    <a:bodyPr/>
                    <a:lstStyle/>
                    <a:p>
                      <a:pPr algn="l">
                        <a:lnSpc>
                          <a:spcPct val="115000"/>
                        </a:lnSpc>
                        <a:spcAft>
                          <a:spcPts val="800"/>
                        </a:spcAft>
                        <a:defRPr sz="1500" b="0">
                          <a:solidFill>
                            <a:srgbClr val="1C1E21"/>
                          </a:solidFill>
                        </a:defRPr>
                      </a:pPr>
                      <a:r>
                        <a:t>mtp_latency_ms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l">
                        <a:lnSpc>
                          <a:spcPct val="115000"/>
                        </a:lnSpc>
                        <a:spcAft>
                          <a:spcPts val="800"/>
                        </a:spcAft>
                        <a:defRPr sz="1500" b="0">
                          <a:solidFill>
                            <a:srgbClr val="1C1E21"/>
                          </a:solidFill>
                        </a:defRPr>
                      </a:pPr>
                      <a:r>
                        <a:t>float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l">
                        <a:lnSpc>
                          <a:spcPct val="115000"/>
                        </a:lnSpc>
                        <a:spcAft>
                          <a:spcPts val="800"/>
                        </a:spcAft>
                        <a:defRPr sz="1500" b="0">
                          <a:solidFill>
                            <a:srgbClr val="1C1E21"/>
                          </a:solidFill>
                        </a:defRPr>
                      </a:pPr>
                      <a:r>
                        <a:t>motion-to-photon latency (guardrail)</a:t>
                      </a:r>
                    </a:p>
                  </a:txBody>
                  <a:tcPr/>
                </a:tc>
              </a:tr>
              <a:tr h="502920">
                <a:tc>
                  <a:txBody>
                    <a:bodyPr/>
                    <a:lstStyle/>
                    <a:p>
                      <a:pPr algn="l">
                        <a:lnSpc>
                          <a:spcPct val="115000"/>
                        </a:lnSpc>
                        <a:spcAft>
                          <a:spcPts val="800"/>
                        </a:spcAft>
                        <a:defRPr sz="1500" b="0">
                          <a:solidFill>
                            <a:srgbClr val="1C1E21"/>
                          </a:solidFill>
                        </a:defRPr>
                      </a:pPr>
                      <a:r>
                        <a:t>battery_drain_pct_hr</a:t>
                      </a:r>
                    </a:p>
                  </a:txBody>
                  <a:tcPr>
                    <a:solidFill>
                      <a:srgbClr val="F5F6F7"/>
                    </a:solidFill>
                  </a:tcPr>
                </a:tc>
                <a:tc>
                  <a:txBody>
                    <a:bodyPr/>
                    <a:lstStyle/>
                    <a:p>
                      <a:pPr algn="l">
                        <a:lnSpc>
                          <a:spcPct val="115000"/>
                        </a:lnSpc>
                        <a:spcAft>
                          <a:spcPts val="800"/>
                        </a:spcAft>
                        <a:defRPr sz="1500" b="0">
                          <a:solidFill>
                            <a:srgbClr val="1C1E21"/>
                          </a:solidFill>
                        </a:defRPr>
                      </a:pPr>
                      <a:r>
                        <a:t>float</a:t>
                      </a:r>
                    </a:p>
                  </a:txBody>
                  <a:tcPr>
                    <a:solidFill>
                      <a:srgbClr val="F5F6F7"/>
                    </a:solidFill>
                  </a:tcPr>
                </a:tc>
                <a:tc>
                  <a:txBody>
                    <a:bodyPr/>
                    <a:lstStyle/>
                    <a:p>
                      <a:pPr algn="l">
                        <a:lnSpc>
                          <a:spcPct val="115000"/>
                        </a:lnSpc>
                        <a:spcAft>
                          <a:spcPts val="800"/>
                        </a:spcAft>
                        <a:defRPr sz="1500" b="0">
                          <a:solidFill>
                            <a:srgbClr val="1C1E21"/>
                          </a:solidFill>
                        </a:defRPr>
                      </a:pPr>
                      <a:r>
                        <a:t>power draw (guardrail)</a:t>
                      </a:r>
                    </a:p>
                  </a:txBody>
                  <a:tcPr>
                    <a:solidFill>
                      <a:srgbClr val="F5F6F7"/>
                    </a:solidFill>
                  </a:tcPr>
                </a:tc>
              </a:tr>
            </a:tbl>
          </a:graphicData>
        </a:graphic>
      </p:graphicFrame>
      <p:sp>
        <p:nvSpPr>
          <p:cNvPr id="5" name="TextBox 4"/>
          <p:cNvSpPr txBox="1"/>
          <p:nvPr/>
        </p:nvSpPr>
        <p:spPr>
          <a:xfrm>
            <a:off x="457200" y="6446520"/>
            <a:ext cx="11274552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>
              <a:defRPr sz="1000">
                <a:solidFill>
                  <a:srgbClr val="656B74"/>
                </a:solidFill>
              </a:defRPr>
            </a:pPr>
            <a:r>
              <a:t>DISC x Meta - Oct 1, 2026  |  Fake data, real questions</a:t>
            </a:r>
          </a:p>
        </p:txBody>
      </p:sp>
    </p:spTree>
  </p:cSld>
  <p:clrMapOvr>
    <a:masterClrMapping/>
  </p:clrMapOvr>
</p:sld>
</file>

<file path=ppt/slides/slide60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731520" y="457200"/>
            <a:ext cx="10698480" cy="9144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l">
              <a:lnSpc>
                <a:spcPct val="115000"/>
              </a:lnSpc>
              <a:spcAft>
                <a:spcPts val="800"/>
              </a:spcAft>
              <a:defRPr sz="3200" b="1">
                <a:solidFill>
                  <a:srgbClr val="1C1E21"/>
                </a:solidFill>
              </a:defRPr>
            </a:pPr>
            <a:r>
              <a:t>Case study 3: your turn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731520" y="1371600"/>
            <a:ext cx="10698480" cy="2651760"/>
          </a:xfrm>
          <a:prstGeom prst="rect">
            <a:avLst/>
          </a:prstGeom>
          <a:solidFill>
            <a:srgbClr val="F5F6F7"/>
          </a:solidFill>
          <a:ln>
            <a:noFill/>
          </a:ln>
        </p:spPr>
        <p:txBody>
          <a:bodyPr wrap="square" lIns="228600" tIns="137160">
            <a:spAutoFit/>
          </a:bodyPr>
          <a:lstStyle/>
          <a:p>
            <a:pPr>
              <a:spcAft>
                <a:spcPts val="200"/>
              </a:spcAft>
              <a:defRPr sz="1500">
                <a:solidFill>
                  <a:srgbClr val="1C1E21"/>
                </a:solidFill>
                <a:latin typeface="Consolas"/>
              </a:defRPr>
            </a:pPr>
            <a:r>
              <a:t>df = pd.read_csv("release_perf.csv")</a:t>
            </a:r>
          </a:p>
          <a:p>
            <a:pPr>
              <a:spcAft>
                <a:spcPts val="200"/>
              </a:spcAft>
              <a:defRPr sz="1500">
                <a:solidFill>
                  <a:srgbClr val="1C1E21"/>
                </a:solidFill>
                <a:latin typeface="Consolas"/>
              </a:defRPr>
            </a:pPr>
            <a:r>
              <a:t>print(df.groupby(["release","device"])["jitter_mm"].mean().round(2))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731520" y="4251960"/>
            <a:ext cx="10698480" cy="5486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l">
              <a:lnSpc>
                <a:spcPct val="115000"/>
              </a:lnSpc>
              <a:spcAft>
                <a:spcPts val="800"/>
              </a:spcAft>
              <a:defRPr sz="2000" b="1">
                <a:solidFill>
                  <a:srgbClr val="0064E0"/>
                </a:solidFill>
              </a:defRPr>
            </a:pPr>
            <a:r>
              <a:t>Your task: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731520" y="4754880"/>
            <a:ext cx="10698480" cy="20574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lnSpc>
                <a:spcPct val="115000"/>
              </a:lnSpc>
              <a:spcAft>
                <a:spcPts val="800"/>
              </a:spcAft>
              <a:defRPr sz="1900" b="0">
                <a:solidFill>
                  <a:srgbClr val="1C1E21"/>
                </a:solidFill>
              </a:defRPr>
            </a:pPr>
            <a:r>
              <a:t>•  Mean jitter by release, then by release x device. Where is the regression?</a:t>
            </a:r>
          </a:p>
          <a:p>
            <a:pPr algn="l">
              <a:lnSpc>
                <a:spcPct val="115000"/>
              </a:lnSpc>
              <a:spcAft>
                <a:spcPts val="800"/>
              </a:spcAft>
              <a:defRPr sz="1900" b="0">
                <a:solidFill>
                  <a:srgbClr val="1C1E21"/>
                </a:solidFill>
              </a:defRPr>
            </a:pPr>
            <a:r>
              <a:t>•  Same cut for tracking loss. Does it agree?</a:t>
            </a:r>
          </a:p>
          <a:p>
            <a:pPr algn="l">
              <a:lnSpc>
                <a:spcPct val="115000"/>
              </a:lnSpc>
              <a:spcAft>
                <a:spcPts val="800"/>
              </a:spcAft>
              <a:defRPr sz="1900" b="0">
                <a:solidFill>
                  <a:srgbClr val="1C1E21"/>
                </a:solidFill>
              </a:defRPr>
            </a:pPr>
            <a:r>
              <a:t>•  Check the guardrails: latency and battery. Any trade-offs in v70?</a:t>
            </a:r>
          </a:p>
          <a:p>
            <a:pPr algn="l">
              <a:lnSpc>
                <a:spcPct val="115000"/>
              </a:lnSpc>
              <a:spcAft>
                <a:spcPts val="800"/>
              </a:spcAft>
              <a:defRPr sz="1900" b="0">
                <a:solidFill>
                  <a:srgbClr val="1C1E21"/>
                </a:solidFill>
              </a:defRPr>
            </a:pPr>
            <a:r>
              <a:t>•  Plot jitter by release, faceted by device. The overall average dilutes the story; the faceted view is the whole case.</a:t>
            </a:r>
          </a:p>
          <a:p>
            <a:pPr algn="l">
              <a:lnSpc>
                <a:spcPct val="115000"/>
              </a:lnSpc>
              <a:spcAft>
                <a:spcPts val="800"/>
              </a:spcAft>
              <a:defRPr sz="1900" b="0">
                <a:solidFill>
                  <a:srgbClr val="1C1E21"/>
                </a:solidFill>
              </a:defRPr>
            </a:pPr>
            <a:r>
              <a:t>•  Write the one-paragraph recommendation you would send the PM.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457200" y="6446520"/>
            <a:ext cx="11274552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>
              <a:defRPr sz="1000">
                <a:solidFill>
                  <a:srgbClr val="656B74"/>
                </a:solidFill>
              </a:defRPr>
            </a:pPr>
            <a:r>
              <a:t>DISC x Meta - Oct 1, 2026  |  Fake data, real questions</a:t>
            </a:r>
          </a:p>
        </p:txBody>
      </p:sp>
    </p:spTree>
  </p:cSld>
  <p:clrMapOvr>
    <a:masterClrMapping/>
  </p:clrMapOvr>
</p:sld>
</file>

<file path=ppt/slides/slide6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731520" y="457200"/>
            <a:ext cx="2926080" cy="457200"/>
          </a:xfrm>
          <a:prstGeom prst="rect">
            <a:avLst/>
          </a:prstGeom>
          <a:solidFill>
            <a:srgbClr val="FFE88A"/>
          </a:solidFill>
        </p:spPr>
        <p:txBody>
          <a:bodyPr wrap="none">
            <a:spAutoFit/>
          </a:bodyPr>
          <a:lstStyle/>
          <a:p>
            <a:pPr algn="l">
              <a:lnSpc>
                <a:spcPct val="115000"/>
              </a:lnSpc>
              <a:spcAft>
                <a:spcPts val="800"/>
              </a:spcAft>
              <a:defRPr sz="1300" b="1">
                <a:solidFill>
                  <a:srgbClr val="1C1E21"/>
                </a:solidFill>
              </a:defRPr>
            </a:pPr>
            <a:r>
              <a:t>TAKE-HOME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731520" y="1005840"/>
            <a:ext cx="10698480" cy="109728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l">
              <a:lnSpc>
                <a:spcPct val="115000"/>
              </a:lnSpc>
              <a:spcAft>
                <a:spcPts val="800"/>
              </a:spcAft>
              <a:defRPr sz="3200" b="1">
                <a:solidFill>
                  <a:srgbClr val="1C1E21"/>
                </a:solidFill>
              </a:defRPr>
            </a:pPr>
            <a:r>
              <a:t>Case study 3: answer key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731520" y="2057400"/>
            <a:ext cx="10698480" cy="42519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lnSpc>
                <a:spcPct val="120000"/>
              </a:lnSpc>
              <a:spcAft>
                <a:spcPts val="1000"/>
              </a:spcAft>
            </a:pPr>
            <a:r>
              <a:rPr sz="2000" b="1">
                <a:solidFill>
                  <a:srgbClr val="1C1E21"/>
                </a:solidFill>
              </a:rPr>
              <a:t>The cut: </a:t>
            </a:r>
            <a:r>
              <a:rPr sz="2000">
                <a:solidFill>
                  <a:srgbClr val="1C1E21"/>
                </a:solidFill>
              </a:rPr>
              <a:t>overall jitter rose 2.09 -&gt; 2.53 mm (+21%), but Quest 3S went 2.09 -&gt; 3.01 mm (+44%) while Quest 3 sat flat near 2.1. The headline diluted a device-specific regression.</a:t>
            </a:r>
          </a:p>
          <a:p>
            <a:pPr>
              <a:lnSpc>
                <a:spcPct val="120000"/>
              </a:lnSpc>
              <a:spcAft>
                <a:spcPts val="1000"/>
              </a:spcAft>
            </a:pPr>
            <a:r>
              <a:rPr sz="2000" b="1">
                <a:solidFill>
                  <a:srgbClr val="1C1E21"/>
                </a:solidFill>
              </a:rPr>
              <a:t>Agreement: </a:t>
            </a:r>
            <a:r>
              <a:rPr sz="2000">
                <a:solidFill>
                  <a:srgbClr val="1C1E21"/>
                </a:solidFill>
              </a:rPr>
              <a:t>tracking loss on 3S: 1.20 -&gt; 1.87 events/hr. Two metrics, same device, same release.</a:t>
            </a:r>
          </a:p>
          <a:p>
            <a:pPr>
              <a:lnSpc>
                <a:spcPct val="120000"/>
              </a:lnSpc>
              <a:spcAft>
                <a:spcPts val="1000"/>
              </a:spcAft>
            </a:pPr>
            <a:r>
              <a:rPr sz="2000" b="1">
                <a:solidFill>
                  <a:srgbClr val="1C1E21"/>
                </a:solidFill>
              </a:rPr>
              <a:t>The fix: </a:t>
            </a:r>
            <a:r>
              <a:rPr sz="2000">
                <a:solidFill>
                  <a:srgbClr val="1C1E21"/>
                </a:solidFill>
              </a:rPr>
              <a:t>v70 brought 3S jitter back to 2.17 mm. Latency flat at 42 ms the whole time.</a:t>
            </a:r>
          </a:p>
          <a:p>
            <a:pPr>
              <a:lnSpc>
                <a:spcPct val="120000"/>
              </a:lnSpc>
              <a:spcAft>
                <a:spcPts val="1000"/>
              </a:spcAft>
            </a:pPr>
            <a:r>
              <a:rPr sz="2000" b="1">
                <a:solidFill>
                  <a:srgbClr val="1C1E21"/>
                </a:solidFill>
              </a:rPr>
              <a:t>The trade-off: </a:t>
            </a:r>
            <a:r>
              <a:rPr sz="2000">
                <a:solidFill>
                  <a:srgbClr val="1C1E21"/>
                </a:solidFill>
              </a:rPr>
              <a:t>v70 battery drain rose 18.0 -&gt; 18.9 %/hr. The fix costs power.</a:t>
            </a:r>
          </a:p>
          <a:p>
            <a:pPr>
              <a:lnSpc>
                <a:spcPct val="120000"/>
              </a:lnSpc>
              <a:spcAft>
                <a:spcPts val="1000"/>
              </a:spcAft>
            </a:pPr>
            <a:r>
              <a:rPr sz="2000" b="1">
                <a:solidFill>
                  <a:srgbClr val="1C1E21"/>
                </a:solidFill>
              </a:rPr>
              <a:t>The memo: </a:t>
            </a:r>
            <a:r>
              <a:rPr sz="2000">
                <a:solidFill>
                  <a:srgbClr val="1C1E21"/>
                </a:solidFill>
              </a:rPr>
              <a:t>ship v70, file the battery cost as known, and investigate the 3S-specific path in v69. That is Simpson's paradox, and you just caught one.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457200" y="6446520"/>
            <a:ext cx="11274552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>
              <a:defRPr sz="1000">
                <a:solidFill>
                  <a:srgbClr val="656B74"/>
                </a:solidFill>
              </a:defRPr>
            </a:pPr>
            <a:r>
              <a:t>DISC x Meta - Oct 1, 2026  |  Fake data, real questions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